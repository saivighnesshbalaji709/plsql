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7772400" y="0"/>
            <a:ext cx="4389120" cy="6858000"/>
          </a:xfrm>
          <a:prstGeom prst="rect">
            <a:avLst/>
          </a:prstGeom>
          <a:solidFill>
            <a:srgbClr val="102A4C"/>
          </a:solidFill>
          <a:ln w="12700">
            <a:solidFill>
              <a:srgbClr val="102A4C"/>
            </a:solidFill>
            <a:prstDash val="solid"/>
          </a:ln>
        </p:spPr>
      </p:sp>
      <p:sp>
        <p:nvSpPr>
          <p:cNvPr id="3" name="Shape 1"/>
          <p:cNvSpPr/>
          <p:nvPr/>
        </p:nvSpPr>
        <p:spPr>
          <a:xfrm>
            <a:off x="0" y="6217920"/>
            <a:ext cx="12161520" cy="640080"/>
          </a:xfrm>
          <a:prstGeom prst="rect">
            <a:avLst/>
          </a:prstGeom>
          <a:solidFill>
            <a:srgbClr val="102A4C"/>
          </a:solidFill>
          <a:ln w="12700">
            <a:solidFill>
              <a:srgbClr val="102A4C"/>
            </a:solidFill>
            <a:prstDash val="solid"/>
          </a:ln>
        </p:spPr>
      </p:sp>
      <p:sp>
        <p:nvSpPr>
          <p:cNvPr id="4" name="Shape 2"/>
          <p:cNvSpPr/>
          <p:nvPr/>
        </p:nvSpPr>
        <p:spPr>
          <a:xfrm>
            <a:off x="0" y="0"/>
            <a:ext cx="164592" cy="6858000"/>
          </a:xfrm>
          <a:prstGeom prst="rect">
            <a:avLst/>
          </a:prstGeom>
          <a:solidFill>
            <a:srgbClr val="00C2CB"/>
          </a:solidFill>
          <a:ln w="12700">
            <a:solidFill>
              <a:srgbClr val="00C2CB"/>
            </a:solidFill>
            <a:prstDash val="solid"/>
          </a:ln>
        </p:spPr>
      </p:sp>
      <p:sp>
        <p:nvSpPr>
          <p:cNvPr id="5" name="Shape 3"/>
          <p:cNvSpPr/>
          <p:nvPr/>
        </p:nvSpPr>
        <p:spPr>
          <a:xfrm>
            <a:off x="384048" y="457200"/>
            <a:ext cx="1280160" cy="384048"/>
          </a:xfrm>
          <a:prstGeom prst="rect">
            <a:avLst/>
          </a:prstGeom>
          <a:solidFill>
            <a:srgbClr val="00C2CB"/>
          </a:solidFill>
          <a:ln w="12700">
            <a:solidFill>
              <a:srgbClr val="00C2CB"/>
            </a:solidFill>
            <a:prstDash val="solid"/>
          </a:ln>
        </p:spPr>
      </p:sp>
      <p:sp>
        <p:nvSpPr>
          <p:cNvPr id="6" name="Text 4"/>
          <p:cNvSpPr/>
          <p:nvPr/>
        </p:nvSpPr>
        <p:spPr>
          <a:xfrm>
            <a:off x="384048" y="457200"/>
            <a:ext cx="1280160" cy="384048"/>
          </a:xfrm>
          <a:prstGeom prst="rect">
            <a:avLst/>
          </a:prstGeom>
          <a:noFill/>
          <a:ln/>
        </p:spPr>
        <p:txBody>
          <a:bodyPr wrap="square" rtlCol="0" anchor="ctr"/>
          <a:lstStyle/>
          <a:p>
            <a:pPr algn="ctr" indent="0" marL="0">
              <a:buNone/>
            </a:pPr>
            <a:r>
              <a:rPr lang="en-US" sz="1100" b="1" spc="300" kern="0" dirty="0">
                <a:solidFill>
                  <a:srgbClr val="0A0F1E"/>
                </a:solidFill>
                <a:latin typeface="Calibri" pitchFamily="34" charset="0"/>
                <a:ea typeface="Calibri" pitchFamily="34" charset="-122"/>
                <a:cs typeface="Calibri" pitchFamily="34" charset="-120"/>
              </a:rPr>
              <a:t>VIDEO  1</a:t>
            </a:r>
            <a:endParaRPr lang="en-US" sz="1100" dirty="0"/>
          </a:p>
        </p:txBody>
      </p:sp>
      <p:sp>
        <p:nvSpPr>
          <p:cNvPr id="7" name="Text 5"/>
          <p:cNvSpPr/>
          <p:nvPr/>
        </p:nvSpPr>
        <p:spPr>
          <a:xfrm>
            <a:off x="384048" y="1051560"/>
            <a:ext cx="7132320" cy="132588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Why SQL</a:t>
            </a:r>
            <a:endParaRPr lang="en-US" sz="7200" dirty="0"/>
          </a:p>
        </p:txBody>
      </p:sp>
      <p:sp>
        <p:nvSpPr>
          <p:cNvPr id="8" name="Text 6"/>
          <p:cNvSpPr/>
          <p:nvPr/>
        </p:nvSpPr>
        <p:spPr>
          <a:xfrm>
            <a:off x="384048" y="2286000"/>
            <a:ext cx="7132320" cy="1325880"/>
          </a:xfrm>
          <a:prstGeom prst="rect">
            <a:avLst/>
          </a:prstGeom>
          <a:noFill/>
          <a:ln/>
        </p:spPr>
        <p:txBody>
          <a:bodyPr wrap="square" rtlCol="0" anchor="ctr"/>
          <a:lstStyle/>
          <a:p>
            <a:pPr indent="0" marL="0">
              <a:buNone/>
            </a:pPr>
            <a:r>
              <a:rPr lang="en-US" sz="7200" b="1" dirty="0">
                <a:solidFill>
                  <a:srgbClr val="00C2CB"/>
                </a:solidFill>
                <a:latin typeface="Calibri" pitchFamily="34" charset="0"/>
                <a:ea typeface="Calibri" pitchFamily="34" charset="-122"/>
                <a:cs typeface="Calibri" pitchFamily="34" charset="-120"/>
              </a:rPr>
              <a:t>Exists</a:t>
            </a:r>
            <a:endParaRPr lang="en-US" sz="7200" dirty="0"/>
          </a:p>
        </p:txBody>
      </p:sp>
      <p:sp>
        <p:nvSpPr>
          <p:cNvPr id="9" name="Text 7"/>
          <p:cNvSpPr/>
          <p:nvPr/>
        </p:nvSpPr>
        <p:spPr>
          <a:xfrm>
            <a:off x="384048" y="3703320"/>
            <a:ext cx="6949440" cy="822960"/>
          </a:xfrm>
          <a:prstGeom prst="rect">
            <a:avLst/>
          </a:prstGeom>
          <a:noFill/>
          <a:ln/>
        </p:spPr>
        <p:txBody>
          <a:bodyPr wrap="square" rtlCol="0" anchor="ctr"/>
          <a:lstStyle/>
          <a:p>
            <a:pPr indent="0" marL="0">
              <a:lnSpc>
                <a:spcPct val="130000"/>
              </a:lnSpc>
              <a:buNone/>
            </a:pPr>
            <a:r>
              <a:rPr lang="en-US" sz="1700" dirty="0">
                <a:solidFill>
                  <a:srgbClr val="7B93B3"/>
                </a:solidFill>
                <a:latin typeface="Calibri" pitchFamily="34" charset="0"/>
                <a:ea typeface="Calibri" pitchFamily="34" charset="-122"/>
                <a:cs typeface="Calibri" pitchFamily="34" charset="-120"/>
              </a:rPr>
              <a:t>From chaos to clarity — understanding the problem</a:t>
            </a:r>
            <a:endParaRPr lang="en-US" sz="1700" dirty="0"/>
          </a:p>
          <a:p>
            <a:pPr indent="0" marL="0">
              <a:lnSpc>
                <a:spcPct val="130000"/>
              </a:lnSpc>
              <a:buNone/>
            </a:pPr>
            <a:r>
              <a:rPr lang="en-US" sz="1700" dirty="0">
                <a:solidFill>
                  <a:srgbClr val="7B93B3"/>
                </a:solidFill>
                <a:latin typeface="Calibri" pitchFamily="34" charset="0"/>
                <a:ea typeface="Calibri" pitchFamily="34" charset="-122"/>
                <a:cs typeface="Calibri" pitchFamily="34" charset="-120"/>
              </a:rPr>
              <a:t>databases were built to solve</a:t>
            </a:r>
            <a:endParaRPr lang="en-US" sz="1700" dirty="0"/>
          </a:p>
        </p:txBody>
      </p:sp>
      <p:sp>
        <p:nvSpPr>
          <p:cNvPr id="10" name="Shape 8"/>
          <p:cNvSpPr/>
          <p:nvPr/>
        </p:nvSpPr>
        <p:spPr>
          <a:xfrm>
            <a:off x="8229600" y="1280160"/>
            <a:ext cx="3520440" cy="804672"/>
          </a:xfrm>
          <a:prstGeom prst="rect">
            <a:avLst/>
          </a:prstGeom>
          <a:solidFill>
            <a:srgbClr val="132F56"/>
          </a:solidFill>
          <a:ln w="12700">
            <a:solidFill>
              <a:srgbClr val="1E3A5F"/>
            </a:solidFill>
            <a:prstDash val="solid"/>
          </a:ln>
        </p:spPr>
      </p:sp>
      <p:sp>
        <p:nvSpPr>
          <p:cNvPr id="11" name="Shape 9"/>
          <p:cNvSpPr/>
          <p:nvPr/>
        </p:nvSpPr>
        <p:spPr>
          <a:xfrm>
            <a:off x="8229600" y="1280160"/>
            <a:ext cx="73152" cy="804672"/>
          </a:xfrm>
          <a:prstGeom prst="rect">
            <a:avLst/>
          </a:prstGeom>
          <a:solidFill>
            <a:srgbClr val="00C2CB"/>
          </a:solidFill>
          <a:ln w="12700">
            <a:solidFill>
              <a:srgbClr val="00C2CB"/>
            </a:solidFill>
            <a:prstDash val="solid"/>
          </a:ln>
        </p:spPr>
      </p:sp>
      <p:sp>
        <p:nvSpPr>
          <p:cNvPr id="12" name="Text 10"/>
          <p:cNvSpPr/>
          <p:nvPr/>
        </p:nvSpPr>
        <p:spPr>
          <a:xfrm>
            <a:off x="8412480" y="1280160"/>
            <a:ext cx="3246120" cy="8046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Why Data Gets Difficult</a:t>
            </a:r>
            <a:endParaRPr lang="en-US" sz="1400" dirty="0"/>
          </a:p>
        </p:txBody>
      </p:sp>
      <p:sp>
        <p:nvSpPr>
          <p:cNvPr id="13" name="Shape 11"/>
          <p:cNvSpPr/>
          <p:nvPr/>
        </p:nvSpPr>
        <p:spPr>
          <a:xfrm>
            <a:off x="8229600" y="2468880"/>
            <a:ext cx="3520440" cy="804672"/>
          </a:xfrm>
          <a:prstGeom prst="rect">
            <a:avLst/>
          </a:prstGeom>
          <a:solidFill>
            <a:srgbClr val="132F56"/>
          </a:solidFill>
          <a:ln w="12700">
            <a:solidFill>
              <a:srgbClr val="1E3A5F"/>
            </a:solidFill>
            <a:prstDash val="solid"/>
          </a:ln>
        </p:spPr>
      </p:sp>
      <p:sp>
        <p:nvSpPr>
          <p:cNvPr id="14" name="Shape 12"/>
          <p:cNvSpPr/>
          <p:nvPr/>
        </p:nvSpPr>
        <p:spPr>
          <a:xfrm>
            <a:off x="8229600" y="2468880"/>
            <a:ext cx="73152" cy="804672"/>
          </a:xfrm>
          <a:prstGeom prst="rect">
            <a:avLst/>
          </a:prstGeom>
          <a:solidFill>
            <a:srgbClr val="00C2CB"/>
          </a:solidFill>
          <a:ln w="12700">
            <a:solidFill>
              <a:srgbClr val="00C2CB"/>
            </a:solidFill>
            <a:prstDash val="solid"/>
          </a:ln>
        </p:spPr>
      </p:sp>
      <p:sp>
        <p:nvSpPr>
          <p:cNvPr id="15" name="Text 13"/>
          <p:cNvSpPr/>
          <p:nvPr/>
        </p:nvSpPr>
        <p:spPr>
          <a:xfrm>
            <a:off x="8412480" y="2468880"/>
            <a:ext cx="3246120" cy="8046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Excel vs Databases</a:t>
            </a:r>
            <a:endParaRPr lang="en-US" sz="1400" dirty="0"/>
          </a:p>
        </p:txBody>
      </p:sp>
      <p:sp>
        <p:nvSpPr>
          <p:cNvPr id="16" name="Shape 14"/>
          <p:cNvSpPr/>
          <p:nvPr/>
        </p:nvSpPr>
        <p:spPr>
          <a:xfrm>
            <a:off x="8229600" y="3657600"/>
            <a:ext cx="3520440" cy="804672"/>
          </a:xfrm>
          <a:prstGeom prst="rect">
            <a:avLst/>
          </a:prstGeom>
          <a:solidFill>
            <a:srgbClr val="132F56"/>
          </a:solidFill>
          <a:ln w="12700">
            <a:solidFill>
              <a:srgbClr val="1E3A5F"/>
            </a:solidFill>
            <a:prstDash val="solid"/>
          </a:ln>
        </p:spPr>
      </p:sp>
      <p:sp>
        <p:nvSpPr>
          <p:cNvPr id="17" name="Shape 15"/>
          <p:cNvSpPr/>
          <p:nvPr/>
        </p:nvSpPr>
        <p:spPr>
          <a:xfrm>
            <a:off x="8229600" y="3657600"/>
            <a:ext cx="73152" cy="804672"/>
          </a:xfrm>
          <a:prstGeom prst="rect">
            <a:avLst/>
          </a:prstGeom>
          <a:solidFill>
            <a:srgbClr val="00C2CB"/>
          </a:solidFill>
          <a:ln w="12700">
            <a:solidFill>
              <a:srgbClr val="00C2CB"/>
            </a:solidFill>
            <a:prstDash val="solid"/>
          </a:ln>
        </p:spPr>
      </p:sp>
      <p:sp>
        <p:nvSpPr>
          <p:cNvPr id="18" name="Text 16"/>
          <p:cNvSpPr/>
          <p:nvPr/>
        </p:nvSpPr>
        <p:spPr>
          <a:xfrm>
            <a:off x="8412480" y="3657600"/>
            <a:ext cx="3246120" cy="8046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Why Companies Need DBs</a:t>
            </a:r>
            <a:endParaRPr lang="en-US" sz="1400" dirty="0"/>
          </a:p>
        </p:txBody>
      </p:sp>
      <p:sp>
        <p:nvSpPr>
          <p:cNvPr id="19" name="Shape 17"/>
          <p:cNvSpPr/>
          <p:nvPr/>
        </p:nvSpPr>
        <p:spPr>
          <a:xfrm>
            <a:off x="8229600" y="4846320"/>
            <a:ext cx="3520440" cy="804672"/>
          </a:xfrm>
          <a:prstGeom prst="rect">
            <a:avLst/>
          </a:prstGeom>
          <a:solidFill>
            <a:srgbClr val="132F56"/>
          </a:solidFill>
          <a:ln w="12700">
            <a:solidFill>
              <a:srgbClr val="1E3A5F"/>
            </a:solidFill>
            <a:prstDash val="solid"/>
          </a:ln>
        </p:spPr>
      </p:sp>
      <p:sp>
        <p:nvSpPr>
          <p:cNvPr id="20" name="Shape 18"/>
          <p:cNvSpPr/>
          <p:nvPr/>
        </p:nvSpPr>
        <p:spPr>
          <a:xfrm>
            <a:off x="8229600" y="4846320"/>
            <a:ext cx="73152" cy="804672"/>
          </a:xfrm>
          <a:prstGeom prst="rect">
            <a:avLst/>
          </a:prstGeom>
          <a:solidFill>
            <a:srgbClr val="00C2CB"/>
          </a:solidFill>
          <a:ln w="12700">
            <a:solidFill>
              <a:srgbClr val="00C2CB"/>
            </a:solidFill>
            <a:prstDash val="solid"/>
          </a:ln>
        </p:spPr>
      </p:sp>
      <p:sp>
        <p:nvSpPr>
          <p:cNvPr id="21" name="Text 19"/>
          <p:cNvSpPr/>
          <p:nvPr/>
        </p:nvSpPr>
        <p:spPr>
          <a:xfrm>
            <a:off x="8412480" y="4846320"/>
            <a:ext cx="3246120" cy="80467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  What SQL Solves</a:t>
            </a:r>
            <a:endParaRPr lang="en-US" sz="1400" dirty="0"/>
          </a:p>
        </p:txBody>
      </p:sp>
      <p:sp>
        <p:nvSpPr>
          <p:cNvPr id="22" name="Text 20"/>
          <p:cNvSpPr/>
          <p:nvPr/>
        </p:nvSpPr>
        <p:spPr>
          <a:xfrm>
            <a:off x="384048" y="6446520"/>
            <a:ext cx="7772400" cy="274320"/>
          </a:xfrm>
          <a:prstGeom prst="rect">
            <a:avLst/>
          </a:prstGeom>
          <a:noFill/>
          <a:ln/>
        </p:spPr>
        <p:txBody>
          <a:bodyPr wrap="square" rtlCol="0" anchor="ctr"/>
          <a:lstStyle/>
          <a:p>
            <a:pPr indent="0" marL="0">
              <a:buNone/>
            </a:pPr>
            <a:r>
              <a:rPr lang="en-US" sz="1100" dirty="0">
                <a:solidFill>
                  <a:srgbClr val="7B93B3"/>
                </a:solidFill>
                <a:latin typeface="Calibri" pitchFamily="34" charset="0"/>
                <a:ea typeface="Calibri" pitchFamily="34" charset="-122"/>
                <a:cs typeface="Calibri" pitchFamily="34" charset="-120"/>
              </a:rPr>
              <a:t>Book: Learning SQL  ·  Chapter 1 — A Little Background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00C2CB"/>
          </a:solidFill>
          <a:ln w="12700">
            <a:solidFill>
              <a:srgbClr val="00C2CB"/>
            </a:solidFill>
            <a:prstDash val="solid"/>
          </a:ln>
        </p:spPr>
      </p:sp>
      <p:sp>
        <p:nvSpPr>
          <p:cNvPr id="4" name="Shape 2"/>
          <p:cNvSpPr/>
          <p:nvPr/>
        </p:nvSpPr>
        <p:spPr>
          <a:xfrm>
            <a:off x="0" y="1188720"/>
            <a:ext cx="12161520" cy="36576"/>
          </a:xfrm>
          <a:prstGeom prst="rect">
            <a:avLst/>
          </a:prstGeom>
          <a:solidFill>
            <a:srgbClr val="00C2CB"/>
          </a:solidFill>
          <a:ln w="12700">
            <a:solidFill>
              <a:srgbClr val="00C2C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What Is a Database?</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00C2CB"/>
                </a:solidFill>
                <a:latin typeface="Calibri" pitchFamily="34" charset="0"/>
                <a:ea typeface="Calibri" pitchFamily="34" charset="-122"/>
                <a:cs typeface="Calibri" pitchFamily="34" charset="-120"/>
              </a:rPr>
              <a:t>Understanding databases through a real coaching centre scenario</a:t>
            </a:r>
            <a:endParaRPr lang="en-US" sz="1400" dirty="0"/>
          </a:p>
        </p:txBody>
      </p:sp>
      <p:sp>
        <p:nvSpPr>
          <p:cNvPr id="7" name="Shape 5"/>
          <p:cNvSpPr/>
          <p:nvPr/>
        </p:nvSpPr>
        <p:spPr>
          <a:xfrm>
            <a:off x="502920" y="1389888"/>
            <a:ext cx="11155680" cy="749808"/>
          </a:xfrm>
          <a:prstGeom prst="rect">
            <a:avLst/>
          </a:prstGeom>
          <a:solidFill>
            <a:srgbClr val="102A4C"/>
          </a:solidFill>
          <a:ln w="12700">
            <a:solidFill>
              <a:srgbClr val="00C2CB"/>
            </a:solidFill>
            <a:prstDash val="solid"/>
          </a:ln>
          <a:effectLst>
            <a:outerShdw sx="100000" sy="100000" kx="0" ky="0" algn="bl" rotWithShape="0" blurRad="101600" dist="38100" dir="8100000">
              <a:srgbClr val="000000">
                <a:alpha val="14000"/>
              </a:srgbClr>
            </a:outerShdw>
          </a:effectLst>
        </p:spPr>
      </p:sp>
      <p:sp>
        <p:nvSpPr>
          <p:cNvPr id="8" name="Shape 6"/>
          <p:cNvSpPr/>
          <p:nvPr/>
        </p:nvSpPr>
        <p:spPr>
          <a:xfrm>
            <a:off x="502920" y="1389888"/>
            <a:ext cx="91440" cy="749808"/>
          </a:xfrm>
          <a:prstGeom prst="rect">
            <a:avLst/>
          </a:prstGeom>
          <a:solidFill>
            <a:srgbClr val="00C2CB"/>
          </a:solidFill>
          <a:ln w="12700">
            <a:solidFill>
              <a:srgbClr val="00C2CB"/>
            </a:solidFill>
            <a:prstDash val="solid"/>
          </a:ln>
        </p:spPr>
      </p:sp>
      <p:sp>
        <p:nvSpPr>
          <p:cNvPr id="9" name="Text 7"/>
          <p:cNvSpPr/>
          <p:nvPr/>
        </p:nvSpPr>
        <p:spPr>
          <a:xfrm>
            <a:off x="777240" y="1408176"/>
            <a:ext cx="10744200" cy="713232"/>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database is an organised collection of related information — stored so it can be searched, updated, and used quickly by multiple people at the same time.</a:t>
            </a:r>
            <a:endParaRPr lang="en-US" sz="1600" dirty="0"/>
          </a:p>
        </p:txBody>
      </p:sp>
      <p:sp>
        <p:nvSpPr>
          <p:cNvPr id="10" name="Shape 8"/>
          <p:cNvSpPr/>
          <p:nvPr/>
        </p:nvSpPr>
        <p:spPr>
          <a:xfrm>
            <a:off x="502920" y="2231136"/>
            <a:ext cx="11155680" cy="475488"/>
          </a:xfrm>
          <a:prstGeom prst="rect">
            <a:avLst/>
          </a:prstGeom>
          <a:solidFill>
            <a:srgbClr val="1C2A0F"/>
          </a:solidFill>
          <a:ln w="12700">
            <a:solidFill>
              <a:srgbClr val="FFB347"/>
            </a:solidFill>
            <a:prstDash val="solid"/>
          </a:ln>
        </p:spPr>
      </p:sp>
      <p:sp>
        <p:nvSpPr>
          <p:cNvPr id="11" name="Text 9"/>
          <p:cNvSpPr/>
          <p:nvPr/>
        </p:nvSpPr>
        <p:spPr>
          <a:xfrm>
            <a:off x="658368" y="2231136"/>
            <a:ext cx="10972800" cy="475488"/>
          </a:xfrm>
          <a:prstGeom prst="rect">
            <a:avLst/>
          </a:prstGeom>
          <a:noFill/>
          <a:ln/>
        </p:spPr>
        <p:txBody>
          <a:bodyPr wrap="square" rtlCol="0" anchor="ctr"/>
          <a:lstStyle/>
          <a:p>
            <a:pPr indent="0" marL="0">
              <a:buNone/>
            </a:pPr>
            <a:r>
              <a:rPr lang="en-US" sz="1350" b="1" dirty="0">
                <a:solidFill>
                  <a:srgbClr val="FFB347"/>
                </a:solidFill>
                <a:latin typeface="Calibri" pitchFamily="34" charset="0"/>
                <a:ea typeface="Calibri" pitchFamily="34" charset="-122"/>
                <a:cs typeface="Calibri" pitchFamily="34" charset="-120"/>
              </a:rPr>
              <a:t>Scenario: You run a coaching centre with 200 students across 3 batches. You need to track fees, attendance, marks, batch timings, and staff salaries.</a:t>
            </a:r>
            <a:endParaRPr lang="en-US" sz="1350" dirty="0"/>
          </a:p>
        </p:txBody>
      </p:sp>
      <p:sp>
        <p:nvSpPr>
          <p:cNvPr id="12" name="Shape 10"/>
          <p:cNvSpPr/>
          <p:nvPr/>
        </p:nvSpPr>
        <p:spPr>
          <a:xfrm>
            <a:off x="502920" y="2798064"/>
            <a:ext cx="5532120" cy="402336"/>
          </a:xfrm>
          <a:prstGeom prst="rect">
            <a:avLst/>
          </a:prstGeom>
          <a:solidFill>
            <a:srgbClr val="7F1D1D"/>
          </a:solidFill>
          <a:ln w="12700">
            <a:solidFill>
              <a:srgbClr val="FF6B6B"/>
            </a:solidFill>
            <a:prstDash val="solid"/>
          </a:ln>
        </p:spPr>
      </p:sp>
      <p:sp>
        <p:nvSpPr>
          <p:cNvPr id="13" name="Text 11"/>
          <p:cNvSpPr/>
          <p:nvPr/>
        </p:nvSpPr>
        <p:spPr>
          <a:xfrm>
            <a:off x="502920" y="2798064"/>
            <a:ext cx="553212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Managing it on paper or Excel registers</a:t>
            </a:r>
            <a:endParaRPr lang="en-US" sz="1300" dirty="0"/>
          </a:p>
        </p:txBody>
      </p:sp>
      <p:sp>
        <p:nvSpPr>
          <p:cNvPr id="14" name="Shape 12"/>
          <p:cNvSpPr/>
          <p:nvPr/>
        </p:nvSpPr>
        <p:spPr>
          <a:xfrm>
            <a:off x="6199632" y="2798064"/>
            <a:ext cx="5550408" cy="402336"/>
          </a:xfrm>
          <a:prstGeom prst="rect">
            <a:avLst/>
          </a:prstGeom>
          <a:solidFill>
            <a:srgbClr val="009CA5"/>
          </a:solidFill>
          <a:ln w="12700">
            <a:solidFill>
              <a:srgbClr val="00C2CB"/>
            </a:solidFill>
            <a:prstDash val="solid"/>
          </a:ln>
        </p:spPr>
      </p:sp>
      <p:sp>
        <p:nvSpPr>
          <p:cNvPr id="15" name="Text 13"/>
          <p:cNvSpPr/>
          <p:nvPr/>
        </p:nvSpPr>
        <p:spPr>
          <a:xfrm>
            <a:off x="6199632" y="2798064"/>
            <a:ext cx="5550408"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Managing it with a Database</a:t>
            </a:r>
            <a:endParaRPr lang="en-US" sz="1300" dirty="0"/>
          </a:p>
        </p:txBody>
      </p:sp>
      <p:sp>
        <p:nvSpPr>
          <p:cNvPr id="16" name="Shape 14"/>
          <p:cNvSpPr/>
          <p:nvPr/>
        </p:nvSpPr>
        <p:spPr>
          <a:xfrm>
            <a:off x="6080760" y="2798064"/>
            <a:ext cx="0" cy="3913632"/>
          </a:xfrm>
          <a:prstGeom prst="line">
            <a:avLst/>
          </a:prstGeom>
          <a:noFill/>
          <a:ln w="19050">
            <a:solidFill>
              <a:srgbClr val="1E3A5F"/>
            </a:solidFill>
            <a:prstDash val="solid"/>
          </a:ln>
        </p:spPr>
      </p:sp>
      <p:sp>
        <p:nvSpPr>
          <p:cNvPr id="17" name="Shape 15"/>
          <p:cNvSpPr/>
          <p:nvPr/>
        </p:nvSpPr>
        <p:spPr>
          <a:xfrm>
            <a:off x="502920" y="3291840"/>
            <a:ext cx="5532120" cy="786384"/>
          </a:xfrm>
          <a:prstGeom prst="rect">
            <a:avLst/>
          </a:prstGeom>
          <a:solidFill>
            <a:srgbClr val="2D0A0A"/>
          </a:solidFill>
          <a:ln w="12700">
            <a:solidFill>
              <a:srgbClr val="7F1D1D"/>
            </a:solidFill>
            <a:prstDash val="solid"/>
          </a:ln>
        </p:spPr>
      </p:sp>
      <p:sp>
        <p:nvSpPr>
          <p:cNvPr id="18" name="Text 16"/>
          <p:cNvSpPr/>
          <p:nvPr/>
        </p:nvSpPr>
        <p:spPr>
          <a:xfrm>
            <a:off x="640080" y="3346704"/>
            <a:ext cx="5257800" cy="256032"/>
          </a:xfrm>
          <a:prstGeom prst="rect">
            <a:avLst/>
          </a:prstGeom>
          <a:noFill/>
          <a:ln/>
        </p:spPr>
        <p:txBody>
          <a:bodyPr wrap="square"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Fee tracking is confusing</a:t>
            </a:r>
            <a:endParaRPr lang="en-US" sz="1200" dirty="0"/>
          </a:p>
        </p:txBody>
      </p:sp>
      <p:sp>
        <p:nvSpPr>
          <p:cNvPr id="19" name="Text 17"/>
          <p:cNvSpPr/>
          <p:nvPr/>
        </p:nvSpPr>
        <p:spPr>
          <a:xfrm>
            <a:off x="640080" y="3621024"/>
            <a:ext cx="5257800" cy="402336"/>
          </a:xfrm>
          <a:prstGeom prst="rect">
            <a:avLst/>
          </a:prstGeom>
          <a:noFill/>
          <a:ln/>
        </p:spPr>
        <p:txBody>
          <a:bodyPr wrap="square" rtlCol="0" anchor="ctr"/>
          <a:lstStyle/>
          <a:p>
            <a:pPr indent="0" marL="0">
              <a:buNone/>
            </a:pPr>
            <a:r>
              <a:rPr lang="en-US" sz="1050" dirty="0">
                <a:solidFill>
                  <a:srgbClr val="FCA5A5"/>
                </a:solidFill>
                <a:latin typeface="Calibri" pitchFamily="34" charset="0"/>
                <a:ea typeface="Calibri" pitchFamily="34" charset="-122"/>
                <a:cs typeface="Calibri" pitchFamily="34" charset="-120"/>
              </a:rPr>
              <a:t>Student Priya pays in 3 installments. You update 3 different columns in a fee register. If you miss one column, the balance shown is wrong — and you will not know until someone complains.</a:t>
            </a:r>
            <a:endParaRPr lang="en-US" sz="1050" dirty="0"/>
          </a:p>
        </p:txBody>
      </p:sp>
      <p:sp>
        <p:nvSpPr>
          <p:cNvPr id="20" name="Shape 18"/>
          <p:cNvSpPr/>
          <p:nvPr/>
        </p:nvSpPr>
        <p:spPr>
          <a:xfrm>
            <a:off x="502920" y="4151376"/>
            <a:ext cx="5532120" cy="786384"/>
          </a:xfrm>
          <a:prstGeom prst="rect">
            <a:avLst/>
          </a:prstGeom>
          <a:solidFill>
            <a:srgbClr val="1A0505"/>
          </a:solidFill>
          <a:ln w="12700">
            <a:solidFill>
              <a:srgbClr val="7F1D1D"/>
            </a:solidFill>
            <a:prstDash val="solid"/>
          </a:ln>
        </p:spPr>
      </p:sp>
      <p:sp>
        <p:nvSpPr>
          <p:cNvPr id="21" name="Text 19"/>
          <p:cNvSpPr/>
          <p:nvPr/>
        </p:nvSpPr>
        <p:spPr>
          <a:xfrm>
            <a:off x="640080" y="4206240"/>
            <a:ext cx="5257800" cy="256032"/>
          </a:xfrm>
          <a:prstGeom prst="rect">
            <a:avLst/>
          </a:prstGeom>
          <a:noFill/>
          <a:ln/>
        </p:spPr>
        <p:txBody>
          <a:bodyPr wrap="square"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Attendance needs manual counting</a:t>
            </a:r>
            <a:endParaRPr lang="en-US" sz="1200" dirty="0"/>
          </a:p>
        </p:txBody>
      </p:sp>
      <p:sp>
        <p:nvSpPr>
          <p:cNvPr id="22" name="Text 20"/>
          <p:cNvSpPr/>
          <p:nvPr/>
        </p:nvSpPr>
        <p:spPr>
          <a:xfrm>
            <a:off x="640080" y="4480560"/>
            <a:ext cx="5257800" cy="402336"/>
          </a:xfrm>
          <a:prstGeom prst="rect">
            <a:avLst/>
          </a:prstGeom>
          <a:noFill/>
          <a:ln/>
        </p:spPr>
        <p:txBody>
          <a:bodyPr wrap="square" rtlCol="0" anchor="ctr"/>
          <a:lstStyle/>
          <a:p>
            <a:pPr indent="0" marL="0">
              <a:buNone/>
            </a:pPr>
            <a:r>
              <a:rPr lang="en-US" sz="1050" dirty="0">
                <a:solidFill>
                  <a:srgbClr val="FCA5A5"/>
                </a:solidFill>
                <a:latin typeface="Calibri" pitchFamily="34" charset="0"/>
                <a:ea typeface="Calibri" pitchFamily="34" charset="-122"/>
                <a:cs typeface="Calibri" pitchFamily="34" charset="-120"/>
              </a:rPr>
              <a:t>Morning batch in one notebook, evening batch in another. To find students below 75% attendance this month, you count row by row across two registers. This takes hours.</a:t>
            </a:r>
            <a:endParaRPr lang="en-US" sz="1050" dirty="0"/>
          </a:p>
        </p:txBody>
      </p:sp>
      <p:sp>
        <p:nvSpPr>
          <p:cNvPr id="23" name="Shape 21"/>
          <p:cNvSpPr/>
          <p:nvPr/>
        </p:nvSpPr>
        <p:spPr>
          <a:xfrm>
            <a:off x="502920" y="5010912"/>
            <a:ext cx="5532120" cy="786384"/>
          </a:xfrm>
          <a:prstGeom prst="rect">
            <a:avLst/>
          </a:prstGeom>
          <a:solidFill>
            <a:srgbClr val="2D0A0A"/>
          </a:solidFill>
          <a:ln w="12700">
            <a:solidFill>
              <a:srgbClr val="7F1D1D"/>
            </a:solidFill>
            <a:prstDash val="solid"/>
          </a:ln>
        </p:spPr>
      </p:sp>
      <p:sp>
        <p:nvSpPr>
          <p:cNvPr id="24" name="Text 22"/>
          <p:cNvSpPr/>
          <p:nvPr/>
        </p:nvSpPr>
        <p:spPr>
          <a:xfrm>
            <a:off x="640080" y="5065776"/>
            <a:ext cx="5257800" cy="256032"/>
          </a:xfrm>
          <a:prstGeom prst="rect">
            <a:avLst/>
          </a:prstGeom>
          <a:noFill/>
          <a:ln/>
        </p:spPr>
        <p:txBody>
          <a:bodyPr wrap="square"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Combining information is nearly impossible</a:t>
            </a:r>
            <a:endParaRPr lang="en-US" sz="1200" dirty="0"/>
          </a:p>
        </p:txBody>
      </p:sp>
      <p:sp>
        <p:nvSpPr>
          <p:cNvPr id="25" name="Text 23"/>
          <p:cNvSpPr/>
          <p:nvPr/>
        </p:nvSpPr>
        <p:spPr>
          <a:xfrm>
            <a:off x="640080" y="5340096"/>
            <a:ext cx="5257800" cy="402336"/>
          </a:xfrm>
          <a:prstGeom prst="rect">
            <a:avLst/>
          </a:prstGeom>
          <a:noFill/>
          <a:ln/>
        </p:spPr>
        <p:txBody>
          <a:bodyPr wrap="square" rtlCol="0" anchor="ctr"/>
          <a:lstStyle/>
          <a:p>
            <a:pPr indent="0" marL="0">
              <a:buNone/>
            </a:pPr>
            <a:r>
              <a:rPr lang="en-US" sz="1050" dirty="0">
                <a:solidFill>
                  <a:srgbClr val="FCA5A5"/>
                </a:solidFill>
                <a:latin typeface="Calibri" pitchFamily="34" charset="0"/>
                <a:ea typeface="Calibri" pitchFamily="34" charset="-122"/>
                <a:cs typeface="Calibri" pitchFamily="34" charset="-120"/>
              </a:rPr>
              <a:t>You want a list of students who have both fee dues AND low attendance. You have to open two registers and manually match names — it takes an entire afternoon to produce this simple list.</a:t>
            </a:r>
            <a:endParaRPr lang="en-US" sz="1050" dirty="0"/>
          </a:p>
        </p:txBody>
      </p:sp>
      <p:sp>
        <p:nvSpPr>
          <p:cNvPr id="26" name="Shape 24"/>
          <p:cNvSpPr/>
          <p:nvPr/>
        </p:nvSpPr>
        <p:spPr>
          <a:xfrm>
            <a:off x="502920" y="5870448"/>
            <a:ext cx="5532120" cy="786384"/>
          </a:xfrm>
          <a:prstGeom prst="rect">
            <a:avLst/>
          </a:prstGeom>
          <a:solidFill>
            <a:srgbClr val="1A0505"/>
          </a:solidFill>
          <a:ln w="12700">
            <a:solidFill>
              <a:srgbClr val="7F1D1D"/>
            </a:solidFill>
            <a:prstDash val="solid"/>
          </a:ln>
        </p:spPr>
      </p:sp>
      <p:sp>
        <p:nvSpPr>
          <p:cNvPr id="27" name="Text 25"/>
          <p:cNvSpPr/>
          <p:nvPr/>
        </p:nvSpPr>
        <p:spPr>
          <a:xfrm>
            <a:off x="640080" y="5925312"/>
            <a:ext cx="5257800" cy="256032"/>
          </a:xfrm>
          <a:prstGeom prst="rect">
            <a:avLst/>
          </a:prstGeom>
          <a:noFill/>
          <a:ln/>
        </p:spPr>
        <p:txBody>
          <a:bodyPr wrap="square"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Duplicate entries and lost data</a:t>
            </a:r>
            <a:endParaRPr lang="en-US" sz="1200" dirty="0"/>
          </a:p>
        </p:txBody>
      </p:sp>
      <p:sp>
        <p:nvSpPr>
          <p:cNvPr id="28" name="Text 26"/>
          <p:cNvSpPr/>
          <p:nvPr/>
        </p:nvSpPr>
        <p:spPr>
          <a:xfrm>
            <a:off x="640080" y="6199632"/>
            <a:ext cx="5257800" cy="402336"/>
          </a:xfrm>
          <a:prstGeom prst="rect">
            <a:avLst/>
          </a:prstGeom>
          <a:noFill/>
          <a:ln/>
        </p:spPr>
        <p:txBody>
          <a:bodyPr wrap="square" rtlCol="0" anchor="ctr"/>
          <a:lstStyle/>
          <a:p>
            <a:pPr indent="0" marL="0">
              <a:buNone/>
            </a:pPr>
            <a:r>
              <a:rPr lang="en-US" sz="1050" dirty="0">
                <a:solidFill>
                  <a:srgbClr val="FCA5A5"/>
                </a:solidFill>
                <a:latin typeface="Calibri" pitchFamily="34" charset="0"/>
                <a:ea typeface="Calibri" pitchFamily="34" charset="-122"/>
                <a:cs typeface="Calibri" pitchFamily="34" charset="-120"/>
              </a:rPr>
              <a:t>A new staff member adds Rahul's fee entry twice because the earlier entry was in pencil and faded. Now the accounts show he has overpaid — but which entry is correct? There is no way to know.</a:t>
            </a:r>
            <a:endParaRPr lang="en-US" sz="1050" dirty="0"/>
          </a:p>
        </p:txBody>
      </p:sp>
      <p:sp>
        <p:nvSpPr>
          <p:cNvPr id="29" name="Shape 27"/>
          <p:cNvSpPr/>
          <p:nvPr/>
        </p:nvSpPr>
        <p:spPr>
          <a:xfrm>
            <a:off x="6199632" y="3291840"/>
            <a:ext cx="5550408" cy="786384"/>
          </a:xfrm>
          <a:prstGeom prst="rect">
            <a:avLst/>
          </a:prstGeom>
          <a:solidFill>
            <a:srgbClr val="042010"/>
          </a:solidFill>
          <a:ln w="12700">
            <a:solidFill>
              <a:srgbClr val="14532D"/>
            </a:solidFill>
            <a:prstDash val="solid"/>
          </a:ln>
        </p:spPr>
      </p:sp>
      <p:sp>
        <p:nvSpPr>
          <p:cNvPr id="30" name="Text 28"/>
          <p:cNvSpPr/>
          <p:nvPr/>
        </p:nvSpPr>
        <p:spPr>
          <a:xfrm>
            <a:off x="6336792" y="3346704"/>
            <a:ext cx="5276088" cy="256032"/>
          </a:xfrm>
          <a:prstGeom prst="rect">
            <a:avLst/>
          </a:prstGeom>
          <a:noFill/>
          <a:ln/>
        </p:spPr>
        <p:txBody>
          <a:bodyPr wrap="square" rtlCol="0" anchor="ctr"/>
          <a:lstStyle/>
          <a:p>
            <a:pPr indent="0" marL="0">
              <a:buNone/>
            </a:pPr>
            <a:r>
              <a:rPr lang="en-US" sz="1200" b="1" dirty="0">
                <a:solidFill>
                  <a:srgbClr val="52E3A3"/>
                </a:solidFill>
                <a:latin typeface="Calibri" pitchFamily="34" charset="0"/>
                <a:ea typeface="Calibri" pitchFamily="34" charset="-122"/>
                <a:cs typeface="Calibri" pitchFamily="34" charset="-120"/>
              </a:rPr>
              <a:t>Fee tracking in under 5 seconds</a:t>
            </a:r>
            <a:endParaRPr lang="en-US" sz="1200" dirty="0"/>
          </a:p>
        </p:txBody>
      </p:sp>
      <p:sp>
        <p:nvSpPr>
          <p:cNvPr id="31" name="Text 29"/>
          <p:cNvSpPr/>
          <p:nvPr/>
        </p:nvSpPr>
        <p:spPr>
          <a:xfrm>
            <a:off x="6336792" y="3621024"/>
            <a:ext cx="5276088" cy="402336"/>
          </a:xfrm>
          <a:prstGeom prst="rect">
            <a:avLst/>
          </a:prstGeom>
          <a:noFill/>
          <a:ln/>
        </p:spPr>
        <p:txBody>
          <a:bodyPr wrap="square" rtlCol="0" anchor="ctr"/>
          <a:lstStyle/>
          <a:p>
            <a:pPr indent="0" marL="0">
              <a:buNone/>
            </a:pPr>
            <a:r>
              <a:rPr lang="en-US" sz="1050" dirty="0">
                <a:solidFill>
                  <a:srgbClr val="86EFAC"/>
                </a:solidFill>
                <a:latin typeface="Calibri" pitchFamily="34" charset="0"/>
                <a:ea typeface="Calibri" pitchFamily="34" charset="-122"/>
                <a:cs typeface="Calibri" pitchFamily="34" charset="-120"/>
              </a:rPr>
              <a:t>One Students table and one Fees table, linked by student ID. A single query instantly shows every student's total paid, balance due, and the exact date of last payment across all 200 students.</a:t>
            </a:r>
            <a:endParaRPr lang="en-US" sz="1050" dirty="0"/>
          </a:p>
        </p:txBody>
      </p:sp>
      <p:sp>
        <p:nvSpPr>
          <p:cNvPr id="32" name="Shape 30"/>
          <p:cNvSpPr/>
          <p:nvPr/>
        </p:nvSpPr>
        <p:spPr>
          <a:xfrm>
            <a:off x="6199632" y="4151376"/>
            <a:ext cx="5550408" cy="786384"/>
          </a:xfrm>
          <a:prstGeom prst="rect">
            <a:avLst/>
          </a:prstGeom>
          <a:solidFill>
            <a:srgbClr val="021008"/>
          </a:solidFill>
          <a:ln w="12700">
            <a:solidFill>
              <a:srgbClr val="14532D"/>
            </a:solidFill>
            <a:prstDash val="solid"/>
          </a:ln>
        </p:spPr>
      </p:sp>
      <p:sp>
        <p:nvSpPr>
          <p:cNvPr id="33" name="Text 31"/>
          <p:cNvSpPr/>
          <p:nvPr/>
        </p:nvSpPr>
        <p:spPr>
          <a:xfrm>
            <a:off x="6336792" y="4206240"/>
            <a:ext cx="5276088" cy="256032"/>
          </a:xfrm>
          <a:prstGeom prst="rect">
            <a:avLst/>
          </a:prstGeom>
          <a:noFill/>
          <a:ln/>
        </p:spPr>
        <p:txBody>
          <a:bodyPr wrap="square" rtlCol="0" anchor="ctr"/>
          <a:lstStyle/>
          <a:p>
            <a:pPr indent="0" marL="0">
              <a:buNone/>
            </a:pPr>
            <a:r>
              <a:rPr lang="en-US" sz="1200" b="1" dirty="0">
                <a:solidFill>
                  <a:srgbClr val="52E3A3"/>
                </a:solidFill>
                <a:latin typeface="Calibri" pitchFamily="34" charset="0"/>
                <a:ea typeface="Calibri" pitchFamily="34" charset="-122"/>
                <a:cs typeface="Calibri" pitchFamily="34" charset="-120"/>
              </a:rPr>
              <a:t>Attendance calculated automatically</a:t>
            </a:r>
            <a:endParaRPr lang="en-US" sz="1200" dirty="0"/>
          </a:p>
        </p:txBody>
      </p:sp>
      <p:sp>
        <p:nvSpPr>
          <p:cNvPr id="34" name="Text 32"/>
          <p:cNvSpPr/>
          <p:nvPr/>
        </p:nvSpPr>
        <p:spPr>
          <a:xfrm>
            <a:off x="6336792" y="4480560"/>
            <a:ext cx="5276088" cy="402336"/>
          </a:xfrm>
          <a:prstGeom prst="rect">
            <a:avLst/>
          </a:prstGeom>
          <a:noFill/>
          <a:ln/>
        </p:spPr>
        <p:txBody>
          <a:bodyPr wrap="square" rtlCol="0" anchor="ctr"/>
          <a:lstStyle/>
          <a:p>
            <a:pPr indent="0" marL="0">
              <a:buNone/>
            </a:pPr>
            <a:r>
              <a:rPr lang="en-US" sz="1050" dirty="0">
                <a:solidFill>
                  <a:srgbClr val="86EFAC"/>
                </a:solidFill>
                <a:latin typeface="Calibri" pitchFamily="34" charset="0"/>
                <a:ea typeface="Calibri" pitchFamily="34" charset="-122"/>
                <a:cs typeface="Calibri" pitchFamily="34" charset="-120"/>
              </a:rPr>
              <a:t>All batches feed into one Attendance table. One query pulls students below 75% across every batch this month. The answer comes back in under 1 second — no counting, no register-flipping needed.</a:t>
            </a:r>
            <a:endParaRPr lang="en-US" sz="1050" dirty="0"/>
          </a:p>
        </p:txBody>
      </p:sp>
      <p:sp>
        <p:nvSpPr>
          <p:cNvPr id="35" name="Shape 33"/>
          <p:cNvSpPr/>
          <p:nvPr/>
        </p:nvSpPr>
        <p:spPr>
          <a:xfrm>
            <a:off x="6199632" y="5010912"/>
            <a:ext cx="5550408" cy="786384"/>
          </a:xfrm>
          <a:prstGeom prst="rect">
            <a:avLst/>
          </a:prstGeom>
          <a:solidFill>
            <a:srgbClr val="042010"/>
          </a:solidFill>
          <a:ln w="12700">
            <a:solidFill>
              <a:srgbClr val="14532D"/>
            </a:solidFill>
            <a:prstDash val="solid"/>
          </a:ln>
        </p:spPr>
      </p:sp>
      <p:sp>
        <p:nvSpPr>
          <p:cNvPr id="36" name="Text 34"/>
          <p:cNvSpPr/>
          <p:nvPr/>
        </p:nvSpPr>
        <p:spPr>
          <a:xfrm>
            <a:off x="6336792" y="5065776"/>
            <a:ext cx="5276088" cy="256032"/>
          </a:xfrm>
          <a:prstGeom prst="rect">
            <a:avLst/>
          </a:prstGeom>
          <a:noFill/>
          <a:ln/>
        </p:spPr>
        <p:txBody>
          <a:bodyPr wrap="square" rtlCol="0" anchor="ctr"/>
          <a:lstStyle/>
          <a:p>
            <a:pPr indent="0" marL="0">
              <a:buNone/>
            </a:pPr>
            <a:r>
              <a:rPr lang="en-US" sz="1200" b="1" dirty="0">
                <a:solidFill>
                  <a:srgbClr val="52E3A3"/>
                </a:solidFill>
                <a:latin typeface="Calibri" pitchFamily="34" charset="0"/>
                <a:ea typeface="Calibri" pitchFamily="34" charset="-122"/>
                <a:cs typeface="Calibri" pitchFamily="34" charset="-120"/>
              </a:rPr>
              <a:t>Cross-reference anything instantly</a:t>
            </a:r>
            <a:endParaRPr lang="en-US" sz="1200" dirty="0"/>
          </a:p>
        </p:txBody>
      </p:sp>
      <p:sp>
        <p:nvSpPr>
          <p:cNvPr id="37" name="Text 35"/>
          <p:cNvSpPr/>
          <p:nvPr/>
        </p:nvSpPr>
        <p:spPr>
          <a:xfrm>
            <a:off x="6336792" y="5340096"/>
            <a:ext cx="5276088" cy="402336"/>
          </a:xfrm>
          <a:prstGeom prst="rect">
            <a:avLst/>
          </a:prstGeom>
          <a:noFill/>
          <a:ln/>
        </p:spPr>
        <p:txBody>
          <a:bodyPr wrap="square" rtlCol="0" anchor="ctr"/>
          <a:lstStyle/>
          <a:p>
            <a:pPr indent="0" marL="0">
              <a:buNone/>
            </a:pPr>
            <a:r>
              <a:rPr lang="en-US" sz="1050" dirty="0">
                <a:solidFill>
                  <a:srgbClr val="86EFAC"/>
                </a:solidFill>
                <a:latin typeface="Calibri" pitchFamily="34" charset="0"/>
                <a:ea typeface="Calibri" pitchFamily="34" charset="-122"/>
                <a:cs typeface="Calibri" pitchFamily="34" charset="-120"/>
              </a:rPr>
              <a:t>One query joins the Students, Fees, and Attendance tables together. You get a ready list of students with dues AND poor attendance in 2 seconds — ready for parent calls without any manual effort.</a:t>
            </a:r>
            <a:endParaRPr lang="en-US" sz="1050" dirty="0"/>
          </a:p>
        </p:txBody>
      </p:sp>
      <p:sp>
        <p:nvSpPr>
          <p:cNvPr id="38" name="Shape 36"/>
          <p:cNvSpPr/>
          <p:nvPr/>
        </p:nvSpPr>
        <p:spPr>
          <a:xfrm>
            <a:off x="6199632" y="5870448"/>
            <a:ext cx="5550408" cy="786384"/>
          </a:xfrm>
          <a:prstGeom prst="rect">
            <a:avLst/>
          </a:prstGeom>
          <a:solidFill>
            <a:srgbClr val="021008"/>
          </a:solidFill>
          <a:ln w="12700">
            <a:solidFill>
              <a:srgbClr val="14532D"/>
            </a:solidFill>
            <a:prstDash val="solid"/>
          </a:ln>
        </p:spPr>
      </p:sp>
      <p:sp>
        <p:nvSpPr>
          <p:cNvPr id="39" name="Text 37"/>
          <p:cNvSpPr/>
          <p:nvPr/>
        </p:nvSpPr>
        <p:spPr>
          <a:xfrm>
            <a:off x="6336792" y="5925312"/>
            <a:ext cx="5276088" cy="256032"/>
          </a:xfrm>
          <a:prstGeom prst="rect">
            <a:avLst/>
          </a:prstGeom>
          <a:noFill/>
          <a:ln/>
        </p:spPr>
        <p:txBody>
          <a:bodyPr wrap="square" rtlCol="0" anchor="ctr"/>
          <a:lstStyle/>
          <a:p>
            <a:pPr indent="0" marL="0">
              <a:buNone/>
            </a:pPr>
            <a:r>
              <a:rPr lang="en-US" sz="1200" b="1" dirty="0">
                <a:solidFill>
                  <a:srgbClr val="52E3A3"/>
                </a:solidFill>
                <a:latin typeface="Calibri" pitchFamily="34" charset="0"/>
                <a:ea typeface="Calibri" pitchFamily="34" charset="-122"/>
                <a:cs typeface="Calibri" pitchFamily="34" charset="-120"/>
              </a:rPr>
              <a:t>Duplicates are blocked by design</a:t>
            </a:r>
            <a:endParaRPr lang="en-US" sz="1200" dirty="0"/>
          </a:p>
        </p:txBody>
      </p:sp>
      <p:sp>
        <p:nvSpPr>
          <p:cNvPr id="40" name="Text 38"/>
          <p:cNvSpPr/>
          <p:nvPr/>
        </p:nvSpPr>
        <p:spPr>
          <a:xfrm>
            <a:off x="6336792" y="6199632"/>
            <a:ext cx="5276088" cy="402336"/>
          </a:xfrm>
          <a:prstGeom prst="rect">
            <a:avLst/>
          </a:prstGeom>
          <a:noFill/>
          <a:ln/>
        </p:spPr>
        <p:txBody>
          <a:bodyPr wrap="square" rtlCol="0" anchor="ctr"/>
          <a:lstStyle/>
          <a:p>
            <a:pPr indent="0" marL="0">
              <a:buNone/>
            </a:pPr>
            <a:r>
              <a:rPr lang="en-US" sz="1050" dirty="0">
                <a:solidFill>
                  <a:srgbClr val="86EFAC"/>
                </a:solidFill>
                <a:latin typeface="Calibri" pitchFamily="34" charset="0"/>
                <a:ea typeface="Calibri" pitchFamily="34" charset="-122"/>
                <a:cs typeface="Calibri" pitchFamily="34" charset="-120"/>
              </a:rPr>
              <a:t>Every student has one unique student ID. If a staff member tries to enter a second fee record for the same student and date, the database automatically rejects it with an error. No manual checking required.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FF6B6B"/>
          </a:solidFill>
          <a:ln w="12700">
            <a:solidFill>
              <a:srgbClr val="FF6B6B"/>
            </a:solidFill>
            <a:prstDash val="solid"/>
          </a:ln>
        </p:spPr>
      </p:sp>
      <p:sp>
        <p:nvSpPr>
          <p:cNvPr id="4" name="Shape 2"/>
          <p:cNvSpPr/>
          <p:nvPr/>
        </p:nvSpPr>
        <p:spPr>
          <a:xfrm>
            <a:off x="0" y="1188720"/>
            <a:ext cx="12161520" cy="36576"/>
          </a:xfrm>
          <a:prstGeom prst="rect">
            <a:avLst/>
          </a:prstGeom>
          <a:solidFill>
            <a:srgbClr val="FF6B6B"/>
          </a:solidFill>
          <a:ln w="12700">
            <a:solidFill>
              <a:srgbClr val="FF6B6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Why Data Management Becomes Difficult</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FF6B6B"/>
                </a:solidFill>
                <a:latin typeface="Calibri" pitchFamily="34" charset="0"/>
                <a:ea typeface="Calibri" pitchFamily="34" charset="-122"/>
                <a:cs typeface="Calibri" pitchFamily="34" charset="-120"/>
              </a:rPr>
              <a:t>Three problems that break every manual system at scale</a:t>
            </a:r>
            <a:endParaRPr lang="en-US" sz="1400" dirty="0"/>
          </a:p>
        </p:txBody>
      </p:sp>
      <p:sp>
        <p:nvSpPr>
          <p:cNvPr id="7" name="Shape 5"/>
          <p:cNvSpPr/>
          <p:nvPr/>
        </p:nvSpPr>
        <p:spPr>
          <a:xfrm>
            <a:off x="411480" y="1417320"/>
            <a:ext cx="11338560" cy="1572768"/>
          </a:xfrm>
          <a:prstGeom prst="rect">
            <a:avLst/>
          </a:prstGeom>
          <a:solidFill>
            <a:srgbClr val="FFFFFF"/>
          </a:solidFill>
          <a:ln w="12700">
            <a:solidFill>
              <a:srgbClr val="E0EAF5"/>
            </a:solidFill>
            <a:prstDash val="solid"/>
          </a:ln>
          <a:effectLst>
            <a:outerShdw sx="100000" sy="100000" kx="0" ky="0" algn="bl" rotWithShape="0" blurRad="101600" dist="38100" dir="8100000">
              <a:srgbClr val="000000">
                <a:alpha val="14000"/>
              </a:srgbClr>
            </a:outerShdw>
          </a:effectLst>
        </p:spPr>
      </p:sp>
      <p:sp>
        <p:nvSpPr>
          <p:cNvPr id="8" name="Shape 6"/>
          <p:cNvSpPr/>
          <p:nvPr/>
        </p:nvSpPr>
        <p:spPr>
          <a:xfrm>
            <a:off x="411480" y="1417320"/>
            <a:ext cx="960120" cy="1572768"/>
          </a:xfrm>
          <a:prstGeom prst="rect">
            <a:avLst/>
          </a:prstGeom>
          <a:solidFill>
            <a:srgbClr val="FF6B6B"/>
          </a:solidFill>
          <a:ln w="12700">
            <a:solidFill>
              <a:srgbClr val="FF6B6B"/>
            </a:solidFill>
            <a:prstDash val="solid"/>
          </a:ln>
        </p:spPr>
      </p:sp>
      <p:sp>
        <p:nvSpPr>
          <p:cNvPr id="9" name="Text 7"/>
          <p:cNvSpPr/>
          <p:nvPr/>
        </p:nvSpPr>
        <p:spPr>
          <a:xfrm>
            <a:off x="411480" y="1417320"/>
            <a:ext cx="960120" cy="15727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10" name="Text 8"/>
          <p:cNvSpPr/>
          <p:nvPr/>
        </p:nvSpPr>
        <p:spPr>
          <a:xfrm>
            <a:off x="1508760" y="1545336"/>
            <a:ext cx="9966960" cy="438912"/>
          </a:xfrm>
          <a:prstGeom prst="rect">
            <a:avLst/>
          </a:prstGeom>
          <a:noFill/>
          <a:ln/>
        </p:spPr>
        <p:txBody>
          <a:bodyPr wrap="square" rtlCol="0" anchor="ctr"/>
          <a:lstStyle/>
          <a:p>
            <a:pPr indent="0" marL="0">
              <a:buNone/>
            </a:pPr>
            <a:r>
              <a:rPr lang="en-US" sz="1600" b="1" dirty="0">
                <a:solidFill>
                  <a:srgbClr val="0A0F1E"/>
                </a:solidFill>
                <a:latin typeface="Calibri" pitchFamily="34" charset="0"/>
                <a:ea typeface="Calibri" pitchFamily="34" charset="-122"/>
                <a:cs typeface="Calibri" pitchFamily="34" charset="-120"/>
              </a:rPr>
              <a:t>🔎  Finding data is painfully slow</a:t>
            </a:r>
            <a:endParaRPr lang="en-US" sz="1600" dirty="0"/>
          </a:p>
        </p:txBody>
      </p:sp>
      <p:sp>
        <p:nvSpPr>
          <p:cNvPr id="11" name="Text 9"/>
          <p:cNvSpPr/>
          <p:nvPr/>
        </p:nvSpPr>
        <p:spPr>
          <a:xfrm>
            <a:off x="1508760" y="1984248"/>
            <a:ext cx="5029200" cy="77724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Problem:  Imagine BSNL's Mumbai phone directory — 5 million entries, printed, sorted by surname only. Want to find everyone on MG Road? You read every single page.</a:t>
            </a:r>
            <a:endParaRPr lang="en-US" sz="1200" dirty="0"/>
          </a:p>
        </p:txBody>
      </p:sp>
      <p:sp>
        <p:nvSpPr>
          <p:cNvPr id="12" name="Shape 10"/>
          <p:cNvSpPr/>
          <p:nvPr/>
        </p:nvSpPr>
        <p:spPr>
          <a:xfrm>
            <a:off x="6720840" y="1600200"/>
            <a:ext cx="0" cy="1207008"/>
          </a:xfrm>
          <a:prstGeom prst="line">
            <a:avLst/>
          </a:prstGeom>
          <a:noFill/>
          <a:ln w="12700">
            <a:solidFill>
              <a:srgbClr val="D1E5F5"/>
            </a:solidFill>
            <a:prstDash val="solid"/>
          </a:ln>
        </p:spPr>
      </p:sp>
      <p:sp>
        <p:nvSpPr>
          <p:cNvPr id="13" name="Shape 11"/>
          <p:cNvSpPr/>
          <p:nvPr/>
        </p:nvSpPr>
        <p:spPr>
          <a:xfrm>
            <a:off x="6858000" y="1581912"/>
            <a:ext cx="329184" cy="329184"/>
          </a:xfrm>
          <a:prstGeom prst="rect">
            <a:avLst/>
          </a:prstGeom>
          <a:solidFill>
            <a:srgbClr val="52E3A3"/>
          </a:solidFill>
          <a:ln w="12700">
            <a:solidFill>
              <a:srgbClr val="52E3A3"/>
            </a:solidFill>
            <a:prstDash val="solid"/>
          </a:ln>
        </p:spPr>
      </p:sp>
      <p:sp>
        <p:nvSpPr>
          <p:cNvPr id="14" name="Text 12"/>
          <p:cNvSpPr/>
          <p:nvPr/>
        </p:nvSpPr>
        <p:spPr>
          <a:xfrm>
            <a:off x="6858000" y="1581912"/>
            <a:ext cx="329184" cy="329184"/>
          </a:xfrm>
          <a:prstGeom prst="rect">
            <a:avLst/>
          </a:prstGeom>
          <a:noFill/>
          <a:ln/>
        </p:spPr>
        <p:txBody>
          <a:bodyPr wrap="square" rtlCol="0" anchor="ctr"/>
          <a:lstStyle/>
          <a:p>
            <a:pPr algn="ctr" indent="0" marL="0">
              <a:buNone/>
            </a:pPr>
            <a:r>
              <a:rPr lang="en-US" sz="1400" b="1" dirty="0">
                <a:solidFill>
                  <a:srgbClr val="0A0F1E"/>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7315200" y="1581912"/>
            <a:ext cx="4251960" cy="1143000"/>
          </a:xfrm>
          <a:prstGeom prst="rect">
            <a:avLst/>
          </a:prstGeom>
          <a:noFill/>
          <a:ln/>
        </p:spPr>
        <p:txBody>
          <a:bodyPr wrap="square" rtlCol="0" anchor="ctr"/>
          <a:lstStyle/>
          <a:p>
            <a:pPr indent="0" marL="0">
              <a:buNone/>
            </a:pPr>
            <a:r>
              <a:rPr lang="en-US" sz="1200" dirty="0">
                <a:solidFill>
                  <a:srgbClr val="0F5132"/>
                </a:solidFill>
                <a:latin typeface="Calibri" pitchFamily="34" charset="0"/>
                <a:ea typeface="Calibri" pitchFamily="34" charset="-122"/>
                <a:cs typeface="Calibri" pitchFamily="34" charset="-120"/>
              </a:rPr>
              <a:t>A database indexes data in multiple ways. Find anyone by name, area, or phone number — in under 1 millisecond.</a:t>
            </a:r>
            <a:endParaRPr lang="en-US" sz="1200" dirty="0"/>
          </a:p>
        </p:txBody>
      </p:sp>
      <p:sp>
        <p:nvSpPr>
          <p:cNvPr id="16" name="Shape 14"/>
          <p:cNvSpPr/>
          <p:nvPr/>
        </p:nvSpPr>
        <p:spPr>
          <a:xfrm>
            <a:off x="411480" y="3154680"/>
            <a:ext cx="11338560" cy="1572768"/>
          </a:xfrm>
          <a:prstGeom prst="rect">
            <a:avLst/>
          </a:prstGeom>
          <a:solidFill>
            <a:srgbClr val="FFFFFF"/>
          </a:solidFill>
          <a:ln w="12700">
            <a:solidFill>
              <a:srgbClr val="E0EAF5"/>
            </a:solidFill>
            <a:prstDash val="solid"/>
          </a:ln>
          <a:effectLst>
            <a:outerShdw sx="100000" sy="100000" kx="0" ky="0" algn="bl" rotWithShape="0" blurRad="101600" dist="38100" dir="8100000">
              <a:srgbClr val="000000">
                <a:alpha val="14000"/>
              </a:srgbClr>
            </a:outerShdw>
          </a:effectLst>
        </p:spPr>
      </p:sp>
      <p:sp>
        <p:nvSpPr>
          <p:cNvPr id="17" name="Shape 15"/>
          <p:cNvSpPr/>
          <p:nvPr/>
        </p:nvSpPr>
        <p:spPr>
          <a:xfrm>
            <a:off x="411480" y="3154680"/>
            <a:ext cx="960120" cy="1572768"/>
          </a:xfrm>
          <a:prstGeom prst="rect">
            <a:avLst/>
          </a:prstGeom>
          <a:solidFill>
            <a:srgbClr val="FFB347"/>
          </a:solidFill>
          <a:ln w="12700">
            <a:solidFill>
              <a:srgbClr val="FFB347"/>
            </a:solidFill>
            <a:prstDash val="solid"/>
          </a:ln>
        </p:spPr>
      </p:sp>
      <p:sp>
        <p:nvSpPr>
          <p:cNvPr id="18" name="Text 16"/>
          <p:cNvSpPr/>
          <p:nvPr/>
        </p:nvSpPr>
        <p:spPr>
          <a:xfrm>
            <a:off x="411480" y="3154680"/>
            <a:ext cx="960120" cy="15727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9" name="Text 17"/>
          <p:cNvSpPr/>
          <p:nvPr/>
        </p:nvSpPr>
        <p:spPr>
          <a:xfrm>
            <a:off x="1508760" y="3282696"/>
            <a:ext cx="9966960" cy="438912"/>
          </a:xfrm>
          <a:prstGeom prst="rect">
            <a:avLst/>
          </a:prstGeom>
          <a:noFill/>
          <a:ln/>
        </p:spPr>
        <p:txBody>
          <a:bodyPr wrap="square" rtlCol="0" anchor="ctr"/>
          <a:lstStyle/>
          <a:p>
            <a:pPr indent="0" marL="0">
              <a:buNone/>
            </a:pPr>
            <a:r>
              <a:rPr lang="en-US" sz="1600" b="1" dirty="0">
                <a:solidFill>
                  <a:srgbClr val="0A0F1E"/>
                </a:solidFill>
                <a:latin typeface="Calibri" pitchFamily="34" charset="0"/>
                <a:ea typeface="Calibri" pitchFamily="34" charset="-122"/>
                <a:cs typeface="Calibri" pitchFamily="34" charset="-120"/>
              </a:rPr>
              <a:t>🗂️  You can only look things up one way</a:t>
            </a:r>
            <a:endParaRPr lang="en-US" sz="1600" dirty="0"/>
          </a:p>
        </p:txBody>
      </p:sp>
      <p:sp>
        <p:nvSpPr>
          <p:cNvPr id="20" name="Text 18"/>
          <p:cNvSpPr/>
          <p:nvPr/>
        </p:nvSpPr>
        <p:spPr>
          <a:xfrm>
            <a:off x="1508760" y="3721608"/>
            <a:ext cx="5029200" cy="77724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Problem:  A paper telephone book is sorted by last name. You can't sort it simultaneously by area, then by first name, then by age — the paper is fixed.</a:t>
            </a:r>
            <a:endParaRPr lang="en-US" sz="1200" dirty="0"/>
          </a:p>
        </p:txBody>
      </p:sp>
      <p:sp>
        <p:nvSpPr>
          <p:cNvPr id="21" name="Shape 19"/>
          <p:cNvSpPr/>
          <p:nvPr/>
        </p:nvSpPr>
        <p:spPr>
          <a:xfrm>
            <a:off x="6720840" y="3337560"/>
            <a:ext cx="0" cy="1207008"/>
          </a:xfrm>
          <a:prstGeom prst="line">
            <a:avLst/>
          </a:prstGeom>
          <a:noFill/>
          <a:ln w="12700">
            <a:solidFill>
              <a:srgbClr val="D1E5F5"/>
            </a:solidFill>
            <a:prstDash val="solid"/>
          </a:ln>
        </p:spPr>
      </p:sp>
      <p:sp>
        <p:nvSpPr>
          <p:cNvPr id="22" name="Shape 20"/>
          <p:cNvSpPr/>
          <p:nvPr/>
        </p:nvSpPr>
        <p:spPr>
          <a:xfrm>
            <a:off x="6858000" y="3319272"/>
            <a:ext cx="329184" cy="329184"/>
          </a:xfrm>
          <a:prstGeom prst="rect">
            <a:avLst/>
          </a:prstGeom>
          <a:solidFill>
            <a:srgbClr val="52E3A3"/>
          </a:solidFill>
          <a:ln w="12700">
            <a:solidFill>
              <a:srgbClr val="52E3A3"/>
            </a:solidFill>
            <a:prstDash val="solid"/>
          </a:ln>
        </p:spPr>
      </p:sp>
      <p:sp>
        <p:nvSpPr>
          <p:cNvPr id="23" name="Text 21"/>
          <p:cNvSpPr/>
          <p:nvPr/>
        </p:nvSpPr>
        <p:spPr>
          <a:xfrm>
            <a:off x="6858000" y="3319272"/>
            <a:ext cx="329184" cy="329184"/>
          </a:xfrm>
          <a:prstGeom prst="rect">
            <a:avLst/>
          </a:prstGeom>
          <a:noFill/>
          <a:ln/>
        </p:spPr>
        <p:txBody>
          <a:bodyPr wrap="square" rtlCol="0" anchor="ctr"/>
          <a:lstStyle/>
          <a:p>
            <a:pPr algn="ctr" indent="0" marL="0">
              <a:buNone/>
            </a:pPr>
            <a:r>
              <a:rPr lang="en-US" sz="1400" b="1" dirty="0">
                <a:solidFill>
                  <a:srgbClr val="0A0F1E"/>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7315200" y="3319272"/>
            <a:ext cx="4251960" cy="1143000"/>
          </a:xfrm>
          <a:prstGeom prst="rect">
            <a:avLst/>
          </a:prstGeom>
          <a:noFill/>
          <a:ln/>
        </p:spPr>
        <p:txBody>
          <a:bodyPr wrap="square" rtlCol="0" anchor="ctr"/>
          <a:lstStyle/>
          <a:p>
            <a:pPr indent="0" marL="0">
              <a:buNone/>
            </a:pPr>
            <a:r>
              <a:rPr lang="en-US" sz="1200" dirty="0">
                <a:solidFill>
                  <a:srgbClr val="0F5132"/>
                </a:solidFill>
                <a:latin typeface="Calibri" pitchFamily="34" charset="0"/>
                <a:ea typeface="Calibri" pitchFamily="34" charset="-122"/>
                <a:cs typeface="Calibri" pitchFamily="34" charset="-120"/>
              </a:rPr>
              <a:t>A database creates multiple indexes. Same data, infinite ways to query it — city, date range, price, anything.</a:t>
            </a:r>
            <a:endParaRPr lang="en-US" sz="1200" dirty="0"/>
          </a:p>
        </p:txBody>
      </p:sp>
      <p:sp>
        <p:nvSpPr>
          <p:cNvPr id="25" name="Shape 23"/>
          <p:cNvSpPr/>
          <p:nvPr/>
        </p:nvSpPr>
        <p:spPr>
          <a:xfrm>
            <a:off x="411480" y="4892040"/>
            <a:ext cx="11338560" cy="1572768"/>
          </a:xfrm>
          <a:prstGeom prst="rect">
            <a:avLst/>
          </a:prstGeom>
          <a:solidFill>
            <a:srgbClr val="FFFFFF"/>
          </a:solidFill>
          <a:ln w="12700">
            <a:solidFill>
              <a:srgbClr val="E0EAF5"/>
            </a:solidFill>
            <a:prstDash val="solid"/>
          </a:ln>
          <a:effectLst>
            <a:outerShdw sx="100000" sy="100000" kx="0" ky="0" algn="bl" rotWithShape="0" blurRad="101600" dist="38100" dir="8100000">
              <a:srgbClr val="000000">
                <a:alpha val="14000"/>
              </a:srgbClr>
            </a:outerShdw>
          </a:effectLst>
        </p:spPr>
      </p:sp>
      <p:sp>
        <p:nvSpPr>
          <p:cNvPr id="26" name="Shape 24"/>
          <p:cNvSpPr/>
          <p:nvPr/>
        </p:nvSpPr>
        <p:spPr>
          <a:xfrm>
            <a:off x="411480" y="4892040"/>
            <a:ext cx="960120" cy="1572768"/>
          </a:xfrm>
          <a:prstGeom prst="rect">
            <a:avLst/>
          </a:prstGeom>
          <a:solidFill>
            <a:srgbClr val="52E3A3"/>
          </a:solidFill>
          <a:ln w="12700">
            <a:solidFill>
              <a:srgbClr val="52E3A3"/>
            </a:solidFill>
            <a:prstDash val="solid"/>
          </a:ln>
        </p:spPr>
      </p:sp>
      <p:sp>
        <p:nvSpPr>
          <p:cNvPr id="27" name="Text 25"/>
          <p:cNvSpPr/>
          <p:nvPr/>
        </p:nvSpPr>
        <p:spPr>
          <a:xfrm>
            <a:off x="411480" y="4892040"/>
            <a:ext cx="960120" cy="157276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8" name="Text 26"/>
          <p:cNvSpPr/>
          <p:nvPr/>
        </p:nvSpPr>
        <p:spPr>
          <a:xfrm>
            <a:off x="1508760" y="5020056"/>
            <a:ext cx="9966960" cy="438912"/>
          </a:xfrm>
          <a:prstGeom prst="rect">
            <a:avLst/>
          </a:prstGeom>
          <a:noFill/>
          <a:ln/>
        </p:spPr>
        <p:txBody>
          <a:bodyPr wrap="square" rtlCol="0" anchor="ctr"/>
          <a:lstStyle/>
          <a:p>
            <a:pPr indent="0" marL="0">
              <a:buNone/>
            </a:pPr>
            <a:r>
              <a:rPr lang="en-US" sz="1600" b="1" dirty="0">
                <a:solidFill>
                  <a:srgbClr val="0A0F1E"/>
                </a:solidFill>
                <a:latin typeface="Calibri" pitchFamily="34" charset="0"/>
                <a:ea typeface="Calibri" pitchFamily="34" charset="-122"/>
                <a:cs typeface="Calibri" pitchFamily="34" charset="-120"/>
              </a:rPr>
              <a:t>⏰  Data goes stale the moment you print it</a:t>
            </a:r>
            <a:endParaRPr lang="en-US" sz="1600" dirty="0"/>
          </a:p>
        </p:txBody>
      </p:sp>
      <p:sp>
        <p:nvSpPr>
          <p:cNvPr id="29" name="Text 27"/>
          <p:cNvSpPr/>
          <p:nvPr/>
        </p:nvSpPr>
        <p:spPr>
          <a:xfrm>
            <a:off x="1508760" y="5458968"/>
            <a:ext cx="5029200" cy="77724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Problem:  Mumbai has 20 million+ residents. Every day hundreds move, change numbers, change names. A printed directory is out of date before it ships.</a:t>
            </a:r>
            <a:endParaRPr lang="en-US" sz="1200" dirty="0"/>
          </a:p>
        </p:txBody>
      </p:sp>
      <p:sp>
        <p:nvSpPr>
          <p:cNvPr id="30" name="Shape 28"/>
          <p:cNvSpPr/>
          <p:nvPr/>
        </p:nvSpPr>
        <p:spPr>
          <a:xfrm>
            <a:off x="6720840" y="5074920"/>
            <a:ext cx="0" cy="1207008"/>
          </a:xfrm>
          <a:prstGeom prst="line">
            <a:avLst/>
          </a:prstGeom>
          <a:noFill/>
          <a:ln w="12700">
            <a:solidFill>
              <a:srgbClr val="D1E5F5"/>
            </a:solidFill>
            <a:prstDash val="solid"/>
          </a:ln>
        </p:spPr>
      </p:sp>
      <p:sp>
        <p:nvSpPr>
          <p:cNvPr id="31" name="Shape 29"/>
          <p:cNvSpPr/>
          <p:nvPr/>
        </p:nvSpPr>
        <p:spPr>
          <a:xfrm>
            <a:off x="6858000" y="5056632"/>
            <a:ext cx="329184" cy="329184"/>
          </a:xfrm>
          <a:prstGeom prst="rect">
            <a:avLst/>
          </a:prstGeom>
          <a:solidFill>
            <a:srgbClr val="52E3A3"/>
          </a:solidFill>
          <a:ln w="12700">
            <a:solidFill>
              <a:srgbClr val="52E3A3"/>
            </a:solidFill>
            <a:prstDash val="solid"/>
          </a:ln>
        </p:spPr>
      </p:sp>
      <p:sp>
        <p:nvSpPr>
          <p:cNvPr id="32" name="Text 30"/>
          <p:cNvSpPr/>
          <p:nvPr/>
        </p:nvSpPr>
        <p:spPr>
          <a:xfrm>
            <a:off x="6858000" y="5056632"/>
            <a:ext cx="329184" cy="329184"/>
          </a:xfrm>
          <a:prstGeom prst="rect">
            <a:avLst/>
          </a:prstGeom>
          <a:noFill/>
          <a:ln/>
        </p:spPr>
        <p:txBody>
          <a:bodyPr wrap="square" rtlCol="0" anchor="ctr"/>
          <a:lstStyle/>
          <a:p>
            <a:pPr algn="ctr" indent="0" marL="0">
              <a:buNone/>
            </a:pPr>
            <a:r>
              <a:rPr lang="en-US" sz="1400" b="1" dirty="0">
                <a:solidFill>
                  <a:srgbClr val="0A0F1E"/>
                </a:solidFill>
                <a:latin typeface="Calibri" pitchFamily="34" charset="0"/>
                <a:ea typeface="Calibri" pitchFamily="34" charset="-122"/>
                <a:cs typeface="Calibri" pitchFamily="34" charset="-120"/>
              </a:rPr>
              <a:t>✓</a:t>
            </a:r>
            <a:endParaRPr lang="en-US" sz="1400" dirty="0"/>
          </a:p>
        </p:txBody>
      </p:sp>
      <p:sp>
        <p:nvSpPr>
          <p:cNvPr id="33" name="Text 31"/>
          <p:cNvSpPr/>
          <p:nvPr/>
        </p:nvSpPr>
        <p:spPr>
          <a:xfrm>
            <a:off x="7315200" y="5056632"/>
            <a:ext cx="4251960" cy="1143000"/>
          </a:xfrm>
          <a:prstGeom prst="rect">
            <a:avLst/>
          </a:prstGeom>
          <a:noFill/>
          <a:ln/>
        </p:spPr>
        <p:txBody>
          <a:bodyPr wrap="square" rtlCol="0" anchor="ctr"/>
          <a:lstStyle/>
          <a:p>
            <a:pPr indent="0" marL="0">
              <a:buNone/>
            </a:pPr>
            <a:r>
              <a:rPr lang="en-US" sz="1200" dirty="0">
                <a:solidFill>
                  <a:srgbClr val="0F5132"/>
                </a:solidFill>
                <a:latin typeface="Calibri" pitchFamily="34" charset="0"/>
                <a:ea typeface="Calibri" pitchFamily="34" charset="-122"/>
                <a:cs typeface="Calibri" pitchFamily="34" charset="-120"/>
              </a:rPr>
              <a:t>A database stores one live copy. Every update is instantly visible to every user everywhere.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38B2F0"/>
          </a:solidFill>
          <a:ln w="12700">
            <a:solidFill>
              <a:srgbClr val="38B2F0"/>
            </a:solidFill>
            <a:prstDash val="solid"/>
          </a:ln>
        </p:spPr>
      </p:sp>
      <p:sp>
        <p:nvSpPr>
          <p:cNvPr id="4" name="Shape 2"/>
          <p:cNvSpPr/>
          <p:nvPr/>
        </p:nvSpPr>
        <p:spPr>
          <a:xfrm>
            <a:off x="0" y="1188720"/>
            <a:ext cx="12161520" cy="36576"/>
          </a:xfrm>
          <a:prstGeom prst="rect">
            <a:avLst/>
          </a:prstGeom>
          <a:solidFill>
            <a:srgbClr val="38B2F0"/>
          </a:solidFill>
          <a:ln w="12700">
            <a:solidFill>
              <a:srgbClr val="38B2F0"/>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How Databases Evolved Over Time</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38B2F0"/>
                </a:solidFill>
                <a:latin typeface="Calibri" pitchFamily="34" charset="0"/>
                <a:ea typeface="Calibri" pitchFamily="34" charset="-122"/>
                <a:cs typeface="Calibri" pitchFamily="34" charset="-120"/>
              </a:rPr>
              <a:t>Every generation solved the problems of the one before it</a:t>
            </a:r>
            <a:endParaRPr lang="en-US" sz="1400" dirty="0"/>
          </a:p>
        </p:txBody>
      </p:sp>
      <p:sp>
        <p:nvSpPr>
          <p:cNvPr id="7" name="Shape 5"/>
          <p:cNvSpPr/>
          <p:nvPr/>
        </p:nvSpPr>
        <p:spPr>
          <a:xfrm>
            <a:off x="457200" y="3090672"/>
            <a:ext cx="11247120" cy="73152"/>
          </a:xfrm>
          <a:prstGeom prst="rect">
            <a:avLst/>
          </a:prstGeom>
          <a:solidFill>
            <a:srgbClr val="1E3A5F"/>
          </a:solidFill>
          <a:ln w="12700">
            <a:solidFill>
              <a:srgbClr val="1E3A5F"/>
            </a:solidFill>
            <a:prstDash val="solid"/>
          </a:ln>
        </p:spPr>
      </p:sp>
      <p:sp>
        <p:nvSpPr>
          <p:cNvPr id="8" name="Shape 6"/>
          <p:cNvSpPr/>
          <p:nvPr/>
        </p:nvSpPr>
        <p:spPr>
          <a:xfrm>
            <a:off x="1508760" y="2999232"/>
            <a:ext cx="256032" cy="256032"/>
          </a:xfrm>
          <a:prstGeom prst="ellipse">
            <a:avLst/>
          </a:prstGeom>
          <a:solidFill>
            <a:srgbClr val="7B93B3"/>
          </a:solidFill>
          <a:ln w="12700">
            <a:solidFill>
              <a:srgbClr val="7B93B3"/>
            </a:solidFill>
            <a:prstDash val="solid"/>
          </a:ln>
        </p:spPr>
      </p:sp>
      <p:sp>
        <p:nvSpPr>
          <p:cNvPr id="9" name="Text 7"/>
          <p:cNvSpPr/>
          <p:nvPr/>
        </p:nvSpPr>
        <p:spPr>
          <a:xfrm>
            <a:off x="1051560" y="2633472"/>
            <a:ext cx="1170432" cy="320040"/>
          </a:xfrm>
          <a:prstGeom prst="rect">
            <a:avLst/>
          </a:prstGeom>
          <a:noFill/>
          <a:ln/>
        </p:spPr>
        <p:txBody>
          <a:bodyPr wrap="square" rtlCol="0" anchor="ctr"/>
          <a:lstStyle/>
          <a:p>
            <a:pPr algn="ctr" indent="0" marL="0">
              <a:buNone/>
            </a:pPr>
            <a:r>
              <a:rPr lang="en-US" sz="1300" b="1" dirty="0">
                <a:solidFill>
                  <a:srgbClr val="7B93B3"/>
                </a:solidFill>
                <a:latin typeface="Calibri" pitchFamily="34" charset="0"/>
                <a:ea typeface="Calibri" pitchFamily="34" charset="-122"/>
                <a:cs typeface="Calibri" pitchFamily="34" charset="-120"/>
              </a:rPr>
              <a:t>1950s</a:t>
            </a:r>
            <a:endParaRPr lang="en-US" sz="1300" dirty="0"/>
          </a:p>
        </p:txBody>
      </p:sp>
      <p:sp>
        <p:nvSpPr>
          <p:cNvPr id="10" name="Text 8"/>
          <p:cNvSpPr/>
          <p:nvPr/>
        </p:nvSpPr>
        <p:spPr>
          <a:xfrm>
            <a:off x="914400" y="3337560"/>
            <a:ext cx="1463040" cy="3200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Magnetic Tape</a:t>
            </a:r>
            <a:endParaRPr lang="en-US" sz="1250" dirty="0"/>
          </a:p>
        </p:txBody>
      </p:sp>
      <p:sp>
        <p:nvSpPr>
          <p:cNvPr id="11" name="Shape 9"/>
          <p:cNvSpPr/>
          <p:nvPr/>
        </p:nvSpPr>
        <p:spPr>
          <a:xfrm>
            <a:off x="4343400" y="2999232"/>
            <a:ext cx="256032" cy="256032"/>
          </a:xfrm>
          <a:prstGeom prst="ellipse">
            <a:avLst/>
          </a:prstGeom>
          <a:solidFill>
            <a:srgbClr val="38B2F0"/>
          </a:solidFill>
          <a:ln w="12700">
            <a:solidFill>
              <a:srgbClr val="38B2F0"/>
            </a:solidFill>
            <a:prstDash val="solid"/>
          </a:ln>
        </p:spPr>
      </p:sp>
      <p:sp>
        <p:nvSpPr>
          <p:cNvPr id="12" name="Text 10"/>
          <p:cNvSpPr/>
          <p:nvPr/>
        </p:nvSpPr>
        <p:spPr>
          <a:xfrm>
            <a:off x="3886200" y="2633472"/>
            <a:ext cx="1170432" cy="320040"/>
          </a:xfrm>
          <a:prstGeom prst="rect">
            <a:avLst/>
          </a:prstGeom>
          <a:noFill/>
          <a:ln/>
        </p:spPr>
        <p:txBody>
          <a:bodyPr wrap="square" rtlCol="0" anchor="ctr"/>
          <a:lstStyle/>
          <a:p>
            <a:pPr algn="ctr" indent="0" marL="0">
              <a:buNone/>
            </a:pPr>
            <a:r>
              <a:rPr lang="en-US" sz="1300" b="1" dirty="0">
                <a:solidFill>
                  <a:srgbClr val="38B2F0"/>
                </a:solidFill>
                <a:latin typeface="Calibri" pitchFamily="34" charset="0"/>
                <a:ea typeface="Calibri" pitchFamily="34" charset="-122"/>
                <a:cs typeface="Calibri" pitchFamily="34" charset="-120"/>
              </a:rPr>
              <a:t>1960s</a:t>
            </a:r>
            <a:endParaRPr lang="en-US" sz="1300" dirty="0"/>
          </a:p>
        </p:txBody>
      </p:sp>
      <p:sp>
        <p:nvSpPr>
          <p:cNvPr id="13" name="Text 11"/>
          <p:cNvSpPr/>
          <p:nvPr/>
        </p:nvSpPr>
        <p:spPr>
          <a:xfrm>
            <a:off x="3749040" y="3337560"/>
            <a:ext cx="1463040" cy="3200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Hierarchical</a:t>
            </a:r>
            <a:endParaRPr lang="en-US" sz="1250" dirty="0"/>
          </a:p>
        </p:txBody>
      </p:sp>
      <p:sp>
        <p:nvSpPr>
          <p:cNvPr id="14" name="Shape 12"/>
          <p:cNvSpPr/>
          <p:nvPr/>
        </p:nvSpPr>
        <p:spPr>
          <a:xfrm>
            <a:off x="7178040" y="2999232"/>
            <a:ext cx="256032" cy="256032"/>
          </a:xfrm>
          <a:prstGeom prst="ellipse">
            <a:avLst/>
          </a:prstGeom>
          <a:solidFill>
            <a:srgbClr val="FFB347"/>
          </a:solidFill>
          <a:ln w="12700">
            <a:solidFill>
              <a:srgbClr val="FFB347"/>
            </a:solidFill>
            <a:prstDash val="solid"/>
          </a:ln>
        </p:spPr>
      </p:sp>
      <p:sp>
        <p:nvSpPr>
          <p:cNvPr id="15" name="Text 13"/>
          <p:cNvSpPr/>
          <p:nvPr/>
        </p:nvSpPr>
        <p:spPr>
          <a:xfrm>
            <a:off x="6720840" y="2633472"/>
            <a:ext cx="1170432" cy="320040"/>
          </a:xfrm>
          <a:prstGeom prst="rect">
            <a:avLst/>
          </a:prstGeom>
          <a:noFill/>
          <a:ln/>
        </p:spPr>
        <p:txBody>
          <a:bodyPr wrap="square" rtlCol="0" anchor="ctr"/>
          <a:lstStyle/>
          <a:p>
            <a:pPr algn="ctr" indent="0" marL="0">
              <a:buNone/>
            </a:pPr>
            <a:r>
              <a:rPr lang="en-US" sz="1300" b="1" dirty="0">
                <a:solidFill>
                  <a:srgbClr val="FFB347"/>
                </a:solidFill>
                <a:latin typeface="Calibri" pitchFamily="34" charset="0"/>
                <a:ea typeface="Calibri" pitchFamily="34" charset="-122"/>
                <a:cs typeface="Calibri" pitchFamily="34" charset="-120"/>
              </a:rPr>
              <a:t>1970s</a:t>
            </a:r>
            <a:endParaRPr lang="en-US" sz="1300" dirty="0"/>
          </a:p>
        </p:txBody>
      </p:sp>
      <p:sp>
        <p:nvSpPr>
          <p:cNvPr id="16" name="Text 14"/>
          <p:cNvSpPr/>
          <p:nvPr/>
        </p:nvSpPr>
        <p:spPr>
          <a:xfrm>
            <a:off x="6583680" y="3337560"/>
            <a:ext cx="1463040" cy="3200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Network</a:t>
            </a:r>
            <a:endParaRPr lang="en-US" sz="1250" dirty="0"/>
          </a:p>
        </p:txBody>
      </p:sp>
      <p:sp>
        <p:nvSpPr>
          <p:cNvPr id="17" name="Shape 15"/>
          <p:cNvSpPr/>
          <p:nvPr/>
        </p:nvSpPr>
        <p:spPr>
          <a:xfrm>
            <a:off x="10012680" y="2999232"/>
            <a:ext cx="256032" cy="256032"/>
          </a:xfrm>
          <a:prstGeom prst="ellipse">
            <a:avLst/>
          </a:prstGeom>
          <a:solidFill>
            <a:srgbClr val="52E3A3"/>
          </a:solidFill>
          <a:ln w="12700">
            <a:solidFill>
              <a:srgbClr val="52E3A3"/>
            </a:solidFill>
            <a:prstDash val="solid"/>
          </a:ln>
        </p:spPr>
      </p:sp>
      <p:sp>
        <p:nvSpPr>
          <p:cNvPr id="18" name="Text 16"/>
          <p:cNvSpPr/>
          <p:nvPr/>
        </p:nvSpPr>
        <p:spPr>
          <a:xfrm>
            <a:off x="9555480" y="2633472"/>
            <a:ext cx="1170432" cy="320040"/>
          </a:xfrm>
          <a:prstGeom prst="rect">
            <a:avLst/>
          </a:prstGeom>
          <a:noFill/>
          <a:ln/>
        </p:spPr>
        <p:txBody>
          <a:bodyPr wrap="square" rtlCol="0" anchor="ctr"/>
          <a:lstStyle/>
          <a:p>
            <a:pPr algn="ctr" indent="0" marL="0">
              <a:buNone/>
            </a:pPr>
            <a:r>
              <a:rPr lang="en-US" sz="1300" b="1" dirty="0">
                <a:solidFill>
                  <a:srgbClr val="52E3A3"/>
                </a:solidFill>
                <a:latin typeface="Calibri" pitchFamily="34" charset="0"/>
                <a:ea typeface="Calibri" pitchFamily="34" charset="-122"/>
                <a:cs typeface="Calibri" pitchFamily="34" charset="-120"/>
              </a:rPr>
              <a:t>1980s</a:t>
            </a:r>
            <a:endParaRPr lang="en-US" sz="1300" dirty="0"/>
          </a:p>
        </p:txBody>
      </p:sp>
      <p:sp>
        <p:nvSpPr>
          <p:cNvPr id="19" name="Text 17"/>
          <p:cNvSpPr/>
          <p:nvPr/>
        </p:nvSpPr>
        <p:spPr>
          <a:xfrm>
            <a:off x="9418320" y="3337560"/>
            <a:ext cx="1463040" cy="3200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Relational</a:t>
            </a:r>
            <a:endParaRPr lang="en-US" sz="1250" dirty="0"/>
          </a:p>
        </p:txBody>
      </p:sp>
      <p:sp>
        <p:nvSpPr>
          <p:cNvPr id="20" name="Shape 18"/>
          <p:cNvSpPr/>
          <p:nvPr/>
        </p:nvSpPr>
        <p:spPr>
          <a:xfrm>
            <a:off x="457200" y="3794760"/>
            <a:ext cx="2724912" cy="2788920"/>
          </a:xfrm>
          <a:prstGeom prst="rect">
            <a:avLst/>
          </a:prstGeom>
          <a:solidFill>
            <a:srgbClr val="102A4C"/>
          </a:solidFill>
          <a:ln w="12700">
            <a:solidFill>
              <a:srgbClr val="7B93B3"/>
            </a:solidFill>
            <a:prstDash val="solid"/>
          </a:ln>
          <a:effectLst>
            <a:outerShdw sx="100000" sy="100000" kx="0" ky="0" algn="bl" rotWithShape="0" blurRad="101600" dist="38100" dir="8100000">
              <a:srgbClr val="000000">
                <a:alpha val="14000"/>
              </a:srgbClr>
            </a:outerShdw>
          </a:effectLst>
        </p:spPr>
      </p:sp>
      <p:sp>
        <p:nvSpPr>
          <p:cNvPr id="21" name="Shape 19"/>
          <p:cNvSpPr/>
          <p:nvPr/>
        </p:nvSpPr>
        <p:spPr>
          <a:xfrm>
            <a:off x="457200" y="3794760"/>
            <a:ext cx="2724912" cy="45720"/>
          </a:xfrm>
          <a:prstGeom prst="rect">
            <a:avLst/>
          </a:prstGeom>
          <a:solidFill>
            <a:srgbClr val="7B93B3"/>
          </a:solidFill>
          <a:ln w="12700">
            <a:solidFill>
              <a:srgbClr val="7B93B3"/>
            </a:solidFill>
            <a:prstDash val="solid"/>
          </a:ln>
        </p:spPr>
      </p:sp>
      <p:sp>
        <p:nvSpPr>
          <p:cNvPr id="22" name="Text 20"/>
          <p:cNvSpPr/>
          <p:nvPr/>
        </p:nvSpPr>
        <p:spPr>
          <a:xfrm>
            <a:off x="566928" y="3886200"/>
            <a:ext cx="2505456" cy="256032"/>
          </a:xfrm>
          <a:prstGeom prst="rect">
            <a:avLst/>
          </a:prstGeom>
          <a:noFill/>
          <a:ln/>
        </p:spPr>
        <p:txBody>
          <a:bodyPr wrap="square" rtlCol="0" anchor="ctr"/>
          <a:lstStyle/>
          <a:p>
            <a:pPr indent="0" marL="0">
              <a:buNone/>
            </a:pPr>
            <a:r>
              <a:rPr lang="en-US" sz="1050" b="1" i="1" dirty="0">
                <a:solidFill>
                  <a:srgbClr val="7B93B3"/>
                </a:solidFill>
                <a:latin typeface="Calibri" pitchFamily="34" charset="0"/>
                <a:ea typeface="Calibri" pitchFamily="34" charset="-122"/>
                <a:cs typeface="Calibri" pitchFamily="34" charset="-120"/>
              </a:rPr>
              <a:t>1950s – 1960s</a:t>
            </a:r>
            <a:endParaRPr lang="en-US" sz="1050" dirty="0"/>
          </a:p>
        </p:txBody>
      </p:sp>
      <p:sp>
        <p:nvSpPr>
          <p:cNvPr id="23" name="Text 21"/>
          <p:cNvSpPr/>
          <p:nvPr/>
        </p:nvSpPr>
        <p:spPr>
          <a:xfrm>
            <a:off x="566928" y="4142232"/>
            <a:ext cx="2505456"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Magnetic Tape</a:t>
            </a:r>
            <a:endParaRPr lang="en-US" sz="1400" dirty="0"/>
          </a:p>
        </p:txBody>
      </p:sp>
      <p:sp>
        <p:nvSpPr>
          <p:cNvPr id="24" name="Shape 22"/>
          <p:cNvSpPr/>
          <p:nvPr/>
        </p:nvSpPr>
        <p:spPr>
          <a:xfrm>
            <a:off x="621792" y="4544568"/>
            <a:ext cx="2395728" cy="0"/>
          </a:xfrm>
          <a:prstGeom prst="line">
            <a:avLst/>
          </a:prstGeom>
          <a:noFill/>
          <a:ln w="12700">
            <a:solidFill>
              <a:srgbClr val="1E3A5F"/>
            </a:solidFill>
            <a:prstDash val="solid"/>
          </a:ln>
        </p:spPr>
      </p:sp>
      <p:sp>
        <p:nvSpPr>
          <p:cNvPr id="25" name="Text 23"/>
          <p:cNvSpPr/>
          <p:nvPr/>
        </p:nvSpPr>
        <p:spPr>
          <a:xfrm>
            <a:off x="566928" y="4617720"/>
            <a:ext cx="2505456" cy="182880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The very first computerised storage. All data was written on large reels of magnetic tape — like old cassette tapes but the size of a dinner plate.</a:t>
            </a:r>
            <a:endParaRPr lang="en-US" sz="1050" dirty="0"/>
          </a:p>
        </p:txBody>
      </p:sp>
      <p:sp>
        <p:nvSpPr>
          <p:cNvPr id="26" name="Shape 24"/>
          <p:cNvSpPr/>
          <p:nvPr/>
        </p:nvSpPr>
        <p:spPr>
          <a:xfrm>
            <a:off x="3291840" y="3794760"/>
            <a:ext cx="2724912" cy="2788920"/>
          </a:xfrm>
          <a:prstGeom prst="rect">
            <a:avLst/>
          </a:prstGeom>
          <a:solidFill>
            <a:srgbClr val="102A4C"/>
          </a:solidFill>
          <a:ln w="12700">
            <a:solidFill>
              <a:srgbClr val="38B2F0"/>
            </a:solidFill>
            <a:prstDash val="solid"/>
          </a:ln>
          <a:effectLst>
            <a:outerShdw sx="100000" sy="100000" kx="0" ky="0" algn="bl" rotWithShape="0" blurRad="101600" dist="38100" dir="8100000">
              <a:srgbClr val="000000">
                <a:alpha val="14000"/>
              </a:srgbClr>
            </a:outerShdw>
          </a:effectLst>
        </p:spPr>
      </p:sp>
      <p:sp>
        <p:nvSpPr>
          <p:cNvPr id="27" name="Shape 25"/>
          <p:cNvSpPr/>
          <p:nvPr/>
        </p:nvSpPr>
        <p:spPr>
          <a:xfrm>
            <a:off x="3291840" y="3794760"/>
            <a:ext cx="2724912" cy="45720"/>
          </a:xfrm>
          <a:prstGeom prst="rect">
            <a:avLst/>
          </a:prstGeom>
          <a:solidFill>
            <a:srgbClr val="38B2F0"/>
          </a:solidFill>
          <a:ln w="12700">
            <a:solidFill>
              <a:srgbClr val="38B2F0"/>
            </a:solidFill>
            <a:prstDash val="solid"/>
          </a:ln>
        </p:spPr>
      </p:sp>
      <p:sp>
        <p:nvSpPr>
          <p:cNvPr id="28" name="Text 26"/>
          <p:cNvSpPr/>
          <p:nvPr/>
        </p:nvSpPr>
        <p:spPr>
          <a:xfrm>
            <a:off x="3401568" y="3886200"/>
            <a:ext cx="2505456" cy="256032"/>
          </a:xfrm>
          <a:prstGeom prst="rect">
            <a:avLst/>
          </a:prstGeom>
          <a:noFill/>
          <a:ln/>
        </p:spPr>
        <p:txBody>
          <a:bodyPr wrap="square" rtlCol="0" anchor="ctr"/>
          <a:lstStyle/>
          <a:p>
            <a:pPr indent="0" marL="0">
              <a:buNone/>
            </a:pPr>
            <a:r>
              <a:rPr lang="en-US" sz="1050" b="1" i="1" dirty="0">
                <a:solidFill>
                  <a:srgbClr val="38B2F0"/>
                </a:solidFill>
                <a:latin typeface="Calibri" pitchFamily="34" charset="0"/>
                <a:ea typeface="Calibri" pitchFamily="34" charset="-122"/>
                <a:cs typeface="Calibri" pitchFamily="34" charset="-120"/>
              </a:rPr>
              <a:t>1960s – 1970s</a:t>
            </a:r>
            <a:endParaRPr lang="en-US" sz="1050" dirty="0"/>
          </a:p>
        </p:txBody>
      </p:sp>
      <p:sp>
        <p:nvSpPr>
          <p:cNvPr id="29" name="Text 27"/>
          <p:cNvSpPr/>
          <p:nvPr/>
        </p:nvSpPr>
        <p:spPr>
          <a:xfrm>
            <a:off x="3401568" y="4142232"/>
            <a:ext cx="2505456"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Hierarchical DB</a:t>
            </a:r>
            <a:endParaRPr lang="en-US" sz="1400" dirty="0"/>
          </a:p>
        </p:txBody>
      </p:sp>
      <p:sp>
        <p:nvSpPr>
          <p:cNvPr id="30" name="Shape 28"/>
          <p:cNvSpPr/>
          <p:nvPr/>
        </p:nvSpPr>
        <p:spPr>
          <a:xfrm>
            <a:off x="3456432" y="4544568"/>
            <a:ext cx="2395728" cy="0"/>
          </a:xfrm>
          <a:prstGeom prst="line">
            <a:avLst/>
          </a:prstGeom>
          <a:noFill/>
          <a:ln w="12700">
            <a:solidFill>
              <a:srgbClr val="1E3A5F"/>
            </a:solidFill>
            <a:prstDash val="solid"/>
          </a:ln>
        </p:spPr>
      </p:sp>
      <p:sp>
        <p:nvSpPr>
          <p:cNvPr id="31" name="Text 29"/>
          <p:cNvSpPr/>
          <p:nvPr/>
        </p:nvSpPr>
        <p:spPr>
          <a:xfrm>
            <a:off x="3401568" y="4617720"/>
            <a:ext cx="2505456" cy="182880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Data is arranged like a family tree — one root at the top, branches below. Each record has exactly one parent and can have many children. IBM's IMS system introduced this model.</a:t>
            </a:r>
            <a:endParaRPr lang="en-US" sz="1050" dirty="0"/>
          </a:p>
        </p:txBody>
      </p:sp>
      <p:sp>
        <p:nvSpPr>
          <p:cNvPr id="32" name="Shape 30"/>
          <p:cNvSpPr/>
          <p:nvPr/>
        </p:nvSpPr>
        <p:spPr>
          <a:xfrm>
            <a:off x="6126480" y="3794760"/>
            <a:ext cx="2724912" cy="2788920"/>
          </a:xfrm>
          <a:prstGeom prst="rect">
            <a:avLst/>
          </a:prstGeom>
          <a:solidFill>
            <a:srgbClr val="102A4C"/>
          </a:solidFill>
          <a:ln w="12700">
            <a:solidFill>
              <a:srgbClr val="FFB347"/>
            </a:solidFill>
            <a:prstDash val="solid"/>
          </a:ln>
          <a:effectLst>
            <a:outerShdw sx="100000" sy="100000" kx="0" ky="0" algn="bl" rotWithShape="0" blurRad="101600" dist="38100" dir="8100000">
              <a:srgbClr val="000000">
                <a:alpha val="14000"/>
              </a:srgbClr>
            </a:outerShdw>
          </a:effectLst>
        </p:spPr>
      </p:sp>
      <p:sp>
        <p:nvSpPr>
          <p:cNvPr id="33" name="Shape 31"/>
          <p:cNvSpPr/>
          <p:nvPr/>
        </p:nvSpPr>
        <p:spPr>
          <a:xfrm>
            <a:off x="6126480" y="3794760"/>
            <a:ext cx="2724912" cy="45720"/>
          </a:xfrm>
          <a:prstGeom prst="rect">
            <a:avLst/>
          </a:prstGeom>
          <a:solidFill>
            <a:srgbClr val="FFB347"/>
          </a:solidFill>
          <a:ln w="12700">
            <a:solidFill>
              <a:srgbClr val="FFB347"/>
            </a:solidFill>
            <a:prstDash val="solid"/>
          </a:ln>
        </p:spPr>
      </p:sp>
      <p:sp>
        <p:nvSpPr>
          <p:cNvPr id="34" name="Text 32"/>
          <p:cNvSpPr/>
          <p:nvPr/>
        </p:nvSpPr>
        <p:spPr>
          <a:xfrm>
            <a:off x="6236208" y="3886200"/>
            <a:ext cx="2505456" cy="256032"/>
          </a:xfrm>
          <a:prstGeom prst="rect">
            <a:avLst/>
          </a:prstGeom>
          <a:noFill/>
          <a:ln/>
        </p:spPr>
        <p:txBody>
          <a:bodyPr wrap="square" rtlCol="0" anchor="ctr"/>
          <a:lstStyle/>
          <a:p>
            <a:pPr indent="0" marL="0">
              <a:buNone/>
            </a:pPr>
            <a:r>
              <a:rPr lang="en-US" sz="1050" b="1" i="1" dirty="0">
                <a:solidFill>
                  <a:srgbClr val="FFB347"/>
                </a:solidFill>
                <a:latin typeface="Calibri" pitchFamily="34" charset="0"/>
                <a:ea typeface="Calibri" pitchFamily="34" charset="-122"/>
                <a:cs typeface="Calibri" pitchFamily="34" charset="-120"/>
              </a:rPr>
              <a:t>1970s – 1980s</a:t>
            </a:r>
            <a:endParaRPr lang="en-US" sz="1050" dirty="0"/>
          </a:p>
        </p:txBody>
      </p:sp>
      <p:sp>
        <p:nvSpPr>
          <p:cNvPr id="35" name="Text 33"/>
          <p:cNvSpPr/>
          <p:nvPr/>
        </p:nvSpPr>
        <p:spPr>
          <a:xfrm>
            <a:off x="6236208" y="4142232"/>
            <a:ext cx="2505456"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Network DB</a:t>
            </a:r>
            <a:endParaRPr lang="en-US" sz="1400" dirty="0"/>
          </a:p>
        </p:txBody>
      </p:sp>
      <p:sp>
        <p:nvSpPr>
          <p:cNvPr id="36" name="Shape 34"/>
          <p:cNvSpPr/>
          <p:nvPr/>
        </p:nvSpPr>
        <p:spPr>
          <a:xfrm>
            <a:off x="6291072" y="4544568"/>
            <a:ext cx="2395728" cy="0"/>
          </a:xfrm>
          <a:prstGeom prst="line">
            <a:avLst/>
          </a:prstGeom>
          <a:noFill/>
          <a:ln w="12700">
            <a:solidFill>
              <a:srgbClr val="1E3A5F"/>
            </a:solidFill>
            <a:prstDash val="solid"/>
          </a:ln>
        </p:spPr>
      </p:sp>
      <p:sp>
        <p:nvSpPr>
          <p:cNvPr id="37" name="Text 35"/>
          <p:cNvSpPr/>
          <p:nvPr/>
        </p:nvSpPr>
        <p:spPr>
          <a:xfrm>
            <a:off x="6236208" y="4617720"/>
            <a:ext cx="2505456" cy="182880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The network model removed the 'one parent only' restriction. Records could now link to multiple other records in any direction — like a web rather than a tree.</a:t>
            </a:r>
            <a:endParaRPr lang="en-US" sz="1050" dirty="0"/>
          </a:p>
        </p:txBody>
      </p:sp>
      <p:sp>
        <p:nvSpPr>
          <p:cNvPr id="38" name="Shape 36"/>
          <p:cNvSpPr/>
          <p:nvPr/>
        </p:nvSpPr>
        <p:spPr>
          <a:xfrm>
            <a:off x="8961120" y="3794760"/>
            <a:ext cx="2724912" cy="2788920"/>
          </a:xfrm>
          <a:prstGeom prst="rect">
            <a:avLst/>
          </a:prstGeom>
          <a:solidFill>
            <a:srgbClr val="102A4C"/>
          </a:solidFill>
          <a:ln w="12700">
            <a:solidFill>
              <a:srgbClr val="52E3A3"/>
            </a:solidFill>
            <a:prstDash val="solid"/>
          </a:ln>
          <a:effectLst>
            <a:outerShdw sx="100000" sy="100000" kx="0" ky="0" algn="bl" rotWithShape="0" blurRad="101600" dist="38100" dir="8100000">
              <a:srgbClr val="000000">
                <a:alpha val="14000"/>
              </a:srgbClr>
            </a:outerShdw>
          </a:effectLst>
        </p:spPr>
      </p:sp>
      <p:sp>
        <p:nvSpPr>
          <p:cNvPr id="39" name="Shape 37"/>
          <p:cNvSpPr/>
          <p:nvPr/>
        </p:nvSpPr>
        <p:spPr>
          <a:xfrm>
            <a:off x="8961120" y="3794760"/>
            <a:ext cx="2724912" cy="45720"/>
          </a:xfrm>
          <a:prstGeom prst="rect">
            <a:avLst/>
          </a:prstGeom>
          <a:solidFill>
            <a:srgbClr val="52E3A3"/>
          </a:solidFill>
          <a:ln w="12700">
            <a:solidFill>
              <a:srgbClr val="52E3A3"/>
            </a:solidFill>
            <a:prstDash val="solid"/>
          </a:ln>
        </p:spPr>
      </p:sp>
      <p:sp>
        <p:nvSpPr>
          <p:cNvPr id="40" name="Text 38"/>
          <p:cNvSpPr/>
          <p:nvPr/>
        </p:nvSpPr>
        <p:spPr>
          <a:xfrm>
            <a:off x="9070848" y="3886200"/>
            <a:ext cx="2505456" cy="256032"/>
          </a:xfrm>
          <a:prstGeom prst="rect">
            <a:avLst/>
          </a:prstGeom>
          <a:noFill/>
          <a:ln/>
        </p:spPr>
        <p:txBody>
          <a:bodyPr wrap="square" rtlCol="0" anchor="ctr"/>
          <a:lstStyle/>
          <a:p>
            <a:pPr indent="0" marL="0">
              <a:buNone/>
            </a:pPr>
            <a:r>
              <a:rPr lang="en-US" sz="1050" b="1" i="1" dirty="0">
                <a:solidFill>
                  <a:srgbClr val="52E3A3"/>
                </a:solidFill>
                <a:latin typeface="Calibri" pitchFamily="34" charset="0"/>
                <a:ea typeface="Calibri" pitchFamily="34" charset="-122"/>
                <a:cs typeface="Calibri" pitchFamily="34" charset="-120"/>
              </a:rPr>
              <a:t>1970s – Present</a:t>
            </a:r>
            <a:endParaRPr lang="en-US" sz="1050" dirty="0"/>
          </a:p>
        </p:txBody>
      </p:sp>
      <p:sp>
        <p:nvSpPr>
          <p:cNvPr id="41" name="Text 39"/>
          <p:cNvSpPr/>
          <p:nvPr/>
        </p:nvSpPr>
        <p:spPr>
          <a:xfrm>
            <a:off x="9070848" y="4142232"/>
            <a:ext cx="2505456"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Relational DB</a:t>
            </a:r>
            <a:endParaRPr lang="en-US" sz="1400" dirty="0"/>
          </a:p>
        </p:txBody>
      </p:sp>
      <p:sp>
        <p:nvSpPr>
          <p:cNvPr id="42" name="Shape 40"/>
          <p:cNvSpPr/>
          <p:nvPr/>
        </p:nvSpPr>
        <p:spPr>
          <a:xfrm>
            <a:off x="9125712" y="4544568"/>
            <a:ext cx="2395728" cy="0"/>
          </a:xfrm>
          <a:prstGeom prst="line">
            <a:avLst/>
          </a:prstGeom>
          <a:noFill/>
          <a:ln w="12700">
            <a:solidFill>
              <a:srgbClr val="1E3A5F"/>
            </a:solidFill>
            <a:prstDash val="solid"/>
          </a:ln>
        </p:spPr>
      </p:sp>
      <p:sp>
        <p:nvSpPr>
          <p:cNvPr id="43" name="Text 41"/>
          <p:cNvSpPr/>
          <p:nvPr/>
        </p:nvSpPr>
        <p:spPr>
          <a:xfrm>
            <a:off x="9070848" y="4617720"/>
            <a:ext cx="2505456" cy="182880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Dr. E.F. Codd at IBM proposed storing data in simple flat tables, with rows and columns. Tables are connected not by physical pointers but by matching values in a shared column.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38B2F0"/>
          </a:solidFill>
          <a:ln w="12700">
            <a:solidFill>
              <a:srgbClr val="38B2F0"/>
            </a:solidFill>
            <a:prstDash val="solid"/>
          </a:ln>
        </p:spPr>
      </p:sp>
      <p:sp>
        <p:nvSpPr>
          <p:cNvPr id="4" name="Shape 2"/>
          <p:cNvSpPr/>
          <p:nvPr/>
        </p:nvSpPr>
        <p:spPr>
          <a:xfrm>
            <a:off x="0" y="1188720"/>
            <a:ext cx="12161520" cy="36576"/>
          </a:xfrm>
          <a:prstGeom prst="rect">
            <a:avLst/>
          </a:prstGeom>
          <a:solidFill>
            <a:srgbClr val="38B2F0"/>
          </a:solidFill>
          <a:ln w="12700">
            <a:solidFill>
              <a:srgbClr val="38B2F0"/>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Understanding Each Database Type — In Simple Words</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38B2F0"/>
                </a:solidFill>
                <a:latin typeface="Calibri" pitchFamily="34" charset="0"/>
                <a:ea typeface="Calibri" pitchFamily="34" charset="-122"/>
                <a:cs typeface="Calibri" pitchFamily="34" charset="-120"/>
              </a:rPr>
              <a:t>What changed with each generation, and why it mattered</a:t>
            </a:r>
            <a:endParaRPr lang="en-US" sz="1400" dirty="0"/>
          </a:p>
        </p:txBody>
      </p:sp>
      <p:sp>
        <p:nvSpPr>
          <p:cNvPr id="7" name="Shape 5"/>
          <p:cNvSpPr/>
          <p:nvPr/>
        </p:nvSpPr>
        <p:spPr>
          <a:xfrm>
            <a:off x="384048" y="1389888"/>
            <a:ext cx="5577840" cy="245059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8" name="Shape 6"/>
          <p:cNvSpPr/>
          <p:nvPr/>
        </p:nvSpPr>
        <p:spPr>
          <a:xfrm>
            <a:off x="384048" y="1389888"/>
            <a:ext cx="5577840" cy="54864"/>
          </a:xfrm>
          <a:prstGeom prst="rect">
            <a:avLst/>
          </a:prstGeom>
          <a:solidFill>
            <a:srgbClr val="7B93B3"/>
          </a:solidFill>
          <a:ln w="12700">
            <a:solidFill>
              <a:srgbClr val="7B93B3"/>
            </a:solidFill>
            <a:prstDash val="solid"/>
          </a:ln>
        </p:spPr>
      </p:sp>
      <p:sp>
        <p:nvSpPr>
          <p:cNvPr id="9" name="Shape 7"/>
          <p:cNvSpPr/>
          <p:nvPr/>
        </p:nvSpPr>
        <p:spPr>
          <a:xfrm>
            <a:off x="384048" y="1389888"/>
            <a:ext cx="658368" cy="2450592"/>
          </a:xfrm>
          <a:prstGeom prst="rect">
            <a:avLst/>
          </a:prstGeom>
          <a:solidFill>
            <a:srgbClr val="7B93B3"/>
          </a:solidFill>
          <a:ln w="12700">
            <a:solidFill>
              <a:srgbClr val="7B93B3"/>
            </a:solidFill>
            <a:prstDash val="solid"/>
          </a:ln>
        </p:spPr>
      </p:sp>
      <p:sp>
        <p:nvSpPr>
          <p:cNvPr id="10" name="Text 8"/>
          <p:cNvSpPr/>
          <p:nvPr/>
        </p:nvSpPr>
        <p:spPr>
          <a:xfrm>
            <a:off x="384048" y="1389888"/>
            <a:ext cx="658368" cy="24505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11" name="Text 9"/>
          <p:cNvSpPr/>
          <p:nvPr/>
        </p:nvSpPr>
        <p:spPr>
          <a:xfrm>
            <a:off x="1188720" y="1463040"/>
            <a:ext cx="4617720" cy="256032"/>
          </a:xfrm>
          <a:prstGeom prst="rect">
            <a:avLst/>
          </a:prstGeom>
          <a:noFill/>
          <a:ln/>
        </p:spPr>
        <p:txBody>
          <a:bodyPr wrap="square" rtlCol="0" anchor="ctr"/>
          <a:lstStyle/>
          <a:p>
            <a:pPr indent="0" marL="0">
              <a:buNone/>
            </a:pPr>
            <a:r>
              <a:rPr lang="en-US" sz="1100" b="1" i="1" dirty="0">
                <a:solidFill>
                  <a:srgbClr val="7B93B3"/>
                </a:solidFill>
                <a:latin typeface="Calibri" pitchFamily="34" charset="0"/>
                <a:ea typeface="Calibri" pitchFamily="34" charset="-122"/>
                <a:cs typeface="Calibri" pitchFamily="34" charset="-120"/>
              </a:rPr>
              <a:t>1950s – 60s</a:t>
            </a:r>
            <a:endParaRPr lang="en-US" sz="1100" dirty="0"/>
          </a:p>
        </p:txBody>
      </p:sp>
      <p:sp>
        <p:nvSpPr>
          <p:cNvPr id="12" name="Text 10"/>
          <p:cNvSpPr/>
          <p:nvPr/>
        </p:nvSpPr>
        <p:spPr>
          <a:xfrm>
            <a:off x="1188720" y="1709928"/>
            <a:ext cx="4617720" cy="347472"/>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Magnetic Tape Databases</a:t>
            </a:r>
            <a:endParaRPr lang="en-US" sz="1500" dirty="0"/>
          </a:p>
        </p:txBody>
      </p:sp>
      <p:sp>
        <p:nvSpPr>
          <p:cNvPr id="13" name="Shape 11"/>
          <p:cNvSpPr/>
          <p:nvPr/>
        </p:nvSpPr>
        <p:spPr>
          <a:xfrm>
            <a:off x="1188720" y="2103120"/>
            <a:ext cx="4617720" cy="0"/>
          </a:xfrm>
          <a:prstGeom prst="line">
            <a:avLst/>
          </a:prstGeom>
          <a:noFill/>
          <a:ln w="12700">
            <a:solidFill>
              <a:srgbClr val="D1E5F5"/>
            </a:solidFill>
            <a:prstDash val="solid"/>
          </a:ln>
        </p:spPr>
      </p:sp>
      <p:sp>
        <p:nvSpPr>
          <p:cNvPr id="14" name="Text 12"/>
          <p:cNvSpPr/>
          <p:nvPr/>
        </p:nvSpPr>
        <p:spPr>
          <a:xfrm>
            <a:off x="1188720" y="2167128"/>
            <a:ext cx="4617720" cy="68580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Simple analogy:  Think of it like a VHS cassette. To get to minute 45, you must fast-forward through minutes 1 to 44. You cannot jump directly.</a:t>
            </a:r>
            <a:endParaRPr lang="en-US" sz="1100" dirty="0"/>
          </a:p>
        </p:txBody>
      </p:sp>
      <p:sp>
        <p:nvSpPr>
          <p:cNvPr id="15" name="Shape 13"/>
          <p:cNvSpPr/>
          <p:nvPr/>
        </p:nvSpPr>
        <p:spPr>
          <a:xfrm>
            <a:off x="1188720" y="2898648"/>
            <a:ext cx="4617720" cy="0"/>
          </a:xfrm>
          <a:prstGeom prst="line">
            <a:avLst/>
          </a:prstGeom>
          <a:noFill/>
          <a:ln w="12700">
            <a:solidFill>
              <a:srgbClr val="D1E5F5"/>
            </a:solidFill>
            <a:prstDash val="solid"/>
          </a:ln>
        </p:spPr>
      </p:sp>
      <p:sp>
        <p:nvSpPr>
          <p:cNvPr id="16" name="Text 14"/>
          <p:cNvSpPr/>
          <p:nvPr/>
        </p:nvSpPr>
        <p:spPr>
          <a:xfrm>
            <a:off x="1188720" y="2962656"/>
            <a:ext cx="4617720" cy="658368"/>
          </a:xfrm>
          <a:prstGeom prst="rect">
            <a:avLst/>
          </a:prstGeom>
          <a:noFill/>
          <a:ln/>
        </p:spPr>
        <p:txBody>
          <a:bodyPr wrap="square" rtlCol="0" anchor="ctr"/>
          <a:lstStyle/>
          <a:p>
            <a:pPr indent="0" marL="0">
              <a:buNone/>
            </a:pPr>
            <a:r>
              <a:rPr lang="en-US" sz="1100" b="1" dirty="0">
                <a:solidFill>
                  <a:srgbClr val="7B93B3"/>
                </a:solidFill>
                <a:latin typeface="Calibri" pitchFamily="34" charset="0"/>
                <a:ea typeface="Calibri" pitchFamily="34" charset="-122"/>
                <a:cs typeface="Calibri" pitchFamily="34" charset="-120"/>
              </a:rPr>
              <a:t>Coaching centre:  To check if student number 189 paid their fees, the computer reads all 188 records before it. Every. Single. Time.</a:t>
            </a:r>
            <a:endParaRPr lang="en-US" sz="1100" dirty="0"/>
          </a:p>
        </p:txBody>
      </p:sp>
      <p:sp>
        <p:nvSpPr>
          <p:cNvPr id="17" name="Shape 15"/>
          <p:cNvSpPr/>
          <p:nvPr/>
        </p:nvSpPr>
        <p:spPr>
          <a:xfrm>
            <a:off x="6309360" y="1389888"/>
            <a:ext cx="5577840" cy="245059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18" name="Shape 16"/>
          <p:cNvSpPr/>
          <p:nvPr/>
        </p:nvSpPr>
        <p:spPr>
          <a:xfrm>
            <a:off x="6309360" y="1389888"/>
            <a:ext cx="5577840" cy="54864"/>
          </a:xfrm>
          <a:prstGeom prst="rect">
            <a:avLst/>
          </a:prstGeom>
          <a:solidFill>
            <a:srgbClr val="38B2F0"/>
          </a:solidFill>
          <a:ln w="12700">
            <a:solidFill>
              <a:srgbClr val="38B2F0"/>
            </a:solidFill>
            <a:prstDash val="solid"/>
          </a:ln>
        </p:spPr>
      </p:sp>
      <p:sp>
        <p:nvSpPr>
          <p:cNvPr id="19" name="Shape 17"/>
          <p:cNvSpPr/>
          <p:nvPr/>
        </p:nvSpPr>
        <p:spPr>
          <a:xfrm>
            <a:off x="6309360" y="1389888"/>
            <a:ext cx="658368" cy="2450592"/>
          </a:xfrm>
          <a:prstGeom prst="rect">
            <a:avLst/>
          </a:prstGeom>
          <a:solidFill>
            <a:srgbClr val="38B2F0"/>
          </a:solidFill>
          <a:ln w="12700">
            <a:solidFill>
              <a:srgbClr val="38B2F0"/>
            </a:solidFill>
            <a:prstDash val="solid"/>
          </a:ln>
        </p:spPr>
      </p:sp>
      <p:sp>
        <p:nvSpPr>
          <p:cNvPr id="20" name="Text 18"/>
          <p:cNvSpPr/>
          <p:nvPr/>
        </p:nvSpPr>
        <p:spPr>
          <a:xfrm>
            <a:off x="6309360" y="1389888"/>
            <a:ext cx="658368" cy="24505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21" name="Text 19"/>
          <p:cNvSpPr/>
          <p:nvPr/>
        </p:nvSpPr>
        <p:spPr>
          <a:xfrm>
            <a:off x="7114032" y="1463040"/>
            <a:ext cx="4617720" cy="256032"/>
          </a:xfrm>
          <a:prstGeom prst="rect">
            <a:avLst/>
          </a:prstGeom>
          <a:noFill/>
          <a:ln/>
        </p:spPr>
        <p:txBody>
          <a:bodyPr wrap="square" rtlCol="0" anchor="ctr"/>
          <a:lstStyle/>
          <a:p>
            <a:pPr indent="0" marL="0">
              <a:buNone/>
            </a:pPr>
            <a:r>
              <a:rPr lang="en-US" sz="1100" b="1" i="1" dirty="0">
                <a:solidFill>
                  <a:srgbClr val="38B2F0"/>
                </a:solidFill>
                <a:latin typeface="Calibri" pitchFamily="34" charset="0"/>
                <a:ea typeface="Calibri" pitchFamily="34" charset="-122"/>
                <a:cs typeface="Calibri" pitchFamily="34" charset="-120"/>
              </a:rPr>
              <a:t>1960s – 70s</a:t>
            </a:r>
            <a:endParaRPr lang="en-US" sz="1100" dirty="0"/>
          </a:p>
        </p:txBody>
      </p:sp>
      <p:sp>
        <p:nvSpPr>
          <p:cNvPr id="22" name="Text 20"/>
          <p:cNvSpPr/>
          <p:nvPr/>
        </p:nvSpPr>
        <p:spPr>
          <a:xfrm>
            <a:off x="7114032" y="1709928"/>
            <a:ext cx="4617720" cy="347472"/>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Hierarchical Databases</a:t>
            </a:r>
            <a:endParaRPr lang="en-US" sz="1500" dirty="0"/>
          </a:p>
        </p:txBody>
      </p:sp>
      <p:sp>
        <p:nvSpPr>
          <p:cNvPr id="23" name="Shape 21"/>
          <p:cNvSpPr/>
          <p:nvPr/>
        </p:nvSpPr>
        <p:spPr>
          <a:xfrm>
            <a:off x="7114032" y="2103120"/>
            <a:ext cx="4617720" cy="0"/>
          </a:xfrm>
          <a:prstGeom prst="line">
            <a:avLst/>
          </a:prstGeom>
          <a:noFill/>
          <a:ln w="12700">
            <a:solidFill>
              <a:srgbClr val="D1E5F5"/>
            </a:solidFill>
            <a:prstDash val="solid"/>
          </a:ln>
        </p:spPr>
      </p:sp>
      <p:sp>
        <p:nvSpPr>
          <p:cNvPr id="24" name="Text 22"/>
          <p:cNvSpPr/>
          <p:nvPr/>
        </p:nvSpPr>
        <p:spPr>
          <a:xfrm>
            <a:off x="7114032" y="2167128"/>
            <a:ext cx="4617720" cy="68580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Simple analogy:  Think of it like a company org chart. The CEO is at the top. Below are managers. Below each manager are employees. To find an employee, you start at the CEO and work your way down.</a:t>
            </a:r>
            <a:endParaRPr lang="en-US" sz="1100" dirty="0"/>
          </a:p>
        </p:txBody>
      </p:sp>
      <p:sp>
        <p:nvSpPr>
          <p:cNvPr id="25" name="Shape 23"/>
          <p:cNvSpPr/>
          <p:nvPr/>
        </p:nvSpPr>
        <p:spPr>
          <a:xfrm>
            <a:off x="7114032" y="2898648"/>
            <a:ext cx="4617720" cy="0"/>
          </a:xfrm>
          <a:prstGeom prst="line">
            <a:avLst/>
          </a:prstGeom>
          <a:noFill/>
          <a:ln w="12700">
            <a:solidFill>
              <a:srgbClr val="D1E5F5"/>
            </a:solidFill>
            <a:prstDash val="solid"/>
          </a:ln>
        </p:spPr>
      </p:sp>
      <p:sp>
        <p:nvSpPr>
          <p:cNvPr id="26" name="Text 24"/>
          <p:cNvSpPr/>
          <p:nvPr/>
        </p:nvSpPr>
        <p:spPr>
          <a:xfrm>
            <a:off x="7114032" y="2962656"/>
            <a:ext cx="4617720" cy="658368"/>
          </a:xfrm>
          <a:prstGeom prst="rect">
            <a:avLst/>
          </a:prstGeom>
          <a:noFill/>
          <a:ln/>
        </p:spPr>
        <p:txBody>
          <a:bodyPr wrap="square" rtlCol="0" anchor="ctr"/>
          <a:lstStyle/>
          <a:p>
            <a:pPr indent="0" marL="0">
              <a:buNone/>
            </a:pPr>
            <a:r>
              <a:rPr lang="en-US" sz="1100" b="1" dirty="0">
                <a:solidFill>
                  <a:srgbClr val="38B2F0"/>
                </a:solidFill>
                <a:latin typeface="Calibri" pitchFamily="34" charset="0"/>
                <a:ea typeface="Calibri" pitchFamily="34" charset="-122"/>
                <a:cs typeface="Calibri" pitchFamily="34" charset="-120"/>
              </a:rPr>
              <a:t>Coaching centre:  In your coaching centre: Batch is at the top. Below each batch are Students. Below each student are their Fees and Attendance. To find fee records, you must start from the Batch — you cannot start from a fee amount and work backwards.</a:t>
            </a:r>
            <a:endParaRPr lang="en-US" sz="1100" dirty="0"/>
          </a:p>
        </p:txBody>
      </p:sp>
      <p:sp>
        <p:nvSpPr>
          <p:cNvPr id="27" name="Shape 25"/>
          <p:cNvSpPr/>
          <p:nvPr/>
        </p:nvSpPr>
        <p:spPr>
          <a:xfrm>
            <a:off x="384048" y="4023360"/>
            <a:ext cx="5577840" cy="245059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28" name="Shape 26"/>
          <p:cNvSpPr/>
          <p:nvPr/>
        </p:nvSpPr>
        <p:spPr>
          <a:xfrm>
            <a:off x="384048" y="4023360"/>
            <a:ext cx="5577840" cy="54864"/>
          </a:xfrm>
          <a:prstGeom prst="rect">
            <a:avLst/>
          </a:prstGeom>
          <a:solidFill>
            <a:srgbClr val="FFB347"/>
          </a:solidFill>
          <a:ln w="12700">
            <a:solidFill>
              <a:srgbClr val="FFB347"/>
            </a:solidFill>
            <a:prstDash val="solid"/>
          </a:ln>
        </p:spPr>
      </p:sp>
      <p:sp>
        <p:nvSpPr>
          <p:cNvPr id="29" name="Shape 27"/>
          <p:cNvSpPr/>
          <p:nvPr/>
        </p:nvSpPr>
        <p:spPr>
          <a:xfrm>
            <a:off x="384048" y="4023360"/>
            <a:ext cx="658368" cy="2450592"/>
          </a:xfrm>
          <a:prstGeom prst="rect">
            <a:avLst/>
          </a:prstGeom>
          <a:solidFill>
            <a:srgbClr val="FFB347"/>
          </a:solidFill>
          <a:ln w="12700">
            <a:solidFill>
              <a:srgbClr val="FFB347"/>
            </a:solidFill>
            <a:prstDash val="solid"/>
          </a:ln>
        </p:spPr>
      </p:sp>
      <p:sp>
        <p:nvSpPr>
          <p:cNvPr id="30" name="Text 28"/>
          <p:cNvSpPr/>
          <p:nvPr/>
        </p:nvSpPr>
        <p:spPr>
          <a:xfrm>
            <a:off x="384048" y="4023360"/>
            <a:ext cx="658368" cy="24505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31" name="Text 29"/>
          <p:cNvSpPr/>
          <p:nvPr/>
        </p:nvSpPr>
        <p:spPr>
          <a:xfrm>
            <a:off x="1188720" y="4096512"/>
            <a:ext cx="4617720" cy="256032"/>
          </a:xfrm>
          <a:prstGeom prst="rect">
            <a:avLst/>
          </a:prstGeom>
          <a:noFill/>
          <a:ln/>
        </p:spPr>
        <p:txBody>
          <a:bodyPr wrap="square" rtlCol="0" anchor="ctr"/>
          <a:lstStyle/>
          <a:p>
            <a:pPr indent="0" marL="0">
              <a:buNone/>
            </a:pPr>
            <a:r>
              <a:rPr lang="en-US" sz="1100" b="1" i="1" dirty="0">
                <a:solidFill>
                  <a:srgbClr val="FFB347"/>
                </a:solidFill>
                <a:latin typeface="Calibri" pitchFamily="34" charset="0"/>
                <a:ea typeface="Calibri" pitchFamily="34" charset="-122"/>
                <a:cs typeface="Calibri" pitchFamily="34" charset="-120"/>
              </a:rPr>
              <a:t>1970s – 80s</a:t>
            </a:r>
            <a:endParaRPr lang="en-US" sz="1100" dirty="0"/>
          </a:p>
        </p:txBody>
      </p:sp>
      <p:sp>
        <p:nvSpPr>
          <p:cNvPr id="32" name="Text 30"/>
          <p:cNvSpPr/>
          <p:nvPr/>
        </p:nvSpPr>
        <p:spPr>
          <a:xfrm>
            <a:off x="1188720" y="4343400"/>
            <a:ext cx="4617720" cy="347472"/>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Network Databases</a:t>
            </a:r>
            <a:endParaRPr lang="en-US" sz="1500" dirty="0"/>
          </a:p>
        </p:txBody>
      </p:sp>
      <p:sp>
        <p:nvSpPr>
          <p:cNvPr id="33" name="Shape 31"/>
          <p:cNvSpPr/>
          <p:nvPr/>
        </p:nvSpPr>
        <p:spPr>
          <a:xfrm>
            <a:off x="1188720" y="4736592"/>
            <a:ext cx="4617720" cy="0"/>
          </a:xfrm>
          <a:prstGeom prst="line">
            <a:avLst/>
          </a:prstGeom>
          <a:noFill/>
          <a:ln w="12700">
            <a:solidFill>
              <a:srgbClr val="D1E5F5"/>
            </a:solidFill>
            <a:prstDash val="solid"/>
          </a:ln>
        </p:spPr>
      </p:sp>
      <p:sp>
        <p:nvSpPr>
          <p:cNvPr id="34" name="Text 32"/>
          <p:cNvSpPr/>
          <p:nvPr/>
        </p:nvSpPr>
        <p:spPr>
          <a:xfrm>
            <a:off x="1188720" y="4800600"/>
            <a:ext cx="4617720" cy="68580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Simple analogy:  Think of it like a road map. Any city (record) can have roads (links) going to any other city. You are not limited to one route.</a:t>
            </a:r>
            <a:endParaRPr lang="en-US" sz="1100" dirty="0"/>
          </a:p>
        </p:txBody>
      </p:sp>
      <p:sp>
        <p:nvSpPr>
          <p:cNvPr id="35" name="Shape 33"/>
          <p:cNvSpPr/>
          <p:nvPr/>
        </p:nvSpPr>
        <p:spPr>
          <a:xfrm>
            <a:off x="1188720" y="5532120"/>
            <a:ext cx="4617720" cy="0"/>
          </a:xfrm>
          <a:prstGeom prst="line">
            <a:avLst/>
          </a:prstGeom>
          <a:noFill/>
          <a:ln w="12700">
            <a:solidFill>
              <a:srgbClr val="D1E5F5"/>
            </a:solidFill>
            <a:prstDash val="solid"/>
          </a:ln>
        </p:spPr>
      </p:sp>
      <p:sp>
        <p:nvSpPr>
          <p:cNvPr id="36" name="Text 34"/>
          <p:cNvSpPr/>
          <p:nvPr/>
        </p:nvSpPr>
        <p:spPr>
          <a:xfrm>
            <a:off x="1188720" y="5596128"/>
            <a:ext cx="4617720" cy="658368"/>
          </a:xfrm>
          <a:prstGeom prst="rect">
            <a:avLst/>
          </a:prstGeom>
          <a:noFill/>
          <a:ln/>
        </p:spPr>
        <p:txBody>
          <a:bodyPr wrap="square" rtlCol="0" anchor="ctr"/>
          <a:lstStyle/>
          <a:p>
            <a:pPr indent="0" marL="0">
              <a:buNone/>
            </a:pPr>
            <a:r>
              <a:rPr lang="en-US" sz="1100" b="1" dirty="0">
                <a:solidFill>
                  <a:srgbClr val="FFB347"/>
                </a:solidFill>
                <a:latin typeface="Calibri" pitchFamily="34" charset="0"/>
                <a:ea typeface="Calibri" pitchFamily="34" charset="-122"/>
                <a:cs typeface="Calibri" pitchFamily="34" charset="-120"/>
              </a:rPr>
              <a:t>Coaching centre:  In your coaching centre: A student can link directly to their fees, their batch, AND their teacher — without going through a hierarchy. More flexible.</a:t>
            </a:r>
            <a:endParaRPr lang="en-US" sz="1100" dirty="0"/>
          </a:p>
        </p:txBody>
      </p:sp>
      <p:sp>
        <p:nvSpPr>
          <p:cNvPr id="37" name="Shape 35"/>
          <p:cNvSpPr/>
          <p:nvPr/>
        </p:nvSpPr>
        <p:spPr>
          <a:xfrm>
            <a:off x="6309360" y="4023360"/>
            <a:ext cx="5577840" cy="245059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38" name="Shape 36"/>
          <p:cNvSpPr/>
          <p:nvPr/>
        </p:nvSpPr>
        <p:spPr>
          <a:xfrm>
            <a:off x="6309360" y="4023360"/>
            <a:ext cx="5577840" cy="54864"/>
          </a:xfrm>
          <a:prstGeom prst="rect">
            <a:avLst/>
          </a:prstGeom>
          <a:solidFill>
            <a:srgbClr val="52E3A3"/>
          </a:solidFill>
          <a:ln w="12700">
            <a:solidFill>
              <a:srgbClr val="52E3A3"/>
            </a:solidFill>
            <a:prstDash val="solid"/>
          </a:ln>
        </p:spPr>
      </p:sp>
      <p:sp>
        <p:nvSpPr>
          <p:cNvPr id="39" name="Shape 37"/>
          <p:cNvSpPr/>
          <p:nvPr/>
        </p:nvSpPr>
        <p:spPr>
          <a:xfrm>
            <a:off x="6309360" y="4023360"/>
            <a:ext cx="658368" cy="2450592"/>
          </a:xfrm>
          <a:prstGeom prst="rect">
            <a:avLst/>
          </a:prstGeom>
          <a:solidFill>
            <a:srgbClr val="52E3A3"/>
          </a:solidFill>
          <a:ln w="12700">
            <a:solidFill>
              <a:srgbClr val="52E3A3"/>
            </a:solidFill>
            <a:prstDash val="solid"/>
          </a:ln>
        </p:spPr>
      </p:sp>
      <p:sp>
        <p:nvSpPr>
          <p:cNvPr id="40" name="Text 38"/>
          <p:cNvSpPr/>
          <p:nvPr/>
        </p:nvSpPr>
        <p:spPr>
          <a:xfrm>
            <a:off x="6309360" y="4023360"/>
            <a:ext cx="658368" cy="24505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41" name="Text 39"/>
          <p:cNvSpPr/>
          <p:nvPr/>
        </p:nvSpPr>
        <p:spPr>
          <a:xfrm>
            <a:off x="7114032" y="4096512"/>
            <a:ext cx="4617720" cy="256032"/>
          </a:xfrm>
          <a:prstGeom prst="rect">
            <a:avLst/>
          </a:prstGeom>
          <a:noFill/>
          <a:ln/>
        </p:spPr>
        <p:txBody>
          <a:bodyPr wrap="square" rtlCol="0" anchor="ctr"/>
          <a:lstStyle/>
          <a:p>
            <a:pPr indent="0" marL="0">
              <a:buNone/>
            </a:pPr>
            <a:r>
              <a:rPr lang="en-US" sz="1100" b="1" i="1" dirty="0">
                <a:solidFill>
                  <a:srgbClr val="52E3A3"/>
                </a:solidFill>
                <a:latin typeface="Calibri" pitchFamily="34" charset="0"/>
                <a:ea typeface="Calibri" pitchFamily="34" charset="-122"/>
                <a:cs typeface="Calibri" pitchFamily="34" charset="-120"/>
              </a:rPr>
              <a:t>1970 – Present</a:t>
            </a:r>
            <a:endParaRPr lang="en-US" sz="1100" dirty="0"/>
          </a:p>
        </p:txBody>
      </p:sp>
      <p:sp>
        <p:nvSpPr>
          <p:cNvPr id="42" name="Text 40"/>
          <p:cNvSpPr/>
          <p:nvPr/>
        </p:nvSpPr>
        <p:spPr>
          <a:xfrm>
            <a:off x="7114032" y="4343400"/>
            <a:ext cx="4617720" cy="347472"/>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Relational Databases</a:t>
            </a:r>
            <a:endParaRPr lang="en-US" sz="1500" dirty="0"/>
          </a:p>
        </p:txBody>
      </p:sp>
      <p:sp>
        <p:nvSpPr>
          <p:cNvPr id="43" name="Shape 41"/>
          <p:cNvSpPr/>
          <p:nvPr/>
        </p:nvSpPr>
        <p:spPr>
          <a:xfrm>
            <a:off x="7114032" y="4736592"/>
            <a:ext cx="4617720" cy="0"/>
          </a:xfrm>
          <a:prstGeom prst="line">
            <a:avLst/>
          </a:prstGeom>
          <a:noFill/>
          <a:ln w="12700">
            <a:solidFill>
              <a:srgbClr val="D1E5F5"/>
            </a:solidFill>
            <a:prstDash val="solid"/>
          </a:ln>
        </p:spPr>
      </p:sp>
      <p:sp>
        <p:nvSpPr>
          <p:cNvPr id="44" name="Text 42"/>
          <p:cNvSpPr/>
          <p:nvPr/>
        </p:nvSpPr>
        <p:spPr>
          <a:xfrm>
            <a:off x="7114032" y="4800600"/>
            <a:ext cx="4617720" cy="68580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Simple analogy:  Think of it like a set of Excel sheets where each sheet can reference another sheet by a shared ID column. No pointers, no physical links — just matching values.</a:t>
            </a:r>
            <a:endParaRPr lang="en-US" sz="1100" dirty="0"/>
          </a:p>
        </p:txBody>
      </p:sp>
      <p:sp>
        <p:nvSpPr>
          <p:cNvPr id="45" name="Shape 43"/>
          <p:cNvSpPr/>
          <p:nvPr/>
        </p:nvSpPr>
        <p:spPr>
          <a:xfrm>
            <a:off x="7114032" y="5532120"/>
            <a:ext cx="4617720" cy="0"/>
          </a:xfrm>
          <a:prstGeom prst="line">
            <a:avLst/>
          </a:prstGeom>
          <a:noFill/>
          <a:ln w="12700">
            <a:solidFill>
              <a:srgbClr val="D1E5F5"/>
            </a:solidFill>
            <a:prstDash val="solid"/>
          </a:ln>
        </p:spPr>
      </p:sp>
      <p:sp>
        <p:nvSpPr>
          <p:cNvPr id="46" name="Text 44"/>
          <p:cNvSpPr/>
          <p:nvPr/>
        </p:nvSpPr>
        <p:spPr>
          <a:xfrm>
            <a:off x="7114032" y="5596128"/>
            <a:ext cx="4617720" cy="658368"/>
          </a:xfrm>
          <a:prstGeom prst="rect">
            <a:avLst/>
          </a:prstGeom>
          <a:noFill/>
          <a:ln/>
        </p:spPr>
        <p:txBody>
          <a:bodyPr wrap="square" rtlCol="0" anchor="ctr"/>
          <a:lstStyle/>
          <a:p>
            <a:pPr indent="0" marL="0">
              <a:buNone/>
            </a:pPr>
            <a:r>
              <a:rPr lang="en-US" sz="1100" b="1" dirty="0">
                <a:solidFill>
                  <a:srgbClr val="52E3A3"/>
                </a:solidFill>
                <a:latin typeface="Calibri" pitchFamily="34" charset="0"/>
                <a:ea typeface="Calibri" pitchFamily="34" charset="-122"/>
                <a:cs typeface="Calibri" pitchFamily="34" charset="-120"/>
              </a:rPr>
              <a:t>Coaching centre:  Students table has a student_id. Fees table also has a student_id column. To get all fee records for a student, the database simply matches the IDs. Any table can link to any other. You can query in any direction.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FFB347"/>
          </a:solidFill>
          <a:ln w="12700">
            <a:solidFill>
              <a:srgbClr val="FFB347"/>
            </a:solidFill>
            <a:prstDash val="solid"/>
          </a:ln>
        </p:spPr>
      </p:sp>
      <p:sp>
        <p:nvSpPr>
          <p:cNvPr id="4" name="Shape 2"/>
          <p:cNvSpPr/>
          <p:nvPr/>
        </p:nvSpPr>
        <p:spPr>
          <a:xfrm>
            <a:off x="0" y="1188720"/>
            <a:ext cx="12161520" cy="36576"/>
          </a:xfrm>
          <a:prstGeom prst="rect">
            <a:avLst/>
          </a:prstGeom>
          <a:solidFill>
            <a:srgbClr val="FFB347"/>
          </a:solidFill>
          <a:ln w="12700">
            <a:solidFill>
              <a:srgbClr val="FFB347"/>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What Each Type Got Wrong — And One Fact You Probably Did Not Know</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FFB347"/>
                </a:solidFill>
                <a:latin typeface="Calibri" pitchFamily="34" charset="0"/>
                <a:ea typeface="Calibri" pitchFamily="34" charset="-122"/>
                <a:cs typeface="Calibri" pitchFamily="34" charset="-120"/>
              </a:rPr>
              <a:t>Understanding the limitations helps you appreciate why the relational model won</a:t>
            </a:r>
            <a:endParaRPr lang="en-US" sz="1400" dirty="0"/>
          </a:p>
        </p:txBody>
      </p:sp>
      <p:sp>
        <p:nvSpPr>
          <p:cNvPr id="7" name="Shape 5"/>
          <p:cNvSpPr/>
          <p:nvPr/>
        </p:nvSpPr>
        <p:spPr>
          <a:xfrm>
            <a:off x="384048" y="1389888"/>
            <a:ext cx="5577840" cy="2450592"/>
          </a:xfrm>
          <a:prstGeom prst="rect">
            <a:avLst/>
          </a:prstGeom>
          <a:solidFill>
            <a:srgbClr val="102A4C"/>
          </a:solidFill>
          <a:ln w="12700">
            <a:solidFill>
              <a:srgbClr val="7B93B3"/>
            </a:solidFill>
            <a:prstDash val="solid"/>
          </a:ln>
          <a:effectLst>
            <a:outerShdw sx="100000" sy="100000" kx="0" ky="0" algn="bl" rotWithShape="0" blurRad="101600" dist="38100" dir="8100000">
              <a:srgbClr val="000000">
                <a:alpha val="14000"/>
              </a:srgbClr>
            </a:outerShdw>
          </a:effectLst>
        </p:spPr>
      </p:sp>
      <p:sp>
        <p:nvSpPr>
          <p:cNvPr id="8" name="Shape 6"/>
          <p:cNvSpPr/>
          <p:nvPr/>
        </p:nvSpPr>
        <p:spPr>
          <a:xfrm>
            <a:off x="384048" y="1389888"/>
            <a:ext cx="5577840" cy="54864"/>
          </a:xfrm>
          <a:prstGeom prst="rect">
            <a:avLst/>
          </a:prstGeom>
          <a:solidFill>
            <a:srgbClr val="7B93B3"/>
          </a:solidFill>
          <a:ln w="12700">
            <a:solidFill>
              <a:srgbClr val="7B93B3"/>
            </a:solidFill>
            <a:prstDash val="solid"/>
          </a:ln>
        </p:spPr>
      </p:sp>
      <p:sp>
        <p:nvSpPr>
          <p:cNvPr id="9" name="Shape 7"/>
          <p:cNvSpPr/>
          <p:nvPr/>
        </p:nvSpPr>
        <p:spPr>
          <a:xfrm>
            <a:off x="384048" y="1389888"/>
            <a:ext cx="658368" cy="2450592"/>
          </a:xfrm>
          <a:prstGeom prst="rect">
            <a:avLst/>
          </a:prstGeom>
          <a:solidFill>
            <a:srgbClr val="7B93B3"/>
          </a:solidFill>
          <a:ln w="12700">
            <a:solidFill>
              <a:srgbClr val="7B93B3"/>
            </a:solidFill>
            <a:prstDash val="solid"/>
          </a:ln>
        </p:spPr>
      </p:sp>
      <p:sp>
        <p:nvSpPr>
          <p:cNvPr id="10" name="Text 8"/>
          <p:cNvSpPr/>
          <p:nvPr/>
        </p:nvSpPr>
        <p:spPr>
          <a:xfrm>
            <a:off x="384048" y="1389888"/>
            <a:ext cx="658368" cy="24505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11" name="Text 9"/>
          <p:cNvSpPr/>
          <p:nvPr/>
        </p:nvSpPr>
        <p:spPr>
          <a:xfrm>
            <a:off x="1188720" y="1481328"/>
            <a:ext cx="461772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Magnetic Tape</a:t>
            </a:r>
            <a:endParaRPr lang="en-US" sz="1500" dirty="0"/>
          </a:p>
        </p:txBody>
      </p:sp>
      <p:sp>
        <p:nvSpPr>
          <p:cNvPr id="12" name="Shape 10"/>
          <p:cNvSpPr/>
          <p:nvPr/>
        </p:nvSpPr>
        <p:spPr>
          <a:xfrm>
            <a:off x="1188720" y="1865376"/>
            <a:ext cx="4617720" cy="0"/>
          </a:xfrm>
          <a:prstGeom prst="line">
            <a:avLst/>
          </a:prstGeom>
          <a:noFill/>
          <a:ln w="12700">
            <a:solidFill>
              <a:srgbClr val="1E3A5F"/>
            </a:solidFill>
            <a:prstDash val="solid"/>
          </a:ln>
        </p:spPr>
      </p:sp>
      <p:sp>
        <p:nvSpPr>
          <p:cNvPr id="13" name="Text 11"/>
          <p:cNvSpPr/>
          <p:nvPr/>
        </p:nvSpPr>
        <p:spPr>
          <a:xfrm>
            <a:off x="1188720" y="1920240"/>
            <a:ext cx="4617720" cy="10241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The problem:  Sequential access only. No matter how fast the computer, it had to read every record before the one it needed. Searching 1 million records near the end of a tape took the same time as reading the whole tape.</a:t>
            </a:r>
            <a:endParaRPr lang="en-US" sz="1150" dirty="0"/>
          </a:p>
        </p:txBody>
      </p:sp>
      <p:sp>
        <p:nvSpPr>
          <p:cNvPr id="14" name="Shape 12"/>
          <p:cNvSpPr/>
          <p:nvPr/>
        </p:nvSpPr>
        <p:spPr>
          <a:xfrm>
            <a:off x="1188720" y="2990088"/>
            <a:ext cx="4617720" cy="54864"/>
          </a:xfrm>
          <a:prstGeom prst="rect">
            <a:avLst/>
          </a:prstGeom>
          <a:solidFill>
            <a:srgbClr val="7B93B3"/>
          </a:solidFill>
          <a:ln w="12700">
            <a:solidFill>
              <a:srgbClr val="7B93B3"/>
            </a:solidFill>
            <a:prstDash val="solid"/>
          </a:ln>
        </p:spPr>
      </p:sp>
      <p:sp>
        <p:nvSpPr>
          <p:cNvPr id="15" name="Text 13"/>
          <p:cNvSpPr/>
          <p:nvPr/>
        </p:nvSpPr>
        <p:spPr>
          <a:xfrm>
            <a:off x="1188720" y="3072384"/>
            <a:ext cx="4617720" cy="685800"/>
          </a:xfrm>
          <a:prstGeom prst="rect">
            <a:avLst/>
          </a:prstGeom>
          <a:noFill/>
          <a:ln/>
        </p:spPr>
        <p:txBody>
          <a:bodyPr wrap="square" rtlCol="0" anchor="ctr"/>
          <a:lstStyle/>
          <a:p>
            <a:pPr indent="0" marL="0">
              <a:buNone/>
            </a:pPr>
            <a:r>
              <a:rPr lang="en-US" sz="1050" i="1" dirty="0">
                <a:solidFill>
                  <a:srgbClr val="7B93B3"/>
                </a:solidFill>
                <a:latin typeface="Calibri" pitchFamily="34" charset="0"/>
                <a:ea typeface="Calibri" pitchFamily="34" charset="-122"/>
                <a:cs typeface="Calibri" pitchFamily="34" charset="-120"/>
              </a:rPr>
              <a:t>Did you know:  IBM's RAMAC 350 hard disk from 1956 — the world's first commercial hard drive — stored just 5 megabytes of data. Today, a single smartphone photo is about 4 MB. The RAMAC weighed over 900 kg.</a:t>
            </a:r>
            <a:endParaRPr lang="en-US" sz="1050" dirty="0"/>
          </a:p>
        </p:txBody>
      </p:sp>
      <p:sp>
        <p:nvSpPr>
          <p:cNvPr id="16" name="Shape 14"/>
          <p:cNvSpPr/>
          <p:nvPr/>
        </p:nvSpPr>
        <p:spPr>
          <a:xfrm>
            <a:off x="6309360" y="1389888"/>
            <a:ext cx="5577840" cy="2450592"/>
          </a:xfrm>
          <a:prstGeom prst="rect">
            <a:avLst/>
          </a:prstGeom>
          <a:solidFill>
            <a:srgbClr val="102A4C"/>
          </a:solidFill>
          <a:ln w="12700">
            <a:solidFill>
              <a:srgbClr val="38B2F0"/>
            </a:solidFill>
            <a:prstDash val="solid"/>
          </a:ln>
          <a:effectLst>
            <a:outerShdw sx="100000" sy="100000" kx="0" ky="0" algn="bl" rotWithShape="0" blurRad="101600" dist="38100" dir="8100000">
              <a:srgbClr val="000000">
                <a:alpha val="14000"/>
              </a:srgbClr>
            </a:outerShdw>
          </a:effectLst>
        </p:spPr>
      </p:sp>
      <p:sp>
        <p:nvSpPr>
          <p:cNvPr id="17" name="Shape 15"/>
          <p:cNvSpPr/>
          <p:nvPr/>
        </p:nvSpPr>
        <p:spPr>
          <a:xfrm>
            <a:off x="6309360" y="1389888"/>
            <a:ext cx="5577840" cy="54864"/>
          </a:xfrm>
          <a:prstGeom prst="rect">
            <a:avLst/>
          </a:prstGeom>
          <a:solidFill>
            <a:srgbClr val="38B2F0"/>
          </a:solidFill>
          <a:ln w="12700">
            <a:solidFill>
              <a:srgbClr val="38B2F0"/>
            </a:solidFill>
            <a:prstDash val="solid"/>
          </a:ln>
        </p:spPr>
      </p:sp>
      <p:sp>
        <p:nvSpPr>
          <p:cNvPr id="18" name="Shape 16"/>
          <p:cNvSpPr/>
          <p:nvPr/>
        </p:nvSpPr>
        <p:spPr>
          <a:xfrm>
            <a:off x="6309360" y="1389888"/>
            <a:ext cx="658368" cy="2450592"/>
          </a:xfrm>
          <a:prstGeom prst="rect">
            <a:avLst/>
          </a:prstGeom>
          <a:solidFill>
            <a:srgbClr val="38B2F0"/>
          </a:solidFill>
          <a:ln w="12700">
            <a:solidFill>
              <a:srgbClr val="38B2F0"/>
            </a:solidFill>
            <a:prstDash val="solid"/>
          </a:ln>
        </p:spPr>
      </p:sp>
      <p:sp>
        <p:nvSpPr>
          <p:cNvPr id="19" name="Text 17"/>
          <p:cNvSpPr/>
          <p:nvPr/>
        </p:nvSpPr>
        <p:spPr>
          <a:xfrm>
            <a:off x="6309360" y="1389888"/>
            <a:ext cx="658368" cy="24505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20" name="Text 18"/>
          <p:cNvSpPr/>
          <p:nvPr/>
        </p:nvSpPr>
        <p:spPr>
          <a:xfrm>
            <a:off x="7114032" y="1481328"/>
            <a:ext cx="461772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Hierarchical DB</a:t>
            </a:r>
            <a:endParaRPr lang="en-US" sz="1500" dirty="0"/>
          </a:p>
        </p:txBody>
      </p:sp>
      <p:sp>
        <p:nvSpPr>
          <p:cNvPr id="21" name="Shape 19"/>
          <p:cNvSpPr/>
          <p:nvPr/>
        </p:nvSpPr>
        <p:spPr>
          <a:xfrm>
            <a:off x="7114032" y="1865376"/>
            <a:ext cx="4617720" cy="0"/>
          </a:xfrm>
          <a:prstGeom prst="line">
            <a:avLst/>
          </a:prstGeom>
          <a:noFill/>
          <a:ln w="12700">
            <a:solidFill>
              <a:srgbClr val="1E3A5F"/>
            </a:solidFill>
            <a:prstDash val="solid"/>
          </a:ln>
        </p:spPr>
      </p:sp>
      <p:sp>
        <p:nvSpPr>
          <p:cNvPr id="22" name="Text 20"/>
          <p:cNvSpPr/>
          <p:nvPr/>
        </p:nvSpPr>
        <p:spPr>
          <a:xfrm>
            <a:off x="7114032" y="1920240"/>
            <a:ext cx="4617720" cy="10241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The problem:  Single parent limitation. In a coaching centre database, a student can belong to only one batch. What if a student attends both morning and evening batches? The hierarchical model cannot represent this without duplicating the entire student record.</a:t>
            </a:r>
            <a:endParaRPr lang="en-US" sz="1150" dirty="0"/>
          </a:p>
        </p:txBody>
      </p:sp>
      <p:sp>
        <p:nvSpPr>
          <p:cNvPr id="23" name="Shape 21"/>
          <p:cNvSpPr/>
          <p:nvPr/>
        </p:nvSpPr>
        <p:spPr>
          <a:xfrm>
            <a:off x="7114032" y="2990088"/>
            <a:ext cx="4617720" cy="54864"/>
          </a:xfrm>
          <a:prstGeom prst="rect">
            <a:avLst/>
          </a:prstGeom>
          <a:solidFill>
            <a:srgbClr val="38B2F0"/>
          </a:solidFill>
          <a:ln w="12700">
            <a:solidFill>
              <a:srgbClr val="38B2F0"/>
            </a:solidFill>
            <a:prstDash val="solid"/>
          </a:ln>
        </p:spPr>
      </p:sp>
      <p:sp>
        <p:nvSpPr>
          <p:cNvPr id="24" name="Text 22"/>
          <p:cNvSpPr/>
          <p:nvPr/>
        </p:nvSpPr>
        <p:spPr>
          <a:xfrm>
            <a:off x="7114032" y="3072384"/>
            <a:ext cx="4617720" cy="685800"/>
          </a:xfrm>
          <a:prstGeom prst="rect">
            <a:avLst/>
          </a:prstGeom>
          <a:noFill/>
          <a:ln/>
        </p:spPr>
        <p:txBody>
          <a:bodyPr wrap="square" rtlCol="0" anchor="ctr"/>
          <a:lstStyle/>
          <a:p>
            <a:pPr indent="0" marL="0">
              <a:buNone/>
            </a:pPr>
            <a:r>
              <a:rPr lang="en-US" sz="1050" i="1" dirty="0">
                <a:solidFill>
                  <a:srgbClr val="38B2F0"/>
                </a:solidFill>
                <a:latin typeface="Calibri" pitchFamily="34" charset="0"/>
                <a:ea typeface="Calibri" pitchFamily="34" charset="-122"/>
                <a:cs typeface="Calibri" pitchFamily="34" charset="-120"/>
              </a:rPr>
              <a:t>Did you know:  IBM's IMS hierarchical database, built in 1966, is still actively maintained and sold today. It processes over 50 billion transactions per day worldwide — more than most modern databases. Major Indian banks use IMS for core account management.</a:t>
            </a:r>
            <a:endParaRPr lang="en-US" sz="1050" dirty="0"/>
          </a:p>
        </p:txBody>
      </p:sp>
      <p:sp>
        <p:nvSpPr>
          <p:cNvPr id="25" name="Shape 23"/>
          <p:cNvSpPr/>
          <p:nvPr/>
        </p:nvSpPr>
        <p:spPr>
          <a:xfrm>
            <a:off x="384048" y="4023360"/>
            <a:ext cx="5577840" cy="2450592"/>
          </a:xfrm>
          <a:prstGeom prst="rect">
            <a:avLst/>
          </a:prstGeom>
          <a:solidFill>
            <a:srgbClr val="102A4C"/>
          </a:solidFill>
          <a:ln w="12700">
            <a:solidFill>
              <a:srgbClr val="FFB347"/>
            </a:solidFill>
            <a:prstDash val="solid"/>
          </a:ln>
          <a:effectLst>
            <a:outerShdw sx="100000" sy="100000" kx="0" ky="0" algn="bl" rotWithShape="0" blurRad="101600" dist="38100" dir="8100000">
              <a:srgbClr val="000000">
                <a:alpha val="14000"/>
              </a:srgbClr>
            </a:outerShdw>
          </a:effectLst>
        </p:spPr>
      </p:sp>
      <p:sp>
        <p:nvSpPr>
          <p:cNvPr id="26" name="Shape 24"/>
          <p:cNvSpPr/>
          <p:nvPr/>
        </p:nvSpPr>
        <p:spPr>
          <a:xfrm>
            <a:off x="384048" y="4023360"/>
            <a:ext cx="5577840" cy="54864"/>
          </a:xfrm>
          <a:prstGeom prst="rect">
            <a:avLst/>
          </a:prstGeom>
          <a:solidFill>
            <a:srgbClr val="FFB347"/>
          </a:solidFill>
          <a:ln w="12700">
            <a:solidFill>
              <a:srgbClr val="FFB347"/>
            </a:solidFill>
            <a:prstDash val="solid"/>
          </a:ln>
        </p:spPr>
      </p:sp>
      <p:sp>
        <p:nvSpPr>
          <p:cNvPr id="27" name="Shape 25"/>
          <p:cNvSpPr/>
          <p:nvPr/>
        </p:nvSpPr>
        <p:spPr>
          <a:xfrm>
            <a:off x="384048" y="4023360"/>
            <a:ext cx="658368" cy="2450592"/>
          </a:xfrm>
          <a:prstGeom prst="rect">
            <a:avLst/>
          </a:prstGeom>
          <a:solidFill>
            <a:srgbClr val="FFB347"/>
          </a:solidFill>
          <a:ln w="12700">
            <a:solidFill>
              <a:srgbClr val="FFB347"/>
            </a:solidFill>
            <a:prstDash val="solid"/>
          </a:ln>
        </p:spPr>
      </p:sp>
      <p:sp>
        <p:nvSpPr>
          <p:cNvPr id="28" name="Text 26"/>
          <p:cNvSpPr/>
          <p:nvPr/>
        </p:nvSpPr>
        <p:spPr>
          <a:xfrm>
            <a:off x="384048" y="4023360"/>
            <a:ext cx="658368" cy="24505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29" name="Text 27"/>
          <p:cNvSpPr/>
          <p:nvPr/>
        </p:nvSpPr>
        <p:spPr>
          <a:xfrm>
            <a:off x="1188720" y="4114800"/>
            <a:ext cx="461772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Network DB</a:t>
            </a:r>
            <a:endParaRPr lang="en-US" sz="1500" dirty="0"/>
          </a:p>
        </p:txBody>
      </p:sp>
      <p:sp>
        <p:nvSpPr>
          <p:cNvPr id="30" name="Shape 28"/>
          <p:cNvSpPr/>
          <p:nvPr/>
        </p:nvSpPr>
        <p:spPr>
          <a:xfrm>
            <a:off x="1188720" y="4498848"/>
            <a:ext cx="4617720" cy="0"/>
          </a:xfrm>
          <a:prstGeom prst="line">
            <a:avLst/>
          </a:prstGeom>
          <a:noFill/>
          <a:ln w="12700">
            <a:solidFill>
              <a:srgbClr val="1E3A5F"/>
            </a:solidFill>
            <a:prstDash val="solid"/>
          </a:ln>
        </p:spPr>
      </p:sp>
      <p:sp>
        <p:nvSpPr>
          <p:cNvPr id="31" name="Text 29"/>
          <p:cNvSpPr/>
          <p:nvPr/>
        </p:nvSpPr>
        <p:spPr>
          <a:xfrm>
            <a:off x="1188720" y="4553712"/>
            <a:ext cx="4617720" cy="10241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The problem:  The programmer, not the database, was responsible for navigating every link. Writing a query meant writing a program. If the structure of the data changed (e.g., adding a new batch type), every program that accessed that data had to be rewritten by hand.</a:t>
            </a:r>
            <a:endParaRPr lang="en-US" sz="1150" dirty="0"/>
          </a:p>
        </p:txBody>
      </p:sp>
      <p:sp>
        <p:nvSpPr>
          <p:cNvPr id="32" name="Shape 30"/>
          <p:cNvSpPr/>
          <p:nvPr/>
        </p:nvSpPr>
        <p:spPr>
          <a:xfrm>
            <a:off x="1188720" y="5623560"/>
            <a:ext cx="4617720" cy="54864"/>
          </a:xfrm>
          <a:prstGeom prst="rect">
            <a:avLst/>
          </a:prstGeom>
          <a:solidFill>
            <a:srgbClr val="FFB347"/>
          </a:solidFill>
          <a:ln w="12700">
            <a:solidFill>
              <a:srgbClr val="FFB347"/>
            </a:solidFill>
            <a:prstDash val="solid"/>
          </a:ln>
        </p:spPr>
      </p:sp>
      <p:sp>
        <p:nvSpPr>
          <p:cNvPr id="33" name="Text 31"/>
          <p:cNvSpPr/>
          <p:nvPr/>
        </p:nvSpPr>
        <p:spPr>
          <a:xfrm>
            <a:off x="1188720" y="5705856"/>
            <a:ext cx="4617720" cy="685800"/>
          </a:xfrm>
          <a:prstGeom prst="rect">
            <a:avLst/>
          </a:prstGeom>
          <a:noFill/>
          <a:ln/>
        </p:spPr>
        <p:txBody>
          <a:bodyPr wrap="square" rtlCol="0" anchor="ctr"/>
          <a:lstStyle/>
          <a:p>
            <a:pPr indent="0" marL="0">
              <a:buNone/>
            </a:pPr>
            <a:r>
              <a:rPr lang="en-US" sz="1050" i="1" dirty="0">
                <a:solidFill>
                  <a:srgbClr val="FFB347"/>
                </a:solidFill>
                <a:latin typeface="Calibri" pitchFamily="34" charset="0"/>
                <a:ea typeface="Calibri" pitchFamily="34" charset="-122"/>
                <a:cs typeface="Calibri" pitchFamily="34" charset="-120"/>
              </a:rPr>
              <a:t>Did you know:  Charles Bachman, who built the first network database (GE's IDS) in 1964, was awarded the Turing Award in 1973 — the highest honour in computing. His 'Programmer as Navigator' paper described the burden of manual navigation that the relational model would later eliminate.</a:t>
            </a:r>
            <a:endParaRPr lang="en-US" sz="1050" dirty="0"/>
          </a:p>
        </p:txBody>
      </p:sp>
      <p:sp>
        <p:nvSpPr>
          <p:cNvPr id="34" name="Shape 32"/>
          <p:cNvSpPr/>
          <p:nvPr/>
        </p:nvSpPr>
        <p:spPr>
          <a:xfrm>
            <a:off x="6309360" y="4023360"/>
            <a:ext cx="5577840" cy="2450592"/>
          </a:xfrm>
          <a:prstGeom prst="rect">
            <a:avLst/>
          </a:prstGeom>
          <a:solidFill>
            <a:srgbClr val="102A4C"/>
          </a:solidFill>
          <a:ln w="12700">
            <a:solidFill>
              <a:srgbClr val="52E3A3"/>
            </a:solidFill>
            <a:prstDash val="solid"/>
          </a:ln>
          <a:effectLst>
            <a:outerShdw sx="100000" sy="100000" kx="0" ky="0" algn="bl" rotWithShape="0" blurRad="101600" dist="38100" dir="8100000">
              <a:srgbClr val="000000">
                <a:alpha val="14000"/>
              </a:srgbClr>
            </a:outerShdw>
          </a:effectLst>
        </p:spPr>
      </p:sp>
      <p:sp>
        <p:nvSpPr>
          <p:cNvPr id="35" name="Shape 33"/>
          <p:cNvSpPr/>
          <p:nvPr/>
        </p:nvSpPr>
        <p:spPr>
          <a:xfrm>
            <a:off x="6309360" y="4023360"/>
            <a:ext cx="5577840" cy="54864"/>
          </a:xfrm>
          <a:prstGeom prst="rect">
            <a:avLst/>
          </a:prstGeom>
          <a:solidFill>
            <a:srgbClr val="52E3A3"/>
          </a:solidFill>
          <a:ln w="12700">
            <a:solidFill>
              <a:srgbClr val="52E3A3"/>
            </a:solidFill>
            <a:prstDash val="solid"/>
          </a:ln>
        </p:spPr>
      </p:sp>
      <p:sp>
        <p:nvSpPr>
          <p:cNvPr id="36" name="Shape 34"/>
          <p:cNvSpPr/>
          <p:nvPr/>
        </p:nvSpPr>
        <p:spPr>
          <a:xfrm>
            <a:off x="6309360" y="4023360"/>
            <a:ext cx="658368" cy="2450592"/>
          </a:xfrm>
          <a:prstGeom prst="rect">
            <a:avLst/>
          </a:prstGeom>
          <a:solidFill>
            <a:srgbClr val="52E3A3"/>
          </a:solidFill>
          <a:ln w="12700">
            <a:solidFill>
              <a:srgbClr val="52E3A3"/>
            </a:solidFill>
            <a:prstDash val="solid"/>
          </a:ln>
        </p:spPr>
      </p:sp>
      <p:sp>
        <p:nvSpPr>
          <p:cNvPr id="37" name="Text 35"/>
          <p:cNvSpPr/>
          <p:nvPr/>
        </p:nvSpPr>
        <p:spPr>
          <a:xfrm>
            <a:off x="6309360" y="4023360"/>
            <a:ext cx="658368" cy="245059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38" name="Text 36"/>
          <p:cNvSpPr/>
          <p:nvPr/>
        </p:nvSpPr>
        <p:spPr>
          <a:xfrm>
            <a:off x="7114032" y="4114800"/>
            <a:ext cx="461772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Relational DB</a:t>
            </a:r>
            <a:endParaRPr lang="en-US" sz="1500" dirty="0"/>
          </a:p>
        </p:txBody>
      </p:sp>
      <p:sp>
        <p:nvSpPr>
          <p:cNvPr id="39" name="Shape 37"/>
          <p:cNvSpPr/>
          <p:nvPr/>
        </p:nvSpPr>
        <p:spPr>
          <a:xfrm>
            <a:off x="7114032" y="4498848"/>
            <a:ext cx="4617720" cy="0"/>
          </a:xfrm>
          <a:prstGeom prst="line">
            <a:avLst/>
          </a:prstGeom>
          <a:noFill/>
          <a:ln w="12700">
            <a:solidFill>
              <a:srgbClr val="1E3A5F"/>
            </a:solidFill>
            <a:prstDash val="solid"/>
          </a:ln>
        </p:spPr>
      </p:sp>
      <p:sp>
        <p:nvSpPr>
          <p:cNvPr id="40" name="Text 38"/>
          <p:cNvSpPr/>
          <p:nvPr/>
        </p:nvSpPr>
        <p:spPr>
          <a:xfrm>
            <a:off x="7114032" y="4553712"/>
            <a:ext cx="4617720" cy="10241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The problem:  Not truly perfect either: early relational databases were significantly slower than hierarchical databases for simple lookups. This is why banks resisted switching from IMS for decades. It was only when hardware became powerful enough that relational databases became fast enough to replace them.</a:t>
            </a:r>
            <a:endParaRPr lang="en-US" sz="1150" dirty="0"/>
          </a:p>
        </p:txBody>
      </p:sp>
      <p:sp>
        <p:nvSpPr>
          <p:cNvPr id="41" name="Shape 39"/>
          <p:cNvSpPr/>
          <p:nvPr/>
        </p:nvSpPr>
        <p:spPr>
          <a:xfrm>
            <a:off x="7114032" y="5623560"/>
            <a:ext cx="4617720" cy="54864"/>
          </a:xfrm>
          <a:prstGeom prst="rect">
            <a:avLst/>
          </a:prstGeom>
          <a:solidFill>
            <a:srgbClr val="52E3A3"/>
          </a:solidFill>
          <a:ln w="12700">
            <a:solidFill>
              <a:srgbClr val="52E3A3"/>
            </a:solidFill>
            <a:prstDash val="solid"/>
          </a:ln>
        </p:spPr>
      </p:sp>
      <p:sp>
        <p:nvSpPr>
          <p:cNvPr id="42" name="Text 40"/>
          <p:cNvSpPr/>
          <p:nvPr/>
        </p:nvSpPr>
        <p:spPr>
          <a:xfrm>
            <a:off x="7114032" y="5705856"/>
            <a:ext cx="4617720" cy="685800"/>
          </a:xfrm>
          <a:prstGeom prst="rect">
            <a:avLst/>
          </a:prstGeom>
          <a:noFill/>
          <a:ln/>
        </p:spPr>
        <p:txBody>
          <a:bodyPr wrap="square" rtlCol="0" anchor="ctr"/>
          <a:lstStyle/>
          <a:p>
            <a:pPr indent="0" marL="0">
              <a:buNone/>
            </a:pPr>
            <a:r>
              <a:rPr lang="en-US" sz="1050" i="1" dirty="0">
                <a:solidFill>
                  <a:srgbClr val="52E3A3"/>
                </a:solidFill>
                <a:latin typeface="Calibri" pitchFamily="34" charset="0"/>
                <a:ea typeface="Calibri" pitchFamily="34" charset="-122"/>
                <a:cs typeface="Calibri" pitchFamily="34" charset="-120"/>
              </a:rPr>
              <a:t>Did you know:  Dr. Codd wrote 12 rules defining what a true relational database must do. He later added a 13th 'zeroth' rule. To this day, no database — not Oracle, not MySQL, not PostgreSQL — satisfies all 12 rules completely. The standard exists but was never fully implemented.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00C2CB"/>
          </a:solidFill>
          <a:ln w="12700">
            <a:solidFill>
              <a:srgbClr val="00C2CB"/>
            </a:solidFill>
            <a:prstDash val="solid"/>
          </a:ln>
        </p:spPr>
      </p:sp>
      <p:sp>
        <p:nvSpPr>
          <p:cNvPr id="4" name="Shape 2"/>
          <p:cNvSpPr/>
          <p:nvPr/>
        </p:nvSpPr>
        <p:spPr>
          <a:xfrm>
            <a:off x="0" y="1188720"/>
            <a:ext cx="12161520" cy="36576"/>
          </a:xfrm>
          <a:prstGeom prst="rect">
            <a:avLst/>
          </a:prstGeom>
          <a:solidFill>
            <a:srgbClr val="00C2CB"/>
          </a:solidFill>
          <a:ln w="12700">
            <a:solidFill>
              <a:srgbClr val="00C2C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The Relational Model — Dr. E.F. Codd, IBM, 1970</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00C2CB"/>
                </a:solidFill>
                <a:latin typeface="Calibri" pitchFamily="34" charset="0"/>
                <a:ea typeface="Calibri" pitchFamily="34" charset="-122"/>
                <a:cs typeface="Calibri" pitchFamily="34" charset="-120"/>
              </a:rPr>
              <a:t>The idea that changed data forever — and still runs the internet today</a:t>
            </a:r>
            <a:endParaRPr lang="en-US" sz="1400" dirty="0"/>
          </a:p>
        </p:txBody>
      </p:sp>
      <p:sp>
        <p:nvSpPr>
          <p:cNvPr id="7" name="Shape 5"/>
          <p:cNvSpPr/>
          <p:nvPr/>
        </p:nvSpPr>
        <p:spPr>
          <a:xfrm>
            <a:off x="457200" y="1389888"/>
            <a:ext cx="11247120" cy="868680"/>
          </a:xfrm>
          <a:prstGeom prst="rect">
            <a:avLst/>
          </a:prstGeom>
          <a:solidFill>
            <a:srgbClr val="EFF6FF"/>
          </a:solidFill>
          <a:ln w="12700">
            <a:solidFill>
              <a:srgbClr val="BFDBFE"/>
            </a:solidFill>
            <a:prstDash val="solid"/>
          </a:ln>
          <a:effectLst>
            <a:outerShdw sx="100000" sy="100000" kx="0" ky="0" algn="bl" rotWithShape="0" blurRad="101600" dist="38100" dir="8100000">
              <a:srgbClr val="000000">
                <a:alpha val="14000"/>
              </a:srgbClr>
            </a:outerShdw>
          </a:effectLst>
        </p:spPr>
      </p:sp>
      <p:sp>
        <p:nvSpPr>
          <p:cNvPr id="8" name="Text 6"/>
          <p:cNvSpPr/>
          <p:nvPr/>
        </p:nvSpPr>
        <p:spPr>
          <a:xfrm>
            <a:off x="640080" y="1426464"/>
            <a:ext cx="10881360" cy="777240"/>
          </a:xfrm>
          <a:prstGeom prst="rect">
            <a:avLst/>
          </a:prstGeom>
          <a:noFill/>
          <a:ln/>
        </p:spPr>
        <p:txBody>
          <a:bodyPr wrap="square" rtlCol="0" anchor="ctr"/>
          <a:lstStyle/>
          <a:p>
            <a:pPr indent="0" marL="0">
              <a:buNone/>
            </a:pPr>
            <a:r>
              <a:rPr lang="en-US" sz="1800" i="1" dirty="0">
                <a:solidFill>
                  <a:srgbClr val="0A0F1E"/>
                </a:solidFill>
                <a:latin typeface="Calibri" pitchFamily="34" charset="0"/>
                <a:ea typeface="Calibri" pitchFamily="34" charset="-122"/>
                <a:cs typeface="Calibri" pitchFamily="34" charset="-120"/>
              </a:rPr>
              <a:t>"Represent data as a set of tables. Use shared column values — not pointers — to link records in different tables."</a:t>
            </a:r>
            <a:endParaRPr lang="en-US" sz="1800" dirty="0"/>
          </a:p>
        </p:txBody>
      </p:sp>
      <p:sp>
        <p:nvSpPr>
          <p:cNvPr id="9" name="Text 7"/>
          <p:cNvSpPr/>
          <p:nvPr/>
        </p:nvSpPr>
        <p:spPr>
          <a:xfrm>
            <a:off x="640080" y="2267712"/>
            <a:ext cx="10881360" cy="256032"/>
          </a:xfrm>
          <a:prstGeom prst="rect">
            <a:avLst/>
          </a:prstGeom>
          <a:noFill/>
          <a:ln/>
        </p:spPr>
        <p:txBody>
          <a:bodyPr wrap="square" rtlCol="0" anchor="ctr"/>
          <a:lstStyle/>
          <a:p>
            <a:pPr indent="0" marL="0">
              <a:buNone/>
            </a:pPr>
            <a:r>
              <a:rPr lang="en-US" sz="1100" i="1" dirty="0">
                <a:solidFill>
                  <a:srgbClr val="7B93B3"/>
                </a:solidFill>
                <a:latin typeface="Calibri" pitchFamily="34" charset="0"/>
                <a:ea typeface="Calibri" pitchFamily="34" charset="-122"/>
                <a:cs typeface="Calibri" pitchFamily="34" charset="-120"/>
              </a:rPr>
              <a:t>— Dr. E.F. Codd  |  A Relational Model of Data for Large Shared Data Banks, 1970</a:t>
            </a:r>
            <a:endParaRPr lang="en-US" sz="1100" dirty="0"/>
          </a:p>
        </p:txBody>
      </p:sp>
      <p:sp>
        <p:nvSpPr>
          <p:cNvPr id="10" name="Shape 8"/>
          <p:cNvSpPr/>
          <p:nvPr/>
        </p:nvSpPr>
        <p:spPr>
          <a:xfrm>
            <a:off x="457200" y="2606040"/>
            <a:ext cx="2651760" cy="438912"/>
          </a:xfrm>
          <a:prstGeom prst="rect">
            <a:avLst/>
          </a:prstGeom>
          <a:solidFill>
            <a:srgbClr val="00C2CB"/>
          </a:solidFill>
          <a:ln w="12700">
            <a:solidFill>
              <a:srgbClr val="00C2CB"/>
            </a:solidFill>
            <a:prstDash val="solid"/>
          </a:ln>
        </p:spPr>
      </p:sp>
      <p:sp>
        <p:nvSpPr>
          <p:cNvPr id="11" name="Text 9"/>
          <p:cNvSpPr/>
          <p:nvPr/>
        </p:nvSpPr>
        <p:spPr>
          <a:xfrm>
            <a:off x="457200" y="2606040"/>
            <a:ext cx="2651760" cy="438912"/>
          </a:xfrm>
          <a:prstGeom prst="rect">
            <a:avLst/>
          </a:prstGeom>
          <a:noFill/>
          <a:ln/>
        </p:spPr>
        <p:txBody>
          <a:bodyPr wrap="square" rtlCol="0" anchor="ctr"/>
          <a:lstStyle/>
          <a:p>
            <a:pPr algn="ctr" indent="0" marL="0">
              <a:buNone/>
            </a:pPr>
            <a:r>
              <a:rPr lang="en-US" sz="1200" b="1" dirty="0">
                <a:solidFill>
                  <a:srgbClr val="0A0F1E"/>
                </a:solidFill>
                <a:latin typeface="Calibri" pitchFamily="34" charset="0"/>
                <a:ea typeface="Calibri" pitchFamily="34" charset="-122"/>
                <a:cs typeface="Calibri" pitchFamily="34" charset="-120"/>
              </a:rPr>
              <a:t>CUSTOMER</a:t>
            </a:r>
            <a:endParaRPr lang="en-US" sz="1200" dirty="0"/>
          </a:p>
        </p:txBody>
      </p:sp>
      <p:sp>
        <p:nvSpPr>
          <p:cNvPr id="12" name="Shape 10"/>
          <p:cNvSpPr/>
          <p:nvPr/>
        </p:nvSpPr>
        <p:spPr>
          <a:xfrm>
            <a:off x="457200" y="3044952"/>
            <a:ext cx="2651760" cy="457200"/>
          </a:xfrm>
          <a:prstGeom prst="rect">
            <a:avLst/>
          </a:prstGeom>
          <a:solidFill>
            <a:srgbClr val="F8FAFF"/>
          </a:solidFill>
          <a:ln w="12700">
            <a:solidFill>
              <a:srgbClr val="D1E5F5"/>
            </a:solidFill>
            <a:prstDash val="solid"/>
          </a:ln>
        </p:spPr>
      </p:sp>
      <p:sp>
        <p:nvSpPr>
          <p:cNvPr id="13" name="Text 11"/>
          <p:cNvSpPr/>
          <p:nvPr/>
        </p:nvSpPr>
        <p:spPr>
          <a:xfrm>
            <a:off x="548640" y="30449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cust_id 🔑</a:t>
            </a:r>
            <a:endParaRPr lang="en-US" sz="1100" dirty="0"/>
          </a:p>
        </p:txBody>
      </p:sp>
      <p:sp>
        <p:nvSpPr>
          <p:cNvPr id="14" name="Text 12"/>
          <p:cNvSpPr/>
          <p:nvPr/>
        </p:nvSpPr>
        <p:spPr>
          <a:xfrm>
            <a:off x="2240280" y="3044952"/>
            <a:ext cx="777240" cy="457200"/>
          </a:xfrm>
          <a:prstGeom prst="rect">
            <a:avLst/>
          </a:prstGeom>
          <a:noFill/>
          <a:ln/>
        </p:spPr>
        <p:txBody>
          <a:bodyPr wrap="square" rtlCol="0" anchor="ctr"/>
          <a:lstStyle/>
          <a:p>
            <a:pPr algn="r" indent="0" marL="0">
              <a:buNone/>
            </a:pPr>
            <a:r>
              <a:rPr lang="en-US" sz="1100" b="1" dirty="0">
                <a:solidFill>
                  <a:srgbClr val="00C2CB"/>
                </a:solidFill>
                <a:latin typeface="Calibri" pitchFamily="34" charset="0"/>
                <a:ea typeface="Calibri" pitchFamily="34" charset="-122"/>
                <a:cs typeface="Calibri" pitchFamily="34" charset="-120"/>
              </a:rPr>
              <a:t>1</a:t>
            </a:r>
            <a:endParaRPr lang="en-US" sz="1100" dirty="0"/>
          </a:p>
        </p:txBody>
      </p:sp>
      <p:sp>
        <p:nvSpPr>
          <p:cNvPr id="15" name="Shape 13"/>
          <p:cNvSpPr/>
          <p:nvPr/>
        </p:nvSpPr>
        <p:spPr>
          <a:xfrm>
            <a:off x="457200" y="3502152"/>
            <a:ext cx="2651760" cy="457200"/>
          </a:xfrm>
          <a:prstGeom prst="rect">
            <a:avLst/>
          </a:prstGeom>
          <a:solidFill>
            <a:srgbClr val="FFFFFF"/>
          </a:solidFill>
          <a:ln w="12700">
            <a:solidFill>
              <a:srgbClr val="D1E5F5"/>
            </a:solidFill>
            <a:prstDash val="solid"/>
          </a:ln>
        </p:spPr>
      </p:sp>
      <p:sp>
        <p:nvSpPr>
          <p:cNvPr id="16" name="Text 14"/>
          <p:cNvSpPr/>
          <p:nvPr/>
        </p:nvSpPr>
        <p:spPr>
          <a:xfrm>
            <a:off x="548640" y="35021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fname</a:t>
            </a:r>
            <a:endParaRPr lang="en-US" sz="1100" dirty="0"/>
          </a:p>
        </p:txBody>
      </p:sp>
      <p:sp>
        <p:nvSpPr>
          <p:cNvPr id="17" name="Text 15"/>
          <p:cNvSpPr/>
          <p:nvPr/>
        </p:nvSpPr>
        <p:spPr>
          <a:xfrm>
            <a:off x="2240280" y="3502152"/>
            <a:ext cx="777240" cy="457200"/>
          </a:xfrm>
          <a:prstGeom prst="rect">
            <a:avLst/>
          </a:prstGeom>
          <a:noFill/>
          <a:ln/>
        </p:spPr>
        <p:txBody>
          <a:bodyPr wrap="square" rtlCol="0" anchor="ctr"/>
          <a:lstStyle/>
          <a:p>
            <a:pPr algn="r" indent="0" marL="0">
              <a:buNone/>
            </a:pPr>
            <a:r>
              <a:rPr lang="en-US" sz="1100" b="1" dirty="0">
                <a:solidFill>
                  <a:srgbClr val="00C2CB"/>
                </a:solidFill>
                <a:latin typeface="Calibri" pitchFamily="34" charset="0"/>
                <a:ea typeface="Calibri" pitchFamily="34" charset="-122"/>
                <a:cs typeface="Calibri" pitchFamily="34" charset="-120"/>
              </a:rPr>
              <a:t>George</a:t>
            </a:r>
            <a:endParaRPr lang="en-US" sz="1100" dirty="0"/>
          </a:p>
        </p:txBody>
      </p:sp>
      <p:sp>
        <p:nvSpPr>
          <p:cNvPr id="18" name="Shape 16"/>
          <p:cNvSpPr/>
          <p:nvPr/>
        </p:nvSpPr>
        <p:spPr>
          <a:xfrm>
            <a:off x="457200" y="3959352"/>
            <a:ext cx="2651760" cy="457200"/>
          </a:xfrm>
          <a:prstGeom prst="rect">
            <a:avLst/>
          </a:prstGeom>
          <a:solidFill>
            <a:srgbClr val="F8FAFF"/>
          </a:solidFill>
          <a:ln w="12700">
            <a:solidFill>
              <a:srgbClr val="D1E5F5"/>
            </a:solidFill>
            <a:prstDash val="solid"/>
          </a:ln>
        </p:spPr>
      </p:sp>
      <p:sp>
        <p:nvSpPr>
          <p:cNvPr id="19" name="Text 17"/>
          <p:cNvSpPr/>
          <p:nvPr/>
        </p:nvSpPr>
        <p:spPr>
          <a:xfrm>
            <a:off x="548640" y="39593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lname</a:t>
            </a:r>
            <a:endParaRPr lang="en-US" sz="1100" dirty="0"/>
          </a:p>
        </p:txBody>
      </p:sp>
      <p:sp>
        <p:nvSpPr>
          <p:cNvPr id="20" name="Text 18"/>
          <p:cNvSpPr/>
          <p:nvPr/>
        </p:nvSpPr>
        <p:spPr>
          <a:xfrm>
            <a:off x="2240280" y="3959352"/>
            <a:ext cx="777240" cy="457200"/>
          </a:xfrm>
          <a:prstGeom prst="rect">
            <a:avLst/>
          </a:prstGeom>
          <a:noFill/>
          <a:ln/>
        </p:spPr>
        <p:txBody>
          <a:bodyPr wrap="square" rtlCol="0" anchor="ctr"/>
          <a:lstStyle/>
          <a:p>
            <a:pPr algn="r" indent="0" marL="0">
              <a:buNone/>
            </a:pPr>
            <a:r>
              <a:rPr lang="en-US" sz="1100" b="1" dirty="0">
                <a:solidFill>
                  <a:srgbClr val="00C2CB"/>
                </a:solidFill>
                <a:latin typeface="Calibri" pitchFamily="34" charset="0"/>
                <a:ea typeface="Calibri" pitchFamily="34" charset="-122"/>
                <a:cs typeface="Calibri" pitchFamily="34" charset="-120"/>
              </a:rPr>
              <a:t>Blake</a:t>
            </a:r>
            <a:endParaRPr lang="en-US" sz="1100" dirty="0"/>
          </a:p>
        </p:txBody>
      </p:sp>
      <p:sp>
        <p:nvSpPr>
          <p:cNvPr id="21" name="Shape 19"/>
          <p:cNvSpPr/>
          <p:nvPr/>
        </p:nvSpPr>
        <p:spPr>
          <a:xfrm>
            <a:off x="457200" y="4416552"/>
            <a:ext cx="2651760" cy="457200"/>
          </a:xfrm>
          <a:prstGeom prst="rect">
            <a:avLst/>
          </a:prstGeom>
          <a:solidFill>
            <a:srgbClr val="FFFFFF"/>
          </a:solidFill>
          <a:ln w="12700">
            <a:solidFill>
              <a:srgbClr val="D1E5F5"/>
            </a:solidFill>
            <a:prstDash val="solid"/>
          </a:ln>
        </p:spPr>
      </p:sp>
      <p:sp>
        <p:nvSpPr>
          <p:cNvPr id="22" name="Text 20"/>
          <p:cNvSpPr/>
          <p:nvPr/>
        </p:nvSpPr>
        <p:spPr>
          <a:xfrm>
            <a:off x="548640" y="44165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city</a:t>
            </a:r>
            <a:endParaRPr lang="en-US" sz="1100" dirty="0"/>
          </a:p>
        </p:txBody>
      </p:sp>
      <p:sp>
        <p:nvSpPr>
          <p:cNvPr id="23" name="Text 21"/>
          <p:cNvSpPr/>
          <p:nvPr/>
        </p:nvSpPr>
        <p:spPr>
          <a:xfrm>
            <a:off x="2240280" y="4416552"/>
            <a:ext cx="777240" cy="457200"/>
          </a:xfrm>
          <a:prstGeom prst="rect">
            <a:avLst/>
          </a:prstGeom>
          <a:noFill/>
          <a:ln/>
        </p:spPr>
        <p:txBody>
          <a:bodyPr wrap="square" rtlCol="0" anchor="ctr"/>
          <a:lstStyle/>
          <a:p>
            <a:pPr algn="r" indent="0" marL="0">
              <a:buNone/>
            </a:pPr>
            <a:r>
              <a:rPr lang="en-US" sz="1100" b="1" dirty="0">
                <a:solidFill>
                  <a:srgbClr val="00C2CB"/>
                </a:solidFill>
                <a:latin typeface="Calibri" pitchFamily="34" charset="0"/>
                <a:ea typeface="Calibri" pitchFamily="34" charset="-122"/>
                <a:cs typeface="Calibri" pitchFamily="34" charset="-120"/>
              </a:rPr>
              <a:t>Mumbai</a:t>
            </a:r>
            <a:endParaRPr lang="en-US" sz="1100" dirty="0"/>
          </a:p>
        </p:txBody>
      </p:sp>
      <p:sp>
        <p:nvSpPr>
          <p:cNvPr id="24" name="Text 22"/>
          <p:cNvSpPr/>
          <p:nvPr/>
        </p:nvSpPr>
        <p:spPr>
          <a:xfrm>
            <a:off x="3108960" y="3200400"/>
            <a:ext cx="274320" cy="457200"/>
          </a:xfrm>
          <a:prstGeom prst="rect">
            <a:avLst/>
          </a:prstGeom>
          <a:noFill/>
          <a:ln/>
        </p:spPr>
        <p:txBody>
          <a:bodyPr wrap="square" rtlCol="0" anchor="ctr"/>
          <a:lstStyle/>
          <a:p>
            <a:pPr algn="ctr" indent="0" marL="0">
              <a:buNone/>
            </a:pPr>
            <a:r>
              <a:rPr lang="en-US" sz="1400" dirty="0">
                <a:solidFill>
                  <a:srgbClr val="7B93B3"/>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3383280" y="2606040"/>
            <a:ext cx="2651760" cy="438912"/>
          </a:xfrm>
          <a:prstGeom prst="rect">
            <a:avLst/>
          </a:prstGeom>
          <a:solidFill>
            <a:srgbClr val="38B2F0"/>
          </a:solidFill>
          <a:ln w="12700">
            <a:solidFill>
              <a:srgbClr val="38B2F0"/>
            </a:solidFill>
            <a:prstDash val="solid"/>
          </a:ln>
        </p:spPr>
      </p:sp>
      <p:sp>
        <p:nvSpPr>
          <p:cNvPr id="26" name="Text 24"/>
          <p:cNvSpPr/>
          <p:nvPr/>
        </p:nvSpPr>
        <p:spPr>
          <a:xfrm>
            <a:off x="3383280" y="2606040"/>
            <a:ext cx="2651760" cy="438912"/>
          </a:xfrm>
          <a:prstGeom prst="rect">
            <a:avLst/>
          </a:prstGeom>
          <a:noFill/>
          <a:ln/>
        </p:spPr>
        <p:txBody>
          <a:bodyPr wrap="square" rtlCol="0" anchor="ctr"/>
          <a:lstStyle/>
          <a:p>
            <a:pPr algn="ctr" indent="0" marL="0">
              <a:buNone/>
            </a:pPr>
            <a:r>
              <a:rPr lang="en-US" sz="1200" b="1" dirty="0">
                <a:solidFill>
                  <a:srgbClr val="0A0F1E"/>
                </a:solidFill>
                <a:latin typeface="Calibri" pitchFamily="34" charset="0"/>
                <a:ea typeface="Calibri" pitchFamily="34" charset="-122"/>
                <a:cs typeface="Calibri" pitchFamily="34" charset="-120"/>
              </a:rPr>
              <a:t>ACCOUNT</a:t>
            </a:r>
            <a:endParaRPr lang="en-US" sz="1200" dirty="0"/>
          </a:p>
        </p:txBody>
      </p:sp>
      <p:sp>
        <p:nvSpPr>
          <p:cNvPr id="27" name="Shape 25"/>
          <p:cNvSpPr/>
          <p:nvPr/>
        </p:nvSpPr>
        <p:spPr>
          <a:xfrm>
            <a:off x="3383280" y="3044952"/>
            <a:ext cx="2651760" cy="457200"/>
          </a:xfrm>
          <a:prstGeom prst="rect">
            <a:avLst/>
          </a:prstGeom>
          <a:solidFill>
            <a:srgbClr val="F8FAFF"/>
          </a:solidFill>
          <a:ln w="12700">
            <a:solidFill>
              <a:srgbClr val="D1E5F5"/>
            </a:solidFill>
            <a:prstDash val="solid"/>
          </a:ln>
        </p:spPr>
      </p:sp>
      <p:sp>
        <p:nvSpPr>
          <p:cNvPr id="28" name="Text 26"/>
          <p:cNvSpPr/>
          <p:nvPr/>
        </p:nvSpPr>
        <p:spPr>
          <a:xfrm>
            <a:off x="3474720" y="30449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account_id 🔑</a:t>
            </a:r>
            <a:endParaRPr lang="en-US" sz="1100" dirty="0"/>
          </a:p>
        </p:txBody>
      </p:sp>
      <p:sp>
        <p:nvSpPr>
          <p:cNvPr id="29" name="Text 27"/>
          <p:cNvSpPr/>
          <p:nvPr/>
        </p:nvSpPr>
        <p:spPr>
          <a:xfrm>
            <a:off x="5166360" y="3044952"/>
            <a:ext cx="777240" cy="457200"/>
          </a:xfrm>
          <a:prstGeom prst="rect">
            <a:avLst/>
          </a:prstGeom>
          <a:noFill/>
          <a:ln/>
        </p:spPr>
        <p:txBody>
          <a:bodyPr wrap="square" rtlCol="0" anchor="ctr"/>
          <a:lstStyle/>
          <a:p>
            <a:pPr algn="r" indent="0" marL="0">
              <a:buNone/>
            </a:pPr>
            <a:r>
              <a:rPr lang="en-US" sz="1100" b="1" dirty="0">
                <a:solidFill>
                  <a:srgbClr val="38B2F0"/>
                </a:solidFill>
                <a:latin typeface="Calibri" pitchFamily="34" charset="0"/>
                <a:ea typeface="Calibri" pitchFamily="34" charset="-122"/>
                <a:cs typeface="Calibri" pitchFamily="34" charset="-120"/>
              </a:rPr>
              <a:t>103</a:t>
            </a:r>
            <a:endParaRPr lang="en-US" sz="1100" dirty="0"/>
          </a:p>
        </p:txBody>
      </p:sp>
      <p:sp>
        <p:nvSpPr>
          <p:cNvPr id="30" name="Shape 28"/>
          <p:cNvSpPr/>
          <p:nvPr/>
        </p:nvSpPr>
        <p:spPr>
          <a:xfrm>
            <a:off x="3383280" y="3502152"/>
            <a:ext cx="2651760" cy="457200"/>
          </a:xfrm>
          <a:prstGeom prst="rect">
            <a:avLst/>
          </a:prstGeom>
          <a:solidFill>
            <a:srgbClr val="FFFFFF"/>
          </a:solidFill>
          <a:ln w="12700">
            <a:solidFill>
              <a:srgbClr val="D1E5F5"/>
            </a:solidFill>
            <a:prstDash val="solid"/>
          </a:ln>
        </p:spPr>
      </p:sp>
      <p:sp>
        <p:nvSpPr>
          <p:cNvPr id="31" name="Text 29"/>
          <p:cNvSpPr/>
          <p:nvPr/>
        </p:nvSpPr>
        <p:spPr>
          <a:xfrm>
            <a:off x="3474720" y="35021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cust_id 🔗</a:t>
            </a:r>
            <a:endParaRPr lang="en-US" sz="1100" dirty="0"/>
          </a:p>
        </p:txBody>
      </p:sp>
      <p:sp>
        <p:nvSpPr>
          <p:cNvPr id="32" name="Text 30"/>
          <p:cNvSpPr/>
          <p:nvPr/>
        </p:nvSpPr>
        <p:spPr>
          <a:xfrm>
            <a:off x="5166360" y="3502152"/>
            <a:ext cx="777240" cy="457200"/>
          </a:xfrm>
          <a:prstGeom prst="rect">
            <a:avLst/>
          </a:prstGeom>
          <a:noFill/>
          <a:ln/>
        </p:spPr>
        <p:txBody>
          <a:bodyPr wrap="square" rtlCol="0" anchor="ctr"/>
          <a:lstStyle/>
          <a:p>
            <a:pPr algn="r" indent="0" marL="0">
              <a:buNone/>
            </a:pPr>
            <a:r>
              <a:rPr lang="en-US" sz="1100" b="1" dirty="0">
                <a:solidFill>
                  <a:srgbClr val="38B2F0"/>
                </a:solidFill>
                <a:latin typeface="Calibri" pitchFamily="34" charset="0"/>
                <a:ea typeface="Calibri" pitchFamily="34" charset="-122"/>
                <a:cs typeface="Calibri" pitchFamily="34" charset="-120"/>
              </a:rPr>
              <a:t>1</a:t>
            </a:r>
            <a:endParaRPr lang="en-US" sz="1100" dirty="0"/>
          </a:p>
        </p:txBody>
      </p:sp>
      <p:sp>
        <p:nvSpPr>
          <p:cNvPr id="33" name="Shape 31"/>
          <p:cNvSpPr/>
          <p:nvPr/>
        </p:nvSpPr>
        <p:spPr>
          <a:xfrm>
            <a:off x="3383280" y="3959352"/>
            <a:ext cx="2651760" cy="457200"/>
          </a:xfrm>
          <a:prstGeom prst="rect">
            <a:avLst/>
          </a:prstGeom>
          <a:solidFill>
            <a:srgbClr val="F8FAFF"/>
          </a:solidFill>
          <a:ln w="12700">
            <a:solidFill>
              <a:srgbClr val="D1E5F5"/>
            </a:solidFill>
            <a:prstDash val="solid"/>
          </a:ln>
        </p:spPr>
      </p:sp>
      <p:sp>
        <p:nvSpPr>
          <p:cNvPr id="34" name="Text 32"/>
          <p:cNvSpPr/>
          <p:nvPr/>
        </p:nvSpPr>
        <p:spPr>
          <a:xfrm>
            <a:off x="3474720" y="39593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product_cd 🔗</a:t>
            </a:r>
            <a:endParaRPr lang="en-US" sz="1100" dirty="0"/>
          </a:p>
        </p:txBody>
      </p:sp>
      <p:sp>
        <p:nvSpPr>
          <p:cNvPr id="35" name="Text 33"/>
          <p:cNvSpPr/>
          <p:nvPr/>
        </p:nvSpPr>
        <p:spPr>
          <a:xfrm>
            <a:off x="5166360" y="3959352"/>
            <a:ext cx="777240" cy="457200"/>
          </a:xfrm>
          <a:prstGeom prst="rect">
            <a:avLst/>
          </a:prstGeom>
          <a:noFill/>
          <a:ln/>
        </p:spPr>
        <p:txBody>
          <a:bodyPr wrap="square" rtlCol="0" anchor="ctr"/>
          <a:lstStyle/>
          <a:p>
            <a:pPr algn="r" indent="0" marL="0">
              <a:buNone/>
            </a:pPr>
            <a:r>
              <a:rPr lang="en-US" sz="1100" b="1" dirty="0">
                <a:solidFill>
                  <a:srgbClr val="38B2F0"/>
                </a:solidFill>
                <a:latin typeface="Calibri" pitchFamily="34" charset="0"/>
                <a:ea typeface="Calibri" pitchFamily="34" charset="-122"/>
                <a:cs typeface="Calibri" pitchFamily="34" charset="-120"/>
              </a:rPr>
              <a:t>CHK</a:t>
            </a:r>
            <a:endParaRPr lang="en-US" sz="1100" dirty="0"/>
          </a:p>
        </p:txBody>
      </p:sp>
      <p:sp>
        <p:nvSpPr>
          <p:cNvPr id="36" name="Shape 34"/>
          <p:cNvSpPr/>
          <p:nvPr/>
        </p:nvSpPr>
        <p:spPr>
          <a:xfrm>
            <a:off x="3383280" y="4416552"/>
            <a:ext cx="2651760" cy="457200"/>
          </a:xfrm>
          <a:prstGeom prst="rect">
            <a:avLst/>
          </a:prstGeom>
          <a:solidFill>
            <a:srgbClr val="FFFFFF"/>
          </a:solidFill>
          <a:ln w="12700">
            <a:solidFill>
              <a:srgbClr val="D1E5F5"/>
            </a:solidFill>
            <a:prstDash val="solid"/>
          </a:ln>
        </p:spPr>
      </p:sp>
      <p:sp>
        <p:nvSpPr>
          <p:cNvPr id="37" name="Text 35"/>
          <p:cNvSpPr/>
          <p:nvPr/>
        </p:nvSpPr>
        <p:spPr>
          <a:xfrm>
            <a:off x="3474720" y="44165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balance</a:t>
            </a:r>
            <a:endParaRPr lang="en-US" sz="1100" dirty="0"/>
          </a:p>
        </p:txBody>
      </p:sp>
      <p:sp>
        <p:nvSpPr>
          <p:cNvPr id="38" name="Text 36"/>
          <p:cNvSpPr/>
          <p:nvPr/>
        </p:nvSpPr>
        <p:spPr>
          <a:xfrm>
            <a:off x="5166360" y="4416552"/>
            <a:ext cx="777240" cy="457200"/>
          </a:xfrm>
          <a:prstGeom prst="rect">
            <a:avLst/>
          </a:prstGeom>
          <a:noFill/>
          <a:ln/>
        </p:spPr>
        <p:txBody>
          <a:bodyPr wrap="square" rtlCol="0" anchor="ctr"/>
          <a:lstStyle/>
          <a:p>
            <a:pPr algn="r" indent="0" marL="0">
              <a:buNone/>
            </a:pPr>
            <a:r>
              <a:rPr lang="en-US" sz="1100" b="1" dirty="0">
                <a:solidFill>
                  <a:srgbClr val="38B2F0"/>
                </a:solidFill>
                <a:latin typeface="Calibri" pitchFamily="34" charset="0"/>
                <a:ea typeface="Calibri" pitchFamily="34" charset="-122"/>
                <a:cs typeface="Calibri" pitchFamily="34" charset="-120"/>
              </a:rPr>
              <a:t>$75.00</a:t>
            </a:r>
            <a:endParaRPr lang="en-US" sz="1100" dirty="0"/>
          </a:p>
        </p:txBody>
      </p:sp>
      <p:sp>
        <p:nvSpPr>
          <p:cNvPr id="39" name="Text 37"/>
          <p:cNvSpPr/>
          <p:nvPr/>
        </p:nvSpPr>
        <p:spPr>
          <a:xfrm>
            <a:off x="6035040" y="3200400"/>
            <a:ext cx="274320" cy="457200"/>
          </a:xfrm>
          <a:prstGeom prst="rect">
            <a:avLst/>
          </a:prstGeom>
          <a:noFill/>
          <a:ln/>
        </p:spPr>
        <p:txBody>
          <a:bodyPr wrap="square" rtlCol="0" anchor="ctr"/>
          <a:lstStyle/>
          <a:p>
            <a:pPr algn="ctr" indent="0" marL="0">
              <a:buNone/>
            </a:pPr>
            <a:r>
              <a:rPr lang="en-US" sz="1400" dirty="0">
                <a:solidFill>
                  <a:srgbClr val="7B93B3"/>
                </a:solidFill>
                <a:latin typeface="Calibri" pitchFamily="34" charset="0"/>
                <a:ea typeface="Calibri" pitchFamily="34" charset="-122"/>
                <a:cs typeface="Calibri" pitchFamily="34" charset="-120"/>
              </a:rPr>
              <a:t>→</a:t>
            </a:r>
            <a:endParaRPr lang="en-US" sz="1400" dirty="0"/>
          </a:p>
        </p:txBody>
      </p:sp>
      <p:sp>
        <p:nvSpPr>
          <p:cNvPr id="40" name="Shape 38"/>
          <p:cNvSpPr/>
          <p:nvPr/>
        </p:nvSpPr>
        <p:spPr>
          <a:xfrm>
            <a:off x="6309360" y="2606040"/>
            <a:ext cx="2651760" cy="438912"/>
          </a:xfrm>
          <a:prstGeom prst="rect">
            <a:avLst/>
          </a:prstGeom>
          <a:solidFill>
            <a:srgbClr val="FFB347"/>
          </a:solidFill>
          <a:ln w="12700">
            <a:solidFill>
              <a:srgbClr val="FFB347"/>
            </a:solidFill>
            <a:prstDash val="solid"/>
          </a:ln>
        </p:spPr>
      </p:sp>
      <p:sp>
        <p:nvSpPr>
          <p:cNvPr id="41" name="Text 39"/>
          <p:cNvSpPr/>
          <p:nvPr/>
        </p:nvSpPr>
        <p:spPr>
          <a:xfrm>
            <a:off x="6309360" y="2606040"/>
            <a:ext cx="2651760" cy="438912"/>
          </a:xfrm>
          <a:prstGeom prst="rect">
            <a:avLst/>
          </a:prstGeom>
          <a:noFill/>
          <a:ln/>
        </p:spPr>
        <p:txBody>
          <a:bodyPr wrap="square" rtlCol="0" anchor="ctr"/>
          <a:lstStyle/>
          <a:p>
            <a:pPr algn="ctr" indent="0" marL="0">
              <a:buNone/>
            </a:pPr>
            <a:r>
              <a:rPr lang="en-US" sz="1200" b="1" dirty="0">
                <a:solidFill>
                  <a:srgbClr val="0A0F1E"/>
                </a:solidFill>
                <a:latin typeface="Calibri" pitchFamily="34" charset="0"/>
                <a:ea typeface="Calibri" pitchFamily="34" charset="-122"/>
                <a:cs typeface="Calibri" pitchFamily="34" charset="-120"/>
              </a:rPr>
              <a:t>PRODUCT</a:t>
            </a:r>
            <a:endParaRPr lang="en-US" sz="1200" dirty="0"/>
          </a:p>
        </p:txBody>
      </p:sp>
      <p:sp>
        <p:nvSpPr>
          <p:cNvPr id="42" name="Shape 40"/>
          <p:cNvSpPr/>
          <p:nvPr/>
        </p:nvSpPr>
        <p:spPr>
          <a:xfrm>
            <a:off x="6309360" y="3044952"/>
            <a:ext cx="2651760" cy="457200"/>
          </a:xfrm>
          <a:prstGeom prst="rect">
            <a:avLst/>
          </a:prstGeom>
          <a:solidFill>
            <a:srgbClr val="F8FAFF"/>
          </a:solidFill>
          <a:ln w="12700">
            <a:solidFill>
              <a:srgbClr val="D1E5F5"/>
            </a:solidFill>
            <a:prstDash val="solid"/>
          </a:ln>
        </p:spPr>
      </p:sp>
      <p:sp>
        <p:nvSpPr>
          <p:cNvPr id="43" name="Text 41"/>
          <p:cNvSpPr/>
          <p:nvPr/>
        </p:nvSpPr>
        <p:spPr>
          <a:xfrm>
            <a:off x="6400800" y="30449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product_cd 🔑</a:t>
            </a:r>
            <a:endParaRPr lang="en-US" sz="1100" dirty="0"/>
          </a:p>
        </p:txBody>
      </p:sp>
      <p:sp>
        <p:nvSpPr>
          <p:cNvPr id="44" name="Text 42"/>
          <p:cNvSpPr/>
          <p:nvPr/>
        </p:nvSpPr>
        <p:spPr>
          <a:xfrm>
            <a:off x="8092440" y="3044952"/>
            <a:ext cx="777240" cy="457200"/>
          </a:xfrm>
          <a:prstGeom prst="rect">
            <a:avLst/>
          </a:prstGeom>
          <a:noFill/>
          <a:ln/>
        </p:spPr>
        <p:txBody>
          <a:bodyPr wrap="square" rtlCol="0" anchor="ctr"/>
          <a:lstStyle/>
          <a:p>
            <a:pPr algn="r" indent="0" marL="0">
              <a:buNone/>
            </a:pPr>
            <a:r>
              <a:rPr lang="en-US" sz="1100" b="1" dirty="0">
                <a:solidFill>
                  <a:srgbClr val="FFB347"/>
                </a:solidFill>
                <a:latin typeface="Calibri" pitchFamily="34" charset="0"/>
                <a:ea typeface="Calibri" pitchFamily="34" charset="-122"/>
                <a:cs typeface="Calibri" pitchFamily="34" charset="-120"/>
              </a:rPr>
              <a:t>CHK</a:t>
            </a:r>
            <a:endParaRPr lang="en-US" sz="1100" dirty="0"/>
          </a:p>
        </p:txBody>
      </p:sp>
      <p:sp>
        <p:nvSpPr>
          <p:cNvPr id="45" name="Shape 43"/>
          <p:cNvSpPr/>
          <p:nvPr/>
        </p:nvSpPr>
        <p:spPr>
          <a:xfrm>
            <a:off x="6309360" y="3502152"/>
            <a:ext cx="2651760" cy="457200"/>
          </a:xfrm>
          <a:prstGeom prst="rect">
            <a:avLst/>
          </a:prstGeom>
          <a:solidFill>
            <a:srgbClr val="FFFFFF"/>
          </a:solidFill>
          <a:ln w="12700">
            <a:solidFill>
              <a:srgbClr val="D1E5F5"/>
            </a:solidFill>
            <a:prstDash val="solid"/>
          </a:ln>
        </p:spPr>
      </p:sp>
      <p:sp>
        <p:nvSpPr>
          <p:cNvPr id="46" name="Text 44"/>
          <p:cNvSpPr/>
          <p:nvPr/>
        </p:nvSpPr>
        <p:spPr>
          <a:xfrm>
            <a:off x="6400800" y="35021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name</a:t>
            </a:r>
            <a:endParaRPr lang="en-US" sz="1100" dirty="0"/>
          </a:p>
        </p:txBody>
      </p:sp>
      <p:sp>
        <p:nvSpPr>
          <p:cNvPr id="47" name="Text 45"/>
          <p:cNvSpPr/>
          <p:nvPr/>
        </p:nvSpPr>
        <p:spPr>
          <a:xfrm>
            <a:off x="8092440" y="3502152"/>
            <a:ext cx="777240" cy="457200"/>
          </a:xfrm>
          <a:prstGeom prst="rect">
            <a:avLst/>
          </a:prstGeom>
          <a:noFill/>
          <a:ln/>
        </p:spPr>
        <p:txBody>
          <a:bodyPr wrap="square" rtlCol="0" anchor="ctr"/>
          <a:lstStyle/>
          <a:p>
            <a:pPr algn="r" indent="0" marL="0">
              <a:buNone/>
            </a:pPr>
            <a:r>
              <a:rPr lang="en-US" sz="1100" b="1" dirty="0">
                <a:solidFill>
                  <a:srgbClr val="FFB347"/>
                </a:solidFill>
                <a:latin typeface="Calibri" pitchFamily="34" charset="0"/>
                <a:ea typeface="Calibri" pitchFamily="34" charset="-122"/>
                <a:cs typeface="Calibri" pitchFamily="34" charset="-120"/>
              </a:rPr>
              <a:t>Checking</a:t>
            </a:r>
            <a:endParaRPr lang="en-US" sz="1100" dirty="0"/>
          </a:p>
        </p:txBody>
      </p:sp>
      <p:sp>
        <p:nvSpPr>
          <p:cNvPr id="48" name="Shape 46"/>
          <p:cNvSpPr/>
          <p:nvPr/>
        </p:nvSpPr>
        <p:spPr>
          <a:xfrm>
            <a:off x="6309360" y="3959352"/>
            <a:ext cx="2651760" cy="457200"/>
          </a:xfrm>
          <a:prstGeom prst="rect">
            <a:avLst/>
          </a:prstGeom>
          <a:solidFill>
            <a:srgbClr val="F8FAFF"/>
          </a:solidFill>
          <a:ln w="12700">
            <a:solidFill>
              <a:srgbClr val="D1E5F5"/>
            </a:solidFill>
            <a:prstDash val="solid"/>
          </a:ln>
        </p:spPr>
      </p:sp>
      <p:sp>
        <p:nvSpPr>
          <p:cNvPr id="49" name="Text 47"/>
          <p:cNvSpPr/>
          <p:nvPr/>
        </p:nvSpPr>
        <p:spPr>
          <a:xfrm>
            <a:off x="6400800" y="39593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a:t>
            </a:r>
            <a:endParaRPr lang="en-US" sz="1100" dirty="0"/>
          </a:p>
        </p:txBody>
      </p:sp>
      <p:sp>
        <p:nvSpPr>
          <p:cNvPr id="50" name="Text 48"/>
          <p:cNvSpPr/>
          <p:nvPr/>
        </p:nvSpPr>
        <p:spPr>
          <a:xfrm>
            <a:off x="8092440" y="3959352"/>
            <a:ext cx="777240" cy="457200"/>
          </a:xfrm>
          <a:prstGeom prst="rect">
            <a:avLst/>
          </a:prstGeom>
          <a:noFill/>
          <a:ln/>
        </p:spPr>
        <p:txBody>
          <a:bodyPr wrap="square" rtlCol="0" anchor="ctr"/>
          <a:lstStyle/>
          <a:p>
            <a:pPr algn="r" indent="0" marL="0">
              <a:buNone/>
            </a:pPr>
            <a:r>
              <a:rPr lang="en-US" sz="1100" b="1" dirty="0">
                <a:solidFill>
                  <a:srgbClr val="FFB347"/>
                </a:solidFill>
                <a:latin typeface="Calibri" pitchFamily="34" charset="0"/>
                <a:ea typeface="Calibri" pitchFamily="34" charset="-122"/>
                <a:cs typeface="Calibri" pitchFamily="34" charset="-120"/>
              </a:rPr>
              <a:t>—</a:t>
            </a:r>
            <a:endParaRPr lang="en-US" sz="1100" dirty="0"/>
          </a:p>
        </p:txBody>
      </p:sp>
      <p:sp>
        <p:nvSpPr>
          <p:cNvPr id="51" name="Shape 49"/>
          <p:cNvSpPr/>
          <p:nvPr/>
        </p:nvSpPr>
        <p:spPr>
          <a:xfrm>
            <a:off x="6309360" y="4416552"/>
            <a:ext cx="2651760" cy="457200"/>
          </a:xfrm>
          <a:prstGeom prst="rect">
            <a:avLst/>
          </a:prstGeom>
          <a:solidFill>
            <a:srgbClr val="FFFFFF"/>
          </a:solidFill>
          <a:ln w="12700">
            <a:solidFill>
              <a:srgbClr val="D1E5F5"/>
            </a:solidFill>
            <a:prstDash val="solid"/>
          </a:ln>
        </p:spPr>
      </p:sp>
      <p:sp>
        <p:nvSpPr>
          <p:cNvPr id="52" name="Text 50"/>
          <p:cNvSpPr/>
          <p:nvPr/>
        </p:nvSpPr>
        <p:spPr>
          <a:xfrm>
            <a:off x="6400800" y="44165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a:t>
            </a:r>
            <a:endParaRPr lang="en-US" sz="1100" dirty="0"/>
          </a:p>
        </p:txBody>
      </p:sp>
      <p:sp>
        <p:nvSpPr>
          <p:cNvPr id="53" name="Text 51"/>
          <p:cNvSpPr/>
          <p:nvPr/>
        </p:nvSpPr>
        <p:spPr>
          <a:xfrm>
            <a:off x="8092440" y="4416552"/>
            <a:ext cx="777240" cy="457200"/>
          </a:xfrm>
          <a:prstGeom prst="rect">
            <a:avLst/>
          </a:prstGeom>
          <a:noFill/>
          <a:ln/>
        </p:spPr>
        <p:txBody>
          <a:bodyPr wrap="square" rtlCol="0" anchor="ctr"/>
          <a:lstStyle/>
          <a:p>
            <a:pPr algn="r" indent="0" marL="0">
              <a:buNone/>
            </a:pPr>
            <a:r>
              <a:rPr lang="en-US" sz="1100" b="1" dirty="0">
                <a:solidFill>
                  <a:srgbClr val="FFB347"/>
                </a:solidFill>
                <a:latin typeface="Calibri" pitchFamily="34" charset="0"/>
                <a:ea typeface="Calibri" pitchFamily="34" charset="-122"/>
                <a:cs typeface="Calibri" pitchFamily="34" charset="-120"/>
              </a:rPr>
              <a:t>—</a:t>
            </a:r>
            <a:endParaRPr lang="en-US" sz="1100" dirty="0"/>
          </a:p>
        </p:txBody>
      </p:sp>
      <p:sp>
        <p:nvSpPr>
          <p:cNvPr id="54" name="Text 52"/>
          <p:cNvSpPr/>
          <p:nvPr/>
        </p:nvSpPr>
        <p:spPr>
          <a:xfrm>
            <a:off x="8961120" y="3200400"/>
            <a:ext cx="274320" cy="457200"/>
          </a:xfrm>
          <a:prstGeom prst="rect">
            <a:avLst/>
          </a:prstGeom>
          <a:noFill/>
          <a:ln/>
        </p:spPr>
        <p:txBody>
          <a:bodyPr wrap="square" rtlCol="0" anchor="ctr"/>
          <a:lstStyle/>
          <a:p>
            <a:pPr algn="ctr" indent="0" marL="0">
              <a:buNone/>
            </a:pPr>
            <a:r>
              <a:rPr lang="en-US" sz="1400" dirty="0">
                <a:solidFill>
                  <a:srgbClr val="7B93B3"/>
                </a:solidFill>
                <a:latin typeface="Calibri" pitchFamily="34" charset="0"/>
                <a:ea typeface="Calibri" pitchFamily="34" charset="-122"/>
                <a:cs typeface="Calibri" pitchFamily="34" charset="-120"/>
              </a:rPr>
              <a:t>→</a:t>
            </a:r>
            <a:endParaRPr lang="en-US" sz="1400" dirty="0"/>
          </a:p>
        </p:txBody>
      </p:sp>
      <p:sp>
        <p:nvSpPr>
          <p:cNvPr id="55" name="Shape 53"/>
          <p:cNvSpPr/>
          <p:nvPr/>
        </p:nvSpPr>
        <p:spPr>
          <a:xfrm>
            <a:off x="9235440" y="2606040"/>
            <a:ext cx="2651760" cy="438912"/>
          </a:xfrm>
          <a:prstGeom prst="rect">
            <a:avLst/>
          </a:prstGeom>
          <a:solidFill>
            <a:srgbClr val="52E3A3"/>
          </a:solidFill>
          <a:ln w="12700">
            <a:solidFill>
              <a:srgbClr val="52E3A3"/>
            </a:solidFill>
            <a:prstDash val="solid"/>
          </a:ln>
        </p:spPr>
      </p:sp>
      <p:sp>
        <p:nvSpPr>
          <p:cNvPr id="56" name="Text 54"/>
          <p:cNvSpPr/>
          <p:nvPr/>
        </p:nvSpPr>
        <p:spPr>
          <a:xfrm>
            <a:off x="9235440" y="2606040"/>
            <a:ext cx="2651760" cy="438912"/>
          </a:xfrm>
          <a:prstGeom prst="rect">
            <a:avLst/>
          </a:prstGeom>
          <a:noFill/>
          <a:ln/>
        </p:spPr>
        <p:txBody>
          <a:bodyPr wrap="square" rtlCol="0" anchor="ctr"/>
          <a:lstStyle/>
          <a:p>
            <a:pPr algn="ctr" indent="0" marL="0">
              <a:buNone/>
            </a:pPr>
            <a:r>
              <a:rPr lang="en-US" sz="1200" b="1" dirty="0">
                <a:solidFill>
                  <a:srgbClr val="0A0F1E"/>
                </a:solidFill>
                <a:latin typeface="Calibri" pitchFamily="34" charset="0"/>
                <a:ea typeface="Calibri" pitchFamily="34" charset="-122"/>
                <a:cs typeface="Calibri" pitchFamily="34" charset="-120"/>
              </a:rPr>
              <a:t>TRANSACTION</a:t>
            </a:r>
            <a:endParaRPr lang="en-US" sz="1200" dirty="0"/>
          </a:p>
        </p:txBody>
      </p:sp>
      <p:sp>
        <p:nvSpPr>
          <p:cNvPr id="57" name="Shape 55"/>
          <p:cNvSpPr/>
          <p:nvPr/>
        </p:nvSpPr>
        <p:spPr>
          <a:xfrm>
            <a:off x="9235440" y="3044952"/>
            <a:ext cx="2651760" cy="457200"/>
          </a:xfrm>
          <a:prstGeom prst="rect">
            <a:avLst/>
          </a:prstGeom>
          <a:solidFill>
            <a:srgbClr val="F8FAFF"/>
          </a:solidFill>
          <a:ln w="12700">
            <a:solidFill>
              <a:srgbClr val="D1E5F5"/>
            </a:solidFill>
            <a:prstDash val="solid"/>
          </a:ln>
        </p:spPr>
      </p:sp>
      <p:sp>
        <p:nvSpPr>
          <p:cNvPr id="58" name="Text 56"/>
          <p:cNvSpPr/>
          <p:nvPr/>
        </p:nvSpPr>
        <p:spPr>
          <a:xfrm>
            <a:off x="9326880" y="30449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txn_id 🔑</a:t>
            </a:r>
            <a:endParaRPr lang="en-US" sz="1100" dirty="0"/>
          </a:p>
        </p:txBody>
      </p:sp>
      <p:sp>
        <p:nvSpPr>
          <p:cNvPr id="59" name="Text 57"/>
          <p:cNvSpPr/>
          <p:nvPr/>
        </p:nvSpPr>
        <p:spPr>
          <a:xfrm>
            <a:off x="11018520" y="3044952"/>
            <a:ext cx="777240" cy="457200"/>
          </a:xfrm>
          <a:prstGeom prst="rect">
            <a:avLst/>
          </a:prstGeom>
          <a:noFill/>
          <a:ln/>
        </p:spPr>
        <p:txBody>
          <a:bodyPr wrap="square" rtlCol="0" anchor="ctr"/>
          <a:lstStyle/>
          <a:p>
            <a:pPr algn="r" indent="0" marL="0">
              <a:buNone/>
            </a:pPr>
            <a:r>
              <a:rPr lang="en-US" sz="1100" b="1" dirty="0">
                <a:solidFill>
                  <a:srgbClr val="52E3A3"/>
                </a:solidFill>
                <a:latin typeface="Calibri" pitchFamily="34" charset="0"/>
                <a:ea typeface="Calibri" pitchFamily="34" charset="-122"/>
                <a:cs typeface="Calibri" pitchFamily="34" charset="-120"/>
              </a:rPr>
              <a:t>978</a:t>
            </a:r>
            <a:endParaRPr lang="en-US" sz="1100" dirty="0"/>
          </a:p>
        </p:txBody>
      </p:sp>
      <p:sp>
        <p:nvSpPr>
          <p:cNvPr id="60" name="Shape 58"/>
          <p:cNvSpPr/>
          <p:nvPr/>
        </p:nvSpPr>
        <p:spPr>
          <a:xfrm>
            <a:off x="9235440" y="3502152"/>
            <a:ext cx="2651760" cy="457200"/>
          </a:xfrm>
          <a:prstGeom prst="rect">
            <a:avLst/>
          </a:prstGeom>
          <a:solidFill>
            <a:srgbClr val="FFFFFF"/>
          </a:solidFill>
          <a:ln w="12700">
            <a:solidFill>
              <a:srgbClr val="D1E5F5"/>
            </a:solidFill>
            <a:prstDash val="solid"/>
          </a:ln>
        </p:spPr>
      </p:sp>
      <p:sp>
        <p:nvSpPr>
          <p:cNvPr id="61" name="Text 59"/>
          <p:cNvSpPr/>
          <p:nvPr/>
        </p:nvSpPr>
        <p:spPr>
          <a:xfrm>
            <a:off x="9326880" y="35021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account_id 🔗</a:t>
            </a:r>
            <a:endParaRPr lang="en-US" sz="1100" dirty="0"/>
          </a:p>
        </p:txBody>
      </p:sp>
      <p:sp>
        <p:nvSpPr>
          <p:cNvPr id="62" name="Text 60"/>
          <p:cNvSpPr/>
          <p:nvPr/>
        </p:nvSpPr>
        <p:spPr>
          <a:xfrm>
            <a:off x="11018520" y="3502152"/>
            <a:ext cx="777240" cy="457200"/>
          </a:xfrm>
          <a:prstGeom prst="rect">
            <a:avLst/>
          </a:prstGeom>
          <a:noFill/>
          <a:ln/>
        </p:spPr>
        <p:txBody>
          <a:bodyPr wrap="square" rtlCol="0" anchor="ctr"/>
          <a:lstStyle/>
          <a:p>
            <a:pPr algn="r" indent="0" marL="0">
              <a:buNone/>
            </a:pPr>
            <a:r>
              <a:rPr lang="en-US" sz="1100" b="1" dirty="0">
                <a:solidFill>
                  <a:srgbClr val="52E3A3"/>
                </a:solidFill>
                <a:latin typeface="Calibri" pitchFamily="34" charset="0"/>
                <a:ea typeface="Calibri" pitchFamily="34" charset="-122"/>
                <a:cs typeface="Calibri" pitchFamily="34" charset="-120"/>
              </a:rPr>
              <a:t>103</a:t>
            </a:r>
            <a:endParaRPr lang="en-US" sz="1100" dirty="0"/>
          </a:p>
        </p:txBody>
      </p:sp>
      <p:sp>
        <p:nvSpPr>
          <p:cNvPr id="63" name="Shape 61"/>
          <p:cNvSpPr/>
          <p:nvPr/>
        </p:nvSpPr>
        <p:spPr>
          <a:xfrm>
            <a:off x="9235440" y="3959352"/>
            <a:ext cx="2651760" cy="457200"/>
          </a:xfrm>
          <a:prstGeom prst="rect">
            <a:avLst/>
          </a:prstGeom>
          <a:solidFill>
            <a:srgbClr val="F8FAFF"/>
          </a:solidFill>
          <a:ln w="12700">
            <a:solidFill>
              <a:srgbClr val="D1E5F5"/>
            </a:solidFill>
            <a:prstDash val="solid"/>
          </a:ln>
        </p:spPr>
      </p:sp>
      <p:sp>
        <p:nvSpPr>
          <p:cNvPr id="64" name="Text 62"/>
          <p:cNvSpPr/>
          <p:nvPr/>
        </p:nvSpPr>
        <p:spPr>
          <a:xfrm>
            <a:off x="9326880" y="39593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type</a:t>
            </a:r>
            <a:endParaRPr lang="en-US" sz="1100" dirty="0"/>
          </a:p>
        </p:txBody>
      </p:sp>
      <p:sp>
        <p:nvSpPr>
          <p:cNvPr id="65" name="Text 63"/>
          <p:cNvSpPr/>
          <p:nvPr/>
        </p:nvSpPr>
        <p:spPr>
          <a:xfrm>
            <a:off x="11018520" y="3959352"/>
            <a:ext cx="777240" cy="457200"/>
          </a:xfrm>
          <a:prstGeom prst="rect">
            <a:avLst/>
          </a:prstGeom>
          <a:noFill/>
          <a:ln/>
        </p:spPr>
        <p:txBody>
          <a:bodyPr wrap="square" rtlCol="0" anchor="ctr"/>
          <a:lstStyle/>
          <a:p>
            <a:pPr algn="r" indent="0" marL="0">
              <a:buNone/>
            </a:pPr>
            <a:r>
              <a:rPr lang="en-US" sz="1100" b="1" dirty="0">
                <a:solidFill>
                  <a:srgbClr val="52E3A3"/>
                </a:solidFill>
                <a:latin typeface="Calibri" pitchFamily="34" charset="0"/>
                <a:ea typeface="Calibri" pitchFamily="34" charset="-122"/>
                <a:cs typeface="Calibri" pitchFamily="34" charset="-120"/>
              </a:rPr>
              <a:t>DBT</a:t>
            </a:r>
            <a:endParaRPr lang="en-US" sz="1100" dirty="0"/>
          </a:p>
        </p:txBody>
      </p:sp>
      <p:sp>
        <p:nvSpPr>
          <p:cNvPr id="66" name="Shape 64"/>
          <p:cNvSpPr/>
          <p:nvPr/>
        </p:nvSpPr>
        <p:spPr>
          <a:xfrm>
            <a:off x="9235440" y="4416552"/>
            <a:ext cx="2651760" cy="457200"/>
          </a:xfrm>
          <a:prstGeom prst="rect">
            <a:avLst/>
          </a:prstGeom>
          <a:solidFill>
            <a:srgbClr val="FFFFFF"/>
          </a:solidFill>
          <a:ln w="12700">
            <a:solidFill>
              <a:srgbClr val="D1E5F5"/>
            </a:solidFill>
            <a:prstDash val="solid"/>
          </a:ln>
        </p:spPr>
      </p:sp>
      <p:sp>
        <p:nvSpPr>
          <p:cNvPr id="67" name="Text 65"/>
          <p:cNvSpPr/>
          <p:nvPr/>
        </p:nvSpPr>
        <p:spPr>
          <a:xfrm>
            <a:off x="9326880" y="4416552"/>
            <a:ext cx="1691640" cy="457200"/>
          </a:xfrm>
          <a:prstGeom prst="rect">
            <a:avLst/>
          </a:prstGeom>
          <a:noFill/>
          <a:ln/>
        </p:spPr>
        <p:txBody>
          <a:bodyPr wrap="square" rtlCol="0" anchor="ctr"/>
          <a:lstStyle/>
          <a:p>
            <a:pPr indent="0" marL="0">
              <a:buNone/>
            </a:pPr>
            <a:r>
              <a:rPr lang="en-US" sz="1100" dirty="0">
                <a:solidFill>
                  <a:srgbClr val="0A0F1E"/>
                </a:solidFill>
                <a:latin typeface="Calibri" pitchFamily="34" charset="0"/>
                <a:ea typeface="Calibri" pitchFamily="34" charset="-122"/>
                <a:cs typeface="Calibri" pitchFamily="34" charset="-120"/>
              </a:rPr>
              <a:t>amount</a:t>
            </a:r>
            <a:endParaRPr lang="en-US" sz="1100" dirty="0"/>
          </a:p>
        </p:txBody>
      </p:sp>
      <p:sp>
        <p:nvSpPr>
          <p:cNvPr id="68" name="Text 66"/>
          <p:cNvSpPr/>
          <p:nvPr/>
        </p:nvSpPr>
        <p:spPr>
          <a:xfrm>
            <a:off x="11018520" y="4416552"/>
            <a:ext cx="777240" cy="457200"/>
          </a:xfrm>
          <a:prstGeom prst="rect">
            <a:avLst/>
          </a:prstGeom>
          <a:noFill/>
          <a:ln/>
        </p:spPr>
        <p:txBody>
          <a:bodyPr wrap="square" rtlCol="0" anchor="ctr"/>
          <a:lstStyle/>
          <a:p>
            <a:pPr algn="r" indent="0" marL="0">
              <a:buNone/>
            </a:pPr>
            <a:r>
              <a:rPr lang="en-US" sz="1100" b="1" dirty="0">
                <a:solidFill>
                  <a:srgbClr val="52E3A3"/>
                </a:solidFill>
                <a:latin typeface="Calibri" pitchFamily="34" charset="0"/>
                <a:ea typeface="Calibri" pitchFamily="34" charset="-122"/>
                <a:cs typeface="Calibri" pitchFamily="34" charset="-120"/>
              </a:rPr>
              <a:t>$100.00</a:t>
            </a:r>
            <a:endParaRPr lang="en-US" sz="1100" dirty="0"/>
          </a:p>
        </p:txBody>
      </p:sp>
      <p:sp>
        <p:nvSpPr>
          <p:cNvPr id="69" name="Shape 67"/>
          <p:cNvSpPr/>
          <p:nvPr/>
        </p:nvSpPr>
        <p:spPr>
          <a:xfrm>
            <a:off x="457200" y="4956048"/>
            <a:ext cx="11247120" cy="749808"/>
          </a:xfrm>
          <a:prstGeom prst="rect">
            <a:avLst/>
          </a:prstGeom>
          <a:solidFill>
            <a:srgbClr val="102A4C"/>
          </a:solidFill>
          <a:ln w="12700">
            <a:solidFill>
              <a:srgbClr val="1E3A5F"/>
            </a:solidFill>
            <a:prstDash val="solid"/>
          </a:ln>
          <a:effectLst>
            <a:outerShdw sx="100000" sy="100000" kx="0" ky="0" algn="bl" rotWithShape="0" blurRad="101600" dist="38100" dir="8100000">
              <a:srgbClr val="000000">
                <a:alpha val="14000"/>
              </a:srgbClr>
            </a:outerShdw>
          </a:effectLst>
        </p:spPr>
      </p:sp>
      <p:sp>
        <p:nvSpPr>
          <p:cNvPr id="70" name="Text 68"/>
          <p:cNvSpPr/>
          <p:nvPr/>
        </p:nvSpPr>
        <p:spPr>
          <a:xfrm>
            <a:off x="640080" y="4992624"/>
            <a:ext cx="3657600" cy="658368"/>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  Primary Key — uniquely identifies each row in its table</a:t>
            </a:r>
            <a:endParaRPr lang="en-US" sz="1200" dirty="0"/>
          </a:p>
        </p:txBody>
      </p:sp>
      <p:sp>
        <p:nvSpPr>
          <p:cNvPr id="71" name="Text 69"/>
          <p:cNvSpPr/>
          <p:nvPr/>
        </p:nvSpPr>
        <p:spPr>
          <a:xfrm>
            <a:off x="4407408" y="4992624"/>
            <a:ext cx="3657600" cy="658368"/>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  Foreign Key — points to a Primary Key in another table, creating the link</a:t>
            </a:r>
            <a:endParaRPr lang="en-US" sz="1200" dirty="0"/>
          </a:p>
        </p:txBody>
      </p:sp>
      <p:sp>
        <p:nvSpPr>
          <p:cNvPr id="72" name="Text 70"/>
          <p:cNvSpPr/>
          <p:nvPr/>
        </p:nvSpPr>
        <p:spPr>
          <a:xfrm>
            <a:off x="8174736" y="4992624"/>
            <a:ext cx="3657600" cy="658368"/>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  No pointers, no trees — just rows, columns, and shared values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00C2CB"/>
          </a:solidFill>
          <a:ln w="12700">
            <a:solidFill>
              <a:srgbClr val="00C2CB"/>
            </a:solidFill>
            <a:prstDash val="solid"/>
          </a:ln>
        </p:spPr>
      </p:sp>
      <p:sp>
        <p:nvSpPr>
          <p:cNvPr id="4" name="Shape 2"/>
          <p:cNvSpPr/>
          <p:nvPr/>
        </p:nvSpPr>
        <p:spPr>
          <a:xfrm>
            <a:off x="0" y="1188720"/>
            <a:ext cx="12161520" cy="36576"/>
          </a:xfrm>
          <a:prstGeom prst="rect">
            <a:avLst/>
          </a:prstGeom>
          <a:solidFill>
            <a:srgbClr val="00C2CB"/>
          </a:solidFill>
          <a:ln w="12700">
            <a:solidFill>
              <a:srgbClr val="00C2C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Normalization — One Fact, One Place</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00C2CB"/>
                </a:solidFill>
                <a:latin typeface="Calibri" pitchFamily="34" charset="0"/>
                <a:ea typeface="Calibri" pitchFamily="34" charset="-122"/>
                <a:cs typeface="Calibri" pitchFamily="34" charset="-120"/>
              </a:rPr>
              <a:t>The rule that makes databases reliable and trustworthy</a:t>
            </a:r>
            <a:endParaRPr lang="en-US" sz="1400" dirty="0"/>
          </a:p>
        </p:txBody>
      </p:sp>
      <p:sp>
        <p:nvSpPr>
          <p:cNvPr id="7" name="Shape 5"/>
          <p:cNvSpPr/>
          <p:nvPr/>
        </p:nvSpPr>
        <p:spPr>
          <a:xfrm>
            <a:off x="457200" y="1371600"/>
            <a:ext cx="5212080" cy="475488"/>
          </a:xfrm>
          <a:prstGeom prst="rect">
            <a:avLst/>
          </a:prstGeom>
          <a:solidFill>
            <a:srgbClr val="FF6B6B"/>
          </a:solidFill>
          <a:ln w="12700">
            <a:solidFill>
              <a:srgbClr val="FF6B6B"/>
            </a:solidFill>
            <a:prstDash val="solid"/>
          </a:ln>
        </p:spPr>
      </p:sp>
      <p:sp>
        <p:nvSpPr>
          <p:cNvPr id="8" name="Text 6"/>
          <p:cNvSpPr/>
          <p:nvPr/>
        </p:nvSpPr>
        <p:spPr>
          <a:xfrm>
            <a:off x="457200" y="1371600"/>
            <a:ext cx="521208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BAD — Repeated Data (Un-normalised)</a:t>
            </a:r>
            <a:endParaRPr lang="en-US" sz="1400" dirty="0"/>
          </a:p>
        </p:txBody>
      </p:sp>
      <p:sp>
        <p:nvSpPr>
          <p:cNvPr id="9" name="Shape 7"/>
          <p:cNvSpPr/>
          <p:nvPr/>
        </p:nvSpPr>
        <p:spPr>
          <a:xfrm>
            <a:off x="457200" y="1847088"/>
            <a:ext cx="749808" cy="420624"/>
          </a:xfrm>
          <a:prstGeom prst="rect">
            <a:avLst/>
          </a:prstGeom>
          <a:solidFill>
            <a:srgbClr val="7F1D1D"/>
          </a:solidFill>
          <a:ln w="12700">
            <a:solidFill>
              <a:srgbClr val="FCA5A5"/>
            </a:solidFill>
            <a:prstDash val="solid"/>
          </a:ln>
        </p:spPr>
      </p:sp>
      <p:sp>
        <p:nvSpPr>
          <p:cNvPr id="10" name="Text 8"/>
          <p:cNvSpPr/>
          <p:nvPr/>
        </p:nvSpPr>
        <p:spPr>
          <a:xfrm>
            <a:off x="457200" y="1847088"/>
            <a:ext cx="749808" cy="420624"/>
          </a:xfrm>
          <a:prstGeom prst="rect">
            <a:avLst/>
          </a:prstGeom>
          <a:noFill/>
          <a:ln/>
        </p:spPr>
        <p:txBody>
          <a:bodyPr wrap="square" rtlCol="0" anchor="ctr"/>
          <a:lstStyle/>
          <a:p>
            <a:pPr algn="ctr" indent="0" marL="0">
              <a:buNone/>
            </a:pPr>
            <a:r>
              <a:rPr lang="en-US" sz="1100" b="1" dirty="0">
                <a:solidFill>
                  <a:srgbClr val="FCA5A5"/>
                </a:solidFill>
                <a:latin typeface="Calibri" pitchFamily="34" charset="0"/>
                <a:ea typeface="Calibri" pitchFamily="34" charset="-122"/>
                <a:cs typeface="Calibri" pitchFamily="34" charset="-120"/>
              </a:rPr>
              <a:t>Order ID</a:t>
            </a:r>
            <a:endParaRPr lang="en-US" sz="1100" dirty="0"/>
          </a:p>
        </p:txBody>
      </p:sp>
      <p:sp>
        <p:nvSpPr>
          <p:cNvPr id="11" name="Shape 9"/>
          <p:cNvSpPr/>
          <p:nvPr/>
        </p:nvSpPr>
        <p:spPr>
          <a:xfrm>
            <a:off x="1207008" y="1847088"/>
            <a:ext cx="1234440" cy="420624"/>
          </a:xfrm>
          <a:prstGeom prst="rect">
            <a:avLst/>
          </a:prstGeom>
          <a:solidFill>
            <a:srgbClr val="7F1D1D"/>
          </a:solidFill>
          <a:ln w="12700">
            <a:solidFill>
              <a:srgbClr val="FCA5A5"/>
            </a:solidFill>
            <a:prstDash val="solid"/>
          </a:ln>
        </p:spPr>
      </p:sp>
      <p:sp>
        <p:nvSpPr>
          <p:cNvPr id="12" name="Text 10"/>
          <p:cNvSpPr/>
          <p:nvPr/>
        </p:nvSpPr>
        <p:spPr>
          <a:xfrm>
            <a:off x="1207008" y="1847088"/>
            <a:ext cx="1234440" cy="420624"/>
          </a:xfrm>
          <a:prstGeom prst="rect">
            <a:avLst/>
          </a:prstGeom>
          <a:noFill/>
          <a:ln/>
        </p:spPr>
        <p:txBody>
          <a:bodyPr wrap="square" rtlCol="0" anchor="ctr"/>
          <a:lstStyle/>
          <a:p>
            <a:pPr algn="ctr" indent="0" marL="0">
              <a:buNone/>
            </a:pPr>
            <a:r>
              <a:rPr lang="en-US" sz="1100" b="1" dirty="0">
                <a:solidFill>
                  <a:srgbClr val="FCA5A5"/>
                </a:solidFill>
                <a:latin typeface="Calibri" pitchFamily="34" charset="0"/>
                <a:ea typeface="Calibri" pitchFamily="34" charset="-122"/>
                <a:cs typeface="Calibri" pitchFamily="34" charset="-120"/>
              </a:rPr>
              <a:t>Customer</a:t>
            </a:r>
            <a:endParaRPr lang="en-US" sz="1100" dirty="0"/>
          </a:p>
        </p:txBody>
      </p:sp>
      <p:sp>
        <p:nvSpPr>
          <p:cNvPr id="13" name="Shape 11"/>
          <p:cNvSpPr/>
          <p:nvPr/>
        </p:nvSpPr>
        <p:spPr>
          <a:xfrm>
            <a:off x="2441448" y="1847088"/>
            <a:ext cx="822960" cy="420624"/>
          </a:xfrm>
          <a:prstGeom prst="rect">
            <a:avLst/>
          </a:prstGeom>
          <a:solidFill>
            <a:srgbClr val="7F1D1D"/>
          </a:solidFill>
          <a:ln w="12700">
            <a:solidFill>
              <a:srgbClr val="FCA5A5"/>
            </a:solidFill>
            <a:prstDash val="solid"/>
          </a:ln>
        </p:spPr>
      </p:sp>
      <p:sp>
        <p:nvSpPr>
          <p:cNvPr id="14" name="Text 12"/>
          <p:cNvSpPr/>
          <p:nvPr/>
        </p:nvSpPr>
        <p:spPr>
          <a:xfrm>
            <a:off x="2441448" y="1847088"/>
            <a:ext cx="822960" cy="420624"/>
          </a:xfrm>
          <a:prstGeom prst="rect">
            <a:avLst/>
          </a:prstGeom>
          <a:noFill/>
          <a:ln/>
        </p:spPr>
        <p:txBody>
          <a:bodyPr wrap="square" rtlCol="0" anchor="ctr"/>
          <a:lstStyle/>
          <a:p>
            <a:pPr algn="ctr" indent="0" marL="0">
              <a:buNone/>
            </a:pPr>
            <a:r>
              <a:rPr lang="en-US" sz="1100" b="1" dirty="0">
                <a:solidFill>
                  <a:srgbClr val="FCA5A5"/>
                </a:solidFill>
                <a:latin typeface="Calibri" pitchFamily="34" charset="0"/>
                <a:ea typeface="Calibri" pitchFamily="34" charset="-122"/>
                <a:cs typeface="Calibri" pitchFamily="34" charset="-120"/>
              </a:rPr>
              <a:t>City</a:t>
            </a:r>
            <a:endParaRPr lang="en-US" sz="1100" dirty="0"/>
          </a:p>
        </p:txBody>
      </p:sp>
      <p:sp>
        <p:nvSpPr>
          <p:cNvPr id="15" name="Shape 13"/>
          <p:cNvSpPr/>
          <p:nvPr/>
        </p:nvSpPr>
        <p:spPr>
          <a:xfrm>
            <a:off x="3264408" y="1847088"/>
            <a:ext cx="822960" cy="420624"/>
          </a:xfrm>
          <a:prstGeom prst="rect">
            <a:avLst/>
          </a:prstGeom>
          <a:solidFill>
            <a:srgbClr val="7F1D1D"/>
          </a:solidFill>
          <a:ln w="12700">
            <a:solidFill>
              <a:srgbClr val="FCA5A5"/>
            </a:solidFill>
            <a:prstDash val="solid"/>
          </a:ln>
        </p:spPr>
      </p:sp>
      <p:sp>
        <p:nvSpPr>
          <p:cNvPr id="16" name="Text 14"/>
          <p:cNvSpPr/>
          <p:nvPr/>
        </p:nvSpPr>
        <p:spPr>
          <a:xfrm>
            <a:off x="3264408" y="1847088"/>
            <a:ext cx="822960" cy="420624"/>
          </a:xfrm>
          <a:prstGeom prst="rect">
            <a:avLst/>
          </a:prstGeom>
          <a:noFill/>
          <a:ln/>
        </p:spPr>
        <p:txBody>
          <a:bodyPr wrap="square" rtlCol="0" anchor="ctr"/>
          <a:lstStyle/>
          <a:p>
            <a:pPr algn="ctr" indent="0" marL="0">
              <a:buNone/>
            </a:pPr>
            <a:r>
              <a:rPr lang="en-US" sz="1100" b="1" dirty="0">
                <a:solidFill>
                  <a:srgbClr val="FCA5A5"/>
                </a:solidFill>
                <a:latin typeface="Calibri" pitchFamily="34" charset="0"/>
                <a:ea typeface="Calibri" pitchFamily="34" charset="-122"/>
                <a:cs typeface="Calibri" pitchFamily="34" charset="-120"/>
              </a:rPr>
              <a:t>Product</a:t>
            </a:r>
            <a:endParaRPr lang="en-US" sz="1100" dirty="0"/>
          </a:p>
        </p:txBody>
      </p:sp>
      <p:sp>
        <p:nvSpPr>
          <p:cNvPr id="17" name="Shape 15"/>
          <p:cNvSpPr/>
          <p:nvPr/>
        </p:nvSpPr>
        <p:spPr>
          <a:xfrm>
            <a:off x="4087368" y="1847088"/>
            <a:ext cx="667512" cy="420624"/>
          </a:xfrm>
          <a:prstGeom prst="rect">
            <a:avLst/>
          </a:prstGeom>
          <a:solidFill>
            <a:srgbClr val="7F1D1D"/>
          </a:solidFill>
          <a:ln w="12700">
            <a:solidFill>
              <a:srgbClr val="FCA5A5"/>
            </a:solidFill>
            <a:prstDash val="solid"/>
          </a:ln>
        </p:spPr>
      </p:sp>
      <p:sp>
        <p:nvSpPr>
          <p:cNvPr id="18" name="Text 16"/>
          <p:cNvSpPr/>
          <p:nvPr/>
        </p:nvSpPr>
        <p:spPr>
          <a:xfrm>
            <a:off x="4087368" y="1847088"/>
            <a:ext cx="667512" cy="420624"/>
          </a:xfrm>
          <a:prstGeom prst="rect">
            <a:avLst/>
          </a:prstGeom>
          <a:noFill/>
          <a:ln/>
        </p:spPr>
        <p:txBody>
          <a:bodyPr wrap="square" rtlCol="0" anchor="ctr"/>
          <a:lstStyle/>
          <a:p>
            <a:pPr algn="ctr" indent="0" marL="0">
              <a:buNone/>
            </a:pPr>
            <a:r>
              <a:rPr lang="en-US" sz="1100" b="1" dirty="0">
                <a:solidFill>
                  <a:srgbClr val="FCA5A5"/>
                </a:solidFill>
                <a:latin typeface="Calibri" pitchFamily="34" charset="0"/>
                <a:ea typeface="Calibri" pitchFamily="34" charset="-122"/>
                <a:cs typeface="Calibri" pitchFamily="34" charset="-120"/>
              </a:rPr>
              <a:t>Price</a:t>
            </a:r>
            <a:endParaRPr lang="en-US" sz="1100" dirty="0"/>
          </a:p>
        </p:txBody>
      </p:sp>
      <p:sp>
        <p:nvSpPr>
          <p:cNvPr id="19" name="Shape 17"/>
          <p:cNvSpPr/>
          <p:nvPr/>
        </p:nvSpPr>
        <p:spPr>
          <a:xfrm>
            <a:off x="457200" y="2267712"/>
            <a:ext cx="749808" cy="457200"/>
          </a:xfrm>
          <a:prstGeom prst="rect">
            <a:avLst/>
          </a:prstGeom>
          <a:solidFill>
            <a:srgbClr val="FFF1F2"/>
          </a:solidFill>
          <a:ln w="12700">
            <a:solidFill>
              <a:srgbClr val="FCA5A5"/>
            </a:solidFill>
            <a:prstDash val="solid"/>
          </a:ln>
        </p:spPr>
      </p:sp>
      <p:sp>
        <p:nvSpPr>
          <p:cNvPr id="20" name="Text 18"/>
          <p:cNvSpPr/>
          <p:nvPr/>
        </p:nvSpPr>
        <p:spPr>
          <a:xfrm>
            <a:off x="457200" y="2267712"/>
            <a:ext cx="749808"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#001</a:t>
            </a:r>
            <a:endParaRPr lang="en-US" sz="1100" dirty="0"/>
          </a:p>
        </p:txBody>
      </p:sp>
      <p:sp>
        <p:nvSpPr>
          <p:cNvPr id="21" name="Shape 19"/>
          <p:cNvSpPr/>
          <p:nvPr/>
        </p:nvSpPr>
        <p:spPr>
          <a:xfrm>
            <a:off x="1207008" y="2267712"/>
            <a:ext cx="1234440" cy="457200"/>
          </a:xfrm>
          <a:prstGeom prst="rect">
            <a:avLst/>
          </a:prstGeom>
          <a:solidFill>
            <a:srgbClr val="FFF1F2"/>
          </a:solidFill>
          <a:ln w="12700">
            <a:solidFill>
              <a:srgbClr val="FCA5A5"/>
            </a:solidFill>
            <a:prstDash val="solid"/>
          </a:ln>
        </p:spPr>
      </p:sp>
      <p:sp>
        <p:nvSpPr>
          <p:cNvPr id="22" name="Text 20"/>
          <p:cNvSpPr/>
          <p:nvPr/>
        </p:nvSpPr>
        <p:spPr>
          <a:xfrm>
            <a:off x="1207008" y="2267712"/>
            <a:ext cx="1234440" cy="457200"/>
          </a:xfrm>
          <a:prstGeom prst="rect">
            <a:avLst/>
          </a:prstGeom>
          <a:noFill/>
          <a:ln/>
        </p:spPr>
        <p:txBody>
          <a:bodyPr wrap="square" rtlCol="0" anchor="ctr"/>
          <a:lstStyle/>
          <a:p>
            <a:pPr algn="ctr" indent="0" marL="0">
              <a:buNone/>
            </a:pPr>
            <a:r>
              <a:rPr lang="en-US" sz="1100" b="1" dirty="0">
                <a:solidFill>
                  <a:srgbClr val="FF6B6B"/>
                </a:solidFill>
                <a:latin typeface="Calibri" pitchFamily="34" charset="0"/>
                <a:ea typeface="Calibri" pitchFamily="34" charset="-122"/>
                <a:cs typeface="Calibri" pitchFamily="34" charset="-120"/>
              </a:rPr>
              <a:t>Riya Sharma</a:t>
            </a:r>
            <a:endParaRPr lang="en-US" sz="1100" dirty="0"/>
          </a:p>
        </p:txBody>
      </p:sp>
      <p:sp>
        <p:nvSpPr>
          <p:cNvPr id="23" name="Shape 21"/>
          <p:cNvSpPr/>
          <p:nvPr/>
        </p:nvSpPr>
        <p:spPr>
          <a:xfrm>
            <a:off x="2441448" y="2267712"/>
            <a:ext cx="822960" cy="457200"/>
          </a:xfrm>
          <a:prstGeom prst="rect">
            <a:avLst/>
          </a:prstGeom>
          <a:solidFill>
            <a:srgbClr val="FFF1F2"/>
          </a:solidFill>
          <a:ln w="12700">
            <a:solidFill>
              <a:srgbClr val="FCA5A5"/>
            </a:solidFill>
            <a:prstDash val="solid"/>
          </a:ln>
        </p:spPr>
      </p:sp>
      <p:sp>
        <p:nvSpPr>
          <p:cNvPr id="24" name="Text 22"/>
          <p:cNvSpPr/>
          <p:nvPr/>
        </p:nvSpPr>
        <p:spPr>
          <a:xfrm>
            <a:off x="2441448" y="2267712"/>
            <a:ext cx="822960" cy="457200"/>
          </a:xfrm>
          <a:prstGeom prst="rect">
            <a:avLst/>
          </a:prstGeom>
          <a:noFill/>
          <a:ln/>
        </p:spPr>
        <p:txBody>
          <a:bodyPr wrap="square" rtlCol="0" anchor="ctr"/>
          <a:lstStyle/>
          <a:p>
            <a:pPr algn="ctr" indent="0" marL="0">
              <a:buNone/>
            </a:pPr>
            <a:r>
              <a:rPr lang="en-US" sz="1100" b="1" dirty="0">
                <a:solidFill>
                  <a:srgbClr val="FF6B6B"/>
                </a:solidFill>
                <a:latin typeface="Calibri" pitchFamily="34" charset="0"/>
                <a:ea typeface="Calibri" pitchFamily="34" charset="-122"/>
                <a:cs typeface="Calibri" pitchFamily="34" charset="-120"/>
              </a:rPr>
              <a:t>Mumbai</a:t>
            </a:r>
            <a:endParaRPr lang="en-US" sz="1100" dirty="0"/>
          </a:p>
        </p:txBody>
      </p:sp>
      <p:sp>
        <p:nvSpPr>
          <p:cNvPr id="25" name="Shape 23"/>
          <p:cNvSpPr/>
          <p:nvPr/>
        </p:nvSpPr>
        <p:spPr>
          <a:xfrm>
            <a:off x="3264408" y="2267712"/>
            <a:ext cx="822960" cy="457200"/>
          </a:xfrm>
          <a:prstGeom prst="rect">
            <a:avLst/>
          </a:prstGeom>
          <a:solidFill>
            <a:srgbClr val="FFF1F2"/>
          </a:solidFill>
          <a:ln w="12700">
            <a:solidFill>
              <a:srgbClr val="FCA5A5"/>
            </a:solidFill>
            <a:prstDash val="solid"/>
          </a:ln>
        </p:spPr>
      </p:sp>
      <p:sp>
        <p:nvSpPr>
          <p:cNvPr id="26" name="Text 24"/>
          <p:cNvSpPr/>
          <p:nvPr/>
        </p:nvSpPr>
        <p:spPr>
          <a:xfrm>
            <a:off x="3264408" y="2267712"/>
            <a:ext cx="822960"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Laptop</a:t>
            </a:r>
            <a:endParaRPr lang="en-US" sz="1100" dirty="0"/>
          </a:p>
        </p:txBody>
      </p:sp>
      <p:sp>
        <p:nvSpPr>
          <p:cNvPr id="27" name="Shape 25"/>
          <p:cNvSpPr/>
          <p:nvPr/>
        </p:nvSpPr>
        <p:spPr>
          <a:xfrm>
            <a:off x="4087368" y="2267712"/>
            <a:ext cx="667512" cy="457200"/>
          </a:xfrm>
          <a:prstGeom prst="rect">
            <a:avLst/>
          </a:prstGeom>
          <a:solidFill>
            <a:srgbClr val="FFF1F2"/>
          </a:solidFill>
          <a:ln w="12700">
            <a:solidFill>
              <a:srgbClr val="FCA5A5"/>
            </a:solidFill>
            <a:prstDash val="solid"/>
          </a:ln>
        </p:spPr>
      </p:sp>
      <p:sp>
        <p:nvSpPr>
          <p:cNvPr id="28" name="Text 26"/>
          <p:cNvSpPr/>
          <p:nvPr/>
        </p:nvSpPr>
        <p:spPr>
          <a:xfrm>
            <a:off x="4087368" y="2267712"/>
            <a:ext cx="667512"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₹65,000</a:t>
            </a:r>
            <a:endParaRPr lang="en-US" sz="1100" dirty="0"/>
          </a:p>
        </p:txBody>
      </p:sp>
      <p:sp>
        <p:nvSpPr>
          <p:cNvPr id="29" name="Shape 27"/>
          <p:cNvSpPr/>
          <p:nvPr/>
        </p:nvSpPr>
        <p:spPr>
          <a:xfrm>
            <a:off x="457200" y="2724912"/>
            <a:ext cx="749808" cy="457200"/>
          </a:xfrm>
          <a:prstGeom prst="rect">
            <a:avLst/>
          </a:prstGeom>
          <a:solidFill>
            <a:srgbClr val="FFFFFF"/>
          </a:solidFill>
          <a:ln w="12700">
            <a:solidFill>
              <a:srgbClr val="FCA5A5"/>
            </a:solidFill>
            <a:prstDash val="solid"/>
          </a:ln>
        </p:spPr>
      </p:sp>
      <p:sp>
        <p:nvSpPr>
          <p:cNvPr id="30" name="Text 28"/>
          <p:cNvSpPr/>
          <p:nvPr/>
        </p:nvSpPr>
        <p:spPr>
          <a:xfrm>
            <a:off x="457200" y="2724912"/>
            <a:ext cx="749808"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#002</a:t>
            </a:r>
            <a:endParaRPr lang="en-US" sz="1100" dirty="0"/>
          </a:p>
        </p:txBody>
      </p:sp>
      <p:sp>
        <p:nvSpPr>
          <p:cNvPr id="31" name="Shape 29"/>
          <p:cNvSpPr/>
          <p:nvPr/>
        </p:nvSpPr>
        <p:spPr>
          <a:xfrm>
            <a:off x="1207008" y="2724912"/>
            <a:ext cx="1234440" cy="457200"/>
          </a:xfrm>
          <a:prstGeom prst="rect">
            <a:avLst/>
          </a:prstGeom>
          <a:solidFill>
            <a:srgbClr val="FFFFFF"/>
          </a:solidFill>
          <a:ln w="12700">
            <a:solidFill>
              <a:srgbClr val="FCA5A5"/>
            </a:solidFill>
            <a:prstDash val="solid"/>
          </a:ln>
        </p:spPr>
      </p:sp>
      <p:sp>
        <p:nvSpPr>
          <p:cNvPr id="32" name="Text 30"/>
          <p:cNvSpPr/>
          <p:nvPr/>
        </p:nvSpPr>
        <p:spPr>
          <a:xfrm>
            <a:off x="1207008" y="2724912"/>
            <a:ext cx="1234440" cy="457200"/>
          </a:xfrm>
          <a:prstGeom prst="rect">
            <a:avLst/>
          </a:prstGeom>
          <a:noFill/>
          <a:ln/>
        </p:spPr>
        <p:txBody>
          <a:bodyPr wrap="square" rtlCol="0" anchor="ctr"/>
          <a:lstStyle/>
          <a:p>
            <a:pPr algn="ctr" indent="0" marL="0">
              <a:buNone/>
            </a:pPr>
            <a:r>
              <a:rPr lang="en-US" sz="1100" b="1" dirty="0">
                <a:solidFill>
                  <a:srgbClr val="FF6B6B"/>
                </a:solidFill>
                <a:latin typeface="Calibri" pitchFamily="34" charset="0"/>
                <a:ea typeface="Calibri" pitchFamily="34" charset="-122"/>
                <a:cs typeface="Calibri" pitchFamily="34" charset="-120"/>
              </a:rPr>
              <a:t>Riya Sharma</a:t>
            </a:r>
            <a:endParaRPr lang="en-US" sz="1100" dirty="0"/>
          </a:p>
        </p:txBody>
      </p:sp>
      <p:sp>
        <p:nvSpPr>
          <p:cNvPr id="33" name="Shape 31"/>
          <p:cNvSpPr/>
          <p:nvPr/>
        </p:nvSpPr>
        <p:spPr>
          <a:xfrm>
            <a:off x="2441448" y="2724912"/>
            <a:ext cx="822960" cy="457200"/>
          </a:xfrm>
          <a:prstGeom prst="rect">
            <a:avLst/>
          </a:prstGeom>
          <a:solidFill>
            <a:srgbClr val="FFFFFF"/>
          </a:solidFill>
          <a:ln w="12700">
            <a:solidFill>
              <a:srgbClr val="FCA5A5"/>
            </a:solidFill>
            <a:prstDash val="solid"/>
          </a:ln>
        </p:spPr>
      </p:sp>
      <p:sp>
        <p:nvSpPr>
          <p:cNvPr id="34" name="Text 32"/>
          <p:cNvSpPr/>
          <p:nvPr/>
        </p:nvSpPr>
        <p:spPr>
          <a:xfrm>
            <a:off x="2441448" y="2724912"/>
            <a:ext cx="822960" cy="457200"/>
          </a:xfrm>
          <a:prstGeom prst="rect">
            <a:avLst/>
          </a:prstGeom>
          <a:noFill/>
          <a:ln/>
        </p:spPr>
        <p:txBody>
          <a:bodyPr wrap="square" rtlCol="0" anchor="ctr"/>
          <a:lstStyle/>
          <a:p>
            <a:pPr algn="ctr" indent="0" marL="0">
              <a:buNone/>
            </a:pPr>
            <a:r>
              <a:rPr lang="en-US" sz="1100" b="1" dirty="0">
                <a:solidFill>
                  <a:srgbClr val="FF6B6B"/>
                </a:solidFill>
                <a:latin typeface="Calibri" pitchFamily="34" charset="0"/>
                <a:ea typeface="Calibri" pitchFamily="34" charset="-122"/>
                <a:cs typeface="Calibri" pitchFamily="34" charset="-120"/>
              </a:rPr>
              <a:t>Mumbai</a:t>
            </a:r>
            <a:endParaRPr lang="en-US" sz="1100" dirty="0"/>
          </a:p>
        </p:txBody>
      </p:sp>
      <p:sp>
        <p:nvSpPr>
          <p:cNvPr id="35" name="Shape 33"/>
          <p:cNvSpPr/>
          <p:nvPr/>
        </p:nvSpPr>
        <p:spPr>
          <a:xfrm>
            <a:off x="3264408" y="2724912"/>
            <a:ext cx="822960" cy="457200"/>
          </a:xfrm>
          <a:prstGeom prst="rect">
            <a:avLst/>
          </a:prstGeom>
          <a:solidFill>
            <a:srgbClr val="FFFFFF"/>
          </a:solidFill>
          <a:ln w="12700">
            <a:solidFill>
              <a:srgbClr val="FCA5A5"/>
            </a:solidFill>
            <a:prstDash val="solid"/>
          </a:ln>
        </p:spPr>
      </p:sp>
      <p:sp>
        <p:nvSpPr>
          <p:cNvPr id="36" name="Text 34"/>
          <p:cNvSpPr/>
          <p:nvPr/>
        </p:nvSpPr>
        <p:spPr>
          <a:xfrm>
            <a:off x="3264408" y="2724912"/>
            <a:ext cx="822960"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Phone</a:t>
            </a:r>
            <a:endParaRPr lang="en-US" sz="1100" dirty="0"/>
          </a:p>
        </p:txBody>
      </p:sp>
      <p:sp>
        <p:nvSpPr>
          <p:cNvPr id="37" name="Shape 35"/>
          <p:cNvSpPr/>
          <p:nvPr/>
        </p:nvSpPr>
        <p:spPr>
          <a:xfrm>
            <a:off x="4087368" y="2724912"/>
            <a:ext cx="667512" cy="457200"/>
          </a:xfrm>
          <a:prstGeom prst="rect">
            <a:avLst/>
          </a:prstGeom>
          <a:solidFill>
            <a:srgbClr val="FFFFFF"/>
          </a:solidFill>
          <a:ln w="12700">
            <a:solidFill>
              <a:srgbClr val="FCA5A5"/>
            </a:solidFill>
            <a:prstDash val="solid"/>
          </a:ln>
        </p:spPr>
      </p:sp>
      <p:sp>
        <p:nvSpPr>
          <p:cNvPr id="38" name="Text 36"/>
          <p:cNvSpPr/>
          <p:nvPr/>
        </p:nvSpPr>
        <p:spPr>
          <a:xfrm>
            <a:off x="4087368" y="2724912"/>
            <a:ext cx="667512"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₹22,000</a:t>
            </a:r>
            <a:endParaRPr lang="en-US" sz="1100" dirty="0"/>
          </a:p>
        </p:txBody>
      </p:sp>
      <p:sp>
        <p:nvSpPr>
          <p:cNvPr id="39" name="Shape 37"/>
          <p:cNvSpPr/>
          <p:nvPr/>
        </p:nvSpPr>
        <p:spPr>
          <a:xfrm>
            <a:off x="457200" y="3182112"/>
            <a:ext cx="749808" cy="457200"/>
          </a:xfrm>
          <a:prstGeom prst="rect">
            <a:avLst/>
          </a:prstGeom>
          <a:solidFill>
            <a:srgbClr val="FFF1F2"/>
          </a:solidFill>
          <a:ln w="12700">
            <a:solidFill>
              <a:srgbClr val="FCA5A5"/>
            </a:solidFill>
            <a:prstDash val="solid"/>
          </a:ln>
        </p:spPr>
      </p:sp>
      <p:sp>
        <p:nvSpPr>
          <p:cNvPr id="40" name="Text 38"/>
          <p:cNvSpPr/>
          <p:nvPr/>
        </p:nvSpPr>
        <p:spPr>
          <a:xfrm>
            <a:off x="457200" y="3182112"/>
            <a:ext cx="749808"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#003</a:t>
            </a:r>
            <a:endParaRPr lang="en-US" sz="1100" dirty="0"/>
          </a:p>
        </p:txBody>
      </p:sp>
      <p:sp>
        <p:nvSpPr>
          <p:cNvPr id="41" name="Shape 39"/>
          <p:cNvSpPr/>
          <p:nvPr/>
        </p:nvSpPr>
        <p:spPr>
          <a:xfrm>
            <a:off x="1207008" y="3182112"/>
            <a:ext cx="1234440" cy="457200"/>
          </a:xfrm>
          <a:prstGeom prst="rect">
            <a:avLst/>
          </a:prstGeom>
          <a:solidFill>
            <a:srgbClr val="FFF1F2"/>
          </a:solidFill>
          <a:ln w="12700">
            <a:solidFill>
              <a:srgbClr val="FCA5A5"/>
            </a:solidFill>
            <a:prstDash val="solid"/>
          </a:ln>
        </p:spPr>
      </p:sp>
      <p:sp>
        <p:nvSpPr>
          <p:cNvPr id="42" name="Text 40"/>
          <p:cNvSpPr/>
          <p:nvPr/>
        </p:nvSpPr>
        <p:spPr>
          <a:xfrm>
            <a:off x="1207008" y="3182112"/>
            <a:ext cx="1234440" cy="457200"/>
          </a:xfrm>
          <a:prstGeom prst="rect">
            <a:avLst/>
          </a:prstGeom>
          <a:noFill/>
          <a:ln/>
        </p:spPr>
        <p:txBody>
          <a:bodyPr wrap="square" rtlCol="0" anchor="ctr"/>
          <a:lstStyle/>
          <a:p>
            <a:pPr algn="ctr" indent="0" marL="0">
              <a:buNone/>
            </a:pPr>
            <a:r>
              <a:rPr lang="en-US" sz="1100" b="1" dirty="0">
                <a:solidFill>
                  <a:srgbClr val="FF6B6B"/>
                </a:solidFill>
                <a:latin typeface="Calibri" pitchFamily="34" charset="0"/>
                <a:ea typeface="Calibri" pitchFamily="34" charset="-122"/>
                <a:cs typeface="Calibri" pitchFamily="34" charset="-120"/>
              </a:rPr>
              <a:t>Riya Sharma</a:t>
            </a:r>
            <a:endParaRPr lang="en-US" sz="1100" dirty="0"/>
          </a:p>
        </p:txBody>
      </p:sp>
      <p:sp>
        <p:nvSpPr>
          <p:cNvPr id="43" name="Shape 41"/>
          <p:cNvSpPr/>
          <p:nvPr/>
        </p:nvSpPr>
        <p:spPr>
          <a:xfrm>
            <a:off x="2441448" y="3182112"/>
            <a:ext cx="822960" cy="457200"/>
          </a:xfrm>
          <a:prstGeom prst="rect">
            <a:avLst/>
          </a:prstGeom>
          <a:solidFill>
            <a:srgbClr val="FFF1F2"/>
          </a:solidFill>
          <a:ln w="12700">
            <a:solidFill>
              <a:srgbClr val="FCA5A5"/>
            </a:solidFill>
            <a:prstDash val="solid"/>
          </a:ln>
        </p:spPr>
      </p:sp>
      <p:sp>
        <p:nvSpPr>
          <p:cNvPr id="44" name="Text 42"/>
          <p:cNvSpPr/>
          <p:nvPr/>
        </p:nvSpPr>
        <p:spPr>
          <a:xfrm>
            <a:off x="2441448" y="3182112"/>
            <a:ext cx="822960" cy="457200"/>
          </a:xfrm>
          <a:prstGeom prst="rect">
            <a:avLst/>
          </a:prstGeom>
          <a:noFill/>
          <a:ln/>
        </p:spPr>
        <p:txBody>
          <a:bodyPr wrap="square" rtlCol="0" anchor="ctr"/>
          <a:lstStyle/>
          <a:p>
            <a:pPr algn="ctr" indent="0" marL="0">
              <a:buNone/>
            </a:pPr>
            <a:r>
              <a:rPr lang="en-US" sz="1100" b="1" dirty="0">
                <a:solidFill>
                  <a:srgbClr val="FF6B6B"/>
                </a:solidFill>
                <a:latin typeface="Calibri" pitchFamily="34" charset="0"/>
                <a:ea typeface="Calibri" pitchFamily="34" charset="-122"/>
                <a:cs typeface="Calibri" pitchFamily="34" charset="-120"/>
              </a:rPr>
              <a:t>Mumbai</a:t>
            </a:r>
            <a:endParaRPr lang="en-US" sz="1100" dirty="0"/>
          </a:p>
        </p:txBody>
      </p:sp>
      <p:sp>
        <p:nvSpPr>
          <p:cNvPr id="45" name="Shape 43"/>
          <p:cNvSpPr/>
          <p:nvPr/>
        </p:nvSpPr>
        <p:spPr>
          <a:xfrm>
            <a:off x="3264408" y="3182112"/>
            <a:ext cx="822960" cy="457200"/>
          </a:xfrm>
          <a:prstGeom prst="rect">
            <a:avLst/>
          </a:prstGeom>
          <a:solidFill>
            <a:srgbClr val="FFF1F2"/>
          </a:solidFill>
          <a:ln w="12700">
            <a:solidFill>
              <a:srgbClr val="FCA5A5"/>
            </a:solidFill>
            <a:prstDash val="solid"/>
          </a:ln>
        </p:spPr>
      </p:sp>
      <p:sp>
        <p:nvSpPr>
          <p:cNvPr id="46" name="Text 44"/>
          <p:cNvSpPr/>
          <p:nvPr/>
        </p:nvSpPr>
        <p:spPr>
          <a:xfrm>
            <a:off x="3264408" y="3182112"/>
            <a:ext cx="822960"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Tablet</a:t>
            </a:r>
            <a:endParaRPr lang="en-US" sz="1100" dirty="0"/>
          </a:p>
        </p:txBody>
      </p:sp>
      <p:sp>
        <p:nvSpPr>
          <p:cNvPr id="47" name="Shape 45"/>
          <p:cNvSpPr/>
          <p:nvPr/>
        </p:nvSpPr>
        <p:spPr>
          <a:xfrm>
            <a:off x="4087368" y="3182112"/>
            <a:ext cx="667512" cy="457200"/>
          </a:xfrm>
          <a:prstGeom prst="rect">
            <a:avLst/>
          </a:prstGeom>
          <a:solidFill>
            <a:srgbClr val="FFF1F2"/>
          </a:solidFill>
          <a:ln w="12700">
            <a:solidFill>
              <a:srgbClr val="FCA5A5"/>
            </a:solidFill>
            <a:prstDash val="solid"/>
          </a:ln>
        </p:spPr>
      </p:sp>
      <p:sp>
        <p:nvSpPr>
          <p:cNvPr id="48" name="Text 46"/>
          <p:cNvSpPr/>
          <p:nvPr/>
        </p:nvSpPr>
        <p:spPr>
          <a:xfrm>
            <a:off x="4087368" y="3182112"/>
            <a:ext cx="667512"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₹35,000</a:t>
            </a:r>
            <a:endParaRPr lang="en-US" sz="1100" dirty="0"/>
          </a:p>
        </p:txBody>
      </p:sp>
      <p:sp>
        <p:nvSpPr>
          <p:cNvPr id="49" name="Shape 47"/>
          <p:cNvSpPr/>
          <p:nvPr/>
        </p:nvSpPr>
        <p:spPr>
          <a:xfrm>
            <a:off x="457200" y="3639312"/>
            <a:ext cx="749808" cy="457200"/>
          </a:xfrm>
          <a:prstGeom prst="rect">
            <a:avLst/>
          </a:prstGeom>
          <a:solidFill>
            <a:srgbClr val="FFFFFF"/>
          </a:solidFill>
          <a:ln w="12700">
            <a:solidFill>
              <a:srgbClr val="FCA5A5"/>
            </a:solidFill>
            <a:prstDash val="solid"/>
          </a:ln>
        </p:spPr>
      </p:sp>
      <p:sp>
        <p:nvSpPr>
          <p:cNvPr id="50" name="Text 48"/>
          <p:cNvSpPr/>
          <p:nvPr/>
        </p:nvSpPr>
        <p:spPr>
          <a:xfrm>
            <a:off x="457200" y="3639312"/>
            <a:ext cx="749808"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#004</a:t>
            </a:r>
            <a:endParaRPr lang="en-US" sz="1100" dirty="0"/>
          </a:p>
        </p:txBody>
      </p:sp>
      <p:sp>
        <p:nvSpPr>
          <p:cNvPr id="51" name="Shape 49"/>
          <p:cNvSpPr/>
          <p:nvPr/>
        </p:nvSpPr>
        <p:spPr>
          <a:xfrm>
            <a:off x="1207008" y="3639312"/>
            <a:ext cx="1234440" cy="457200"/>
          </a:xfrm>
          <a:prstGeom prst="rect">
            <a:avLst/>
          </a:prstGeom>
          <a:solidFill>
            <a:srgbClr val="FFFFFF"/>
          </a:solidFill>
          <a:ln w="12700">
            <a:solidFill>
              <a:srgbClr val="FCA5A5"/>
            </a:solidFill>
            <a:prstDash val="solid"/>
          </a:ln>
        </p:spPr>
      </p:sp>
      <p:sp>
        <p:nvSpPr>
          <p:cNvPr id="52" name="Text 50"/>
          <p:cNvSpPr/>
          <p:nvPr/>
        </p:nvSpPr>
        <p:spPr>
          <a:xfrm>
            <a:off x="1207008" y="3639312"/>
            <a:ext cx="1234440" cy="457200"/>
          </a:xfrm>
          <a:prstGeom prst="rect">
            <a:avLst/>
          </a:prstGeom>
          <a:noFill/>
          <a:ln/>
        </p:spPr>
        <p:txBody>
          <a:bodyPr wrap="square" rtlCol="0" anchor="ctr"/>
          <a:lstStyle/>
          <a:p>
            <a:pPr algn="ctr" indent="0" marL="0">
              <a:buNone/>
            </a:pPr>
            <a:r>
              <a:rPr lang="en-US" sz="1100" b="1" dirty="0">
                <a:solidFill>
                  <a:srgbClr val="FF6B6B"/>
                </a:solidFill>
                <a:latin typeface="Calibri" pitchFamily="34" charset="0"/>
                <a:ea typeface="Calibri" pitchFamily="34" charset="-122"/>
                <a:cs typeface="Calibri" pitchFamily="34" charset="-120"/>
              </a:rPr>
              <a:t>Riya Sharma</a:t>
            </a:r>
            <a:endParaRPr lang="en-US" sz="1100" dirty="0"/>
          </a:p>
        </p:txBody>
      </p:sp>
      <p:sp>
        <p:nvSpPr>
          <p:cNvPr id="53" name="Shape 51"/>
          <p:cNvSpPr/>
          <p:nvPr/>
        </p:nvSpPr>
        <p:spPr>
          <a:xfrm>
            <a:off x="2441448" y="3639312"/>
            <a:ext cx="822960" cy="457200"/>
          </a:xfrm>
          <a:prstGeom prst="rect">
            <a:avLst/>
          </a:prstGeom>
          <a:solidFill>
            <a:srgbClr val="FFFFFF"/>
          </a:solidFill>
          <a:ln w="12700">
            <a:solidFill>
              <a:srgbClr val="FCA5A5"/>
            </a:solidFill>
            <a:prstDash val="solid"/>
          </a:ln>
        </p:spPr>
      </p:sp>
      <p:sp>
        <p:nvSpPr>
          <p:cNvPr id="54" name="Text 52"/>
          <p:cNvSpPr/>
          <p:nvPr/>
        </p:nvSpPr>
        <p:spPr>
          <a:xfrm>
            <a:off x="2441448" y="3639312"/>
            <a:ext cx="822960" cy="457200"/>
          </a:xfrm>
          <a:prstGeom prst="rect">
            <a:avLst/>
          </a:prstGeom>
          <a:noFill/>
          <a:ln/>
        </p:spPr>
        <p:txBody>
          <a:bodyPr wrap="square" rtlCol="0" anchor="ctr"/>
          <a:lstStyle/>
          <a:p>
            <a:pPr algn="ctr" indent="0" marL="0">
              <a:buNone/>
            </a:pPr>
            <a:r>
              <a:rPr lang="en-US" sz="1100" b="1" dirty="0">
                <a:solidFill>
                  <a:srgbClr val="FF6B6B"/>
                </a:solidFill>
                <a:latin typeface="Calibri" pitchFamily="34" charset="0"/>
                <a:ea typeface="Calibri" pitchFamily="34" charset="-122"/>
                <a:cs typeface="Calibri" pitchFamily="34" charset="-120"/>
              </a:rPr>
              <a:t>Mumbai</a:t>
            </a:r>
            <a:endParaRPr lang="en-US" sz="1100" dirty="0"/>
          </a:p>
        </p:txBody>
      </p:sp>
      <p:sp>
        <p:nvSpPr>
          <p:cNvPr id="55" name="Shape 53"/>
          <p:cNvSpPr/>
          <p:nvPr/>
        </p:nvSpPr>
        <p:spPr>
          <a:xfrm>
            <a:off x="3264408" y="3639312"/>
            <a:ext cx="822960" cy="457200"/>
          </a:xfrm>
          <a:prstGeom prst="rect">
            <a:avLst/>
          </a:prstGeom>
          <a:solidFill>
            <a:srgbClr val="FFFFFF"/>
          </a:solidFill>
          <a:ln w="12700">
            <a:solidFill>
              <a:srgbClr val="FCA5A5"/>
            </a:solidFill>
            <a:prstDash val="solid"/>
          </a:ln>
        </p:spPr>
      </p:sp>
      <p:sp>
        <p:nvSpPr>
          <p:cNvPr id="56" name="Text 54"/>
          <p:cNvSpPr/>
          <p:nvPr/>
        </p:nvSpPr>
        <p:spPr>
          <a:xfrm>
            <a:off x="3264408" y="3639312"/>
            <a:ext cx="822960"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Earbuds</a:t>
            </a:r>
            <a:endParaRPr lang="en-US" sz="1100" dirty="0"/>
          </a:p>
        </p:txBody>
      </p:sp>
      <p:sp>
        <p:nvSpPr>
          <p:cNvPr id="57" name="Shape 55"/>
          <p:cNvSpPr/>
          <p:nvPr/>
        </p:nvSpPr>
        <p:spPr>
          <a:xfrm>
            <a:off x="4087368" y="3639312"/>
            <a:ext cx="667512" cy="457200"/>
          </a:xfrm>
          <a:prstGeom prst="rect">
            <a:avLst/>
          </a:prstGeom>
          <a:solidFill>
            <a:srgbClr val="FFFFFF"/>
          </a:solidFill>
          <a:ln w="12700">
            <a:solidFill>
              <a:srgbClr val="FCA5A5"/>
            </a:solidFill>
            <a:prstDash val="solid"/>
          </a:ln>
        </p:spPr>
      </p:sp>
      <p:sp>
        <p:nvSpPr>
          <p:cNvPr id="58" name="Text 56"/>
          <p:cNvSpPr/>
          <p:nvPr/>
        </p:nvSpPr>
        <p:spPr>
          <a:xfrm>
            <a:off x="4087368" y="3639312"/>
            <a:ext cx="667512" cy="457200"/>
          </a:xfrm>
          <a:prstGeom prst="rect">
            <a:avLst/>
          </a:prstGeom>
          <a:noFill/>
          <a:ln/>
        </p:spPr>
        <p:txBody>
          <a:bodyPr wrap="square"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₹4,500</a:t>
            </a:r>
            <a:endParaRPr lang="en-US" sz="1100" dirty="0"/>
          </a:p>
        </p:txBody>
      </p:sp>
      <p:sp>
        <p:nvSpPr>
          <p:cNvPr id="59" name="Text 57"/>
          <p:cNvSpPr/>
          <p:nvPr/>
        </p:nvSpPr>
        <p:spPr>
          <a:xfrm>
            <a:off x="502920" y="4206240"/>
            <a:ext cx="5120640" cy="822960"/>
          </a:xfrm>
          <a:prstGeom prst="rect">
            <a:avLst/>
          </a:prstGeom>
          <a:noFill/>
          <a:ln/>
        </p:spPr>
        <p:txBody>
          <a:bodyPr wrap="square" rtlCol="0" anchor="ctr"/>
          <a:lstStyle/>
          <a:p>
            <a:pPr indent="0" marL="0">
              <a:buNone/>
            </a:pPr>
            <a:r>
              <a:rPr lang="en-US" sz="1200" dirty="0">
                <a:solidFill>
                  <a:srgbClr val="FF6B6B"/>
                </a:solidFill>
                <a:latin typeface="Calibri" pitchFamily="34" charset="0"/>
                <a:ea typeface="Calibri" pitchFamily="34" charset="-122"/>
                <a:cs typeface="Calibri" pitchFamily="34" charset="-120"/>
              </a:rPr>
              <a:t>⚠️  'Riya Sharma' and 'Mumbai' appear 4 times.</a:t>
            </a:r>
            <a:endParaRPr lang="en-US" sz="1200" dirty="0"/>
          </a:p>
          <a:p>
            <a:pPr indent="0" marL="0">
              <a:buNone/>
            </a:pPr>
            <a:r>
              <a:rPr lang="en-US" sz="1200" dirty="0">
                <a:solidFill>
                  <a:srgbClr val="FF6B6B"/>
                </a:solidFill>
                <a:latin typeface="Calibri" pitchFamily="34" charset="0"/>
                <a:ea typeface="Calibri" pitchFamily="34" charset="-122"/>
                <a:cs typeface="Calibri" pitchFamily="34" charset="-120"/>
              </a:rPr>
              <a:t>If she moves to Pune — 4 rows to update.</a:t>
            </a:r>
            <a:endParaRPr lang="en-US" sz="1200" dirty="0"/>
          </a:p>
          <a:p>
            <a:pPr indent="0" marL="0">
              <a:buNone/>
            </a:pPr>
            <a:r>
              <a:rPr lang="en-US" sz="1200" dirty="0">
                <a:solidFill>
                  <a:srgbClr val="FF6B6B"/>
                </a:solidFill>
                <a:latin typeface="Calibri" pitchFamily="34" charset="0"/>
                <a:ea typeface="Calibri" pitchFamily="34" charset="-122"/>
                <a:cs typeface="Calibri" pitchFamily="34" charset="-120"/>
              </a:rPr>
              <a:t>Miss one? Your data is now inconsistent.</a:t>
            </a:r>
            <a:endParaRPr lang="en-US" sz="1200" dirty="0"/>
          </a:p>
        </p:txBody>
      </p:sp>
      <p:sp>
        <p:nvSpPr>
          <p:cNvPr id="60" name="Shape 58"/>
          <p:cNvSpPr/>
          <p:nvPr/>
        </p:nvSpPr>
        <p:spPr>
          <a:xfrm>
            <a:off x="6492240" y="1371600"/>
            <a:ext cx="5212080" cy="475488"/>
          </a:xfrm>
          <a:prstGeom prst="rect">
            <a:avLst/>
          </a:prstGeom>
          <a:solidFill>
            <a:srgbClr val="009CA5"/>
          </a:solidFill>
          <a:ln w="12700">
            <a:solidFill>
              <a:srgbClr val="009CA5"/>
            </a:solidFill>
            <a:prstDash val="solid"/>
          </a:ln>
        </p:spPr>
      </p:sp>
      <p:sp>
        <p:nvSpPr>
          <p:cNvPr id="61" name="Text 59"/>
          <p:cNvSpPr/>
          <p:nvPr/>
        </p:nvSpPr>
        <p:spPr>
          <a:xfrm>
            <a:off x="6492240" y="1371600"/>
            <a:ext cx="521208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GOOD — Normalised (stored once, linked)</a:t>
            </a:r>
            <a:endParaRPr lang="en-US" sz="1400" dirty="0"/>
          </a:p>
        </p:txBody>
      </p:sp>
      <p:sp>
        <p:nvSpPr>
          <p:cNvPr id="62" name="Text 60"/>
          <p:cNvSpPr/>
          <p:nvPr/>
        </p:nvSpPr>
        <p:spPr>
          <a:xfrm>
            <a:off x="6492240" y="1901952"/>
            <a:ext cx="2560320" cy="320040"/>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CUSTOMER</a:t>
            </a:r>
            <a:endParaRPr lang="en-US" sz="1100" dirty="0"/>
          </a:p>
        </p:txBody>
      </p:sp>
      <p:sp>
        <p:nvSpPr>
          <p:cNvPr id="63" name="Shape 61"/>
          <p:cNvSpPr/>
          <p:nvPr/>
        </p:nvSpPr>
        <p:spPr>
          <a:xfrm>
            <a:off x="6492240" y="2221992"/>
            <a:ext cx="850392" cy="420624"/>
          </a:xfrm>
          <a:prstGeom prst="rect">
            <a:avLst/>
          </a:prstGeom>
          <a:solidFill>
            <a:srgbClr val="E0F2FE"/>
          </a:solidFill>
          <a:ln w="12700">
            <a:solidFill>
              <a:srgbClr val="BAE6FD"/>
            </a:solidFill>
            <a:prstDash val="solid"/>
          </a:ln>
        </p:spPr>
      </p:sp>
      <p:sp>
        <p:nvSpPr>
          <p:cNvPr id="64" name="Text 62"/>
          <p:cNvSpPr/>
          <p:nvPr/>
        </p:nvSpPr>
        <p:spPr>
          <a:xfrm>
            <a:off x="6492240" y="2221992"/>
            <a:ext cx="850392" cy="420624"/>
          </a:xfrm>
          <a:prstGeom prst="rect">
            <a:avLst/>
          </a:prstGeom>
          <a:noFill/>
          <a:ln/>
        </p:spPr>
        <p:txBody>
          <a:bodyPr wrap="square" rtlCol="0" anchor="ctr"/>
          <a:lstStyle/>
          <a:p>
            <a:pPr algn="ctr" indent="0" marL="0">
              <a:buNone/>
            </a:pPr>
            <a:r>
              <a:rPr lang="en-US" sz="1100" b="1" dirty="0">
                <a:solidFill>
                  <a:srgbClr val="0A0F1E"/>
                </a:solidFill>
                <a:latin typeface="Calibri" pitchFamily="34" charset="0"/>
                <a:ea typeface="Calibri" pitchFamily="34" charset="-122"/>
                <a:cs typeface="Calibri" pitchFamily="34" charset="-120"/>
              </a:rPr>
              <a:t>cust_id</a:t>
            </a:r>
            <a:endParaRPr lang="en-US" sz="1100" dirty="0"/>
          </a:p>
        </p:txBody>
      </p:sp>
      <p:sp>
        <p:nvSpPr>
          <p:cNvPr id="65" name="Shape 63"/>
          <p:cNvSpPr/>
          <p:nvPr/>
        </p:nvSpPr>
        <p:spPr>
          <a:xfrm>
            <a:off x="7342632" y="2221992"/>
            <a:ext cx="850392" cy="420624"/>
          </a:xfrm>
          <a:prstGeom prst="rect">
            <a:avLst/>
          </a:prstGeom>
          <a:solidFill>
            <a:srgbClr val="E0F2FE"/>
          </a:solidFill>
          <a:ln w="12700">
            <a:solidFill>
              <a:srgbClr val="BAE6FD"/>
            </a:solidFill>
            <a:prstDash val="solid"/>
          </a:ln>
        </p:spPr>
      </p:sp>
      <p:sp>
        <p:nvSpPr>
          <p:cNvPr id="66" name="Text 64"/>
          <p:cNvSpPr/>
          <p:nvPr/>
        </p:nvSpPr>
        <p:spPr>
          <a:xfrm>
            <a:off x="7342632" y="2221992"/>
            <a:ext cx="850392" cy="420624"/>
          </a:xfrm>
          <a:prstGeom prst="rect">
            <a:avLst/>
          </a:prstGeom>
          <a:noFill/>
          <a:ln/>
        </p:spPr>
        <p:txBody>
          <a:bodyPr wrap="square" rtlCol="0" anchor="ctr"/>
          <a:lstStyle/>
          <a:p>
            <a:pPr algn="ctr" indent="0" marL="0">
              <a:buNone/>
            </a:pPr>
            <a:r>
              <a:rPr lang="en-US" sz="1100" b="1" dirty="0">
                <a:solidFill>
                  <a:srgbClr val="0A0F1E"/>
                </a:solidFill>
                <a:latin typeface="Calibri" pitchFamily="34" charset="0"/>
                <a:ea typeface="Calibri" pitchFamily="34" charset="-122"/>
                <a:cs typeface="Calibri" pitchFamily="34" charset="-120"/>
              </a:rPr>
              <a:t>name</a:t>
            </a:r>
            <a:endParaRPr lang="en-US" sz="1100" dirty="0"/>
          </a:p>
        </p:txBody>
      </p:sp>
      <p:sp>
        <p:nvSpPr>
          <p:cNvPr id="67" name="Shape 65"/>
          <p:cNvSpPr/>
          <p:nvPr/>
        </p:nvSpPr>
        <p:spPr>
          <a:xfrm>
            <a:off x="8193024" y="2221992"/>
            <a:ext cx="850392" cy="420624"/>
          </a:xfrm>
          <a:prstGeom prst="rect">
            <a:avLst/>
          </a:prstGeom>
          <a:solidFill>
            <a:srgbClr val="E0F2FE"/>
          </a:solidFill>
          <a:ln w="12700">
            <a:solidFill>
              <a:srgbClr val="BAE6FD"/>
            </a:solidFill>
            <a:prstDash val="solid"/>
          </a:ln>
        </p:spPr>
      </p:sp>
      <p:sp>
        <p:nvSpPr>
          <p:cNvPr id="68" name="Text 66"/>
          <p:cNvSpPr/>
          <p:nvPr/>
        </p:nvSpPr>
        <p:spPr>
          <a:xfrm>
            <a:off x="8193024" y="2221992"/>
            <a:ext cx="850392" cy="420624"/>
          </a:xfrm>
          <a:prstGeom prst="rect">
            <a:avLst/>
          </a:prstGeom>
          <a:noFill/>
          <a:ln/>
        </p:spPr>
        <p:txBody>
          <a:bodyPr wrap="square" rtlCol="0" anchor="ctr"/>
          <a:lstStyle/>
          <a:p>
            <a:pPr algn="ctr" indent="0" marL="0">
              <a:buNone/>
            </a:pPr>
            <a:r>
              <a:rPr lang="en-US" sz="1100" b="1" dirty="0">
                <a:solidFill>
                  <a:srgbClr val="0A0F1E"/>
                </a:solidFill>
                <a:latin typeface="Calibri" pitchFamily="34" charset="0"/>
                <a:ea typeface="Calibri" pitchFamily="34" charset="-122"/>
                <a:cs typeface="Calibri" pitchFamily="34" charset="-120"/>
              </a:rPr>
              <a:t>city</a:t>
            </a:r>
            <a:endParaRPr lang="en-US" sz="1100" dirty="0"/>
          </a:p>
        </p:txBody>
      </p:sp>
      <p:sp>
        <p:nvSpPr>
          <p:cNvPr id="69" name="Shape 67"/>
          <p:cNvSpPr/>
          <p:nvPr/>
        </p:nvSpPr>
        <p:spPr>
          <a:xfrm>
            <a:off x="6492240" y="2642616"/>
            <a:ext cx="850392" cy="420624"/>
          </a:xfrm>
          <a:prstGeom prst="rect">
            <a:avLst/>
          </a:prstGeom>
          <a:solidFill>
            <a:srgbClr val="FFFFFF"/>
          </a:solidFill>
          <a:ln w="12700">
            <a:solidFill>
              <a:srgbClr val="BAE6FD"/>
            </a:solidFill>
            <a:prstDash val="solid"/>
          </a:ln>
        </p:spPr>
      </p:sp>
      <p:sp>
        <p:nvSpPr>
          <p:cNvPr id="70" name="Text 68"/>
          <p:cNvSpPr/>
          <p:nvPr/>
        </p:nvSpPr>
        <p:spPr>
          <a:xfrm>
            <a:off x="6492240" y="2642616"/>
            <a:ext cx="850392" cy="420624"/>
          </a:xfrm>
          <a:prstGeom prst="rect">
            <a:avLst/>
          </a:prstGeom>
          <a:noFill/>
          <a:ln/>
        </p:spPr>
        <p:txBody>
          <a:bodyPr wrap="square" rtlCol="0" anchor="ctr"/>
          <a:lstStyle/>
          <a:p>
            <a:pPr algn="ctr" indent="0" marL="0">
              <a:buNone/>
            </a:pPr>
            <a:r>
              <a:rPr lang="en-US" sz="1100" dirty="0">
                <a:solidFill>
                  <a:srgbClr val="0A0F1E"/>
                </a:solidFill>
                <a:latin typeface="Calibri" pitchFamily="34" charset="0"/>
                <a:ea typeface="Calibri" pitchFamily="34" charset="-122"/>
                <a:cs typeface="Calibri" pitchFamily="34" charset="-120"/>
              </a:rPr>
              <a:t>C1</a:t>
            </a:r>
            <a:endParaRPr lang="en-US" sz="1100" dirty="0"/>
          </a:p>
        </p:txBody>
      </p:sp>
      <p:sp>
        <p:nvSpPr>
          <p:cNvPr id="71" name="Shape 69"/>
          <p:cNvSpPr/>
          <p:nvPr/>
        </p:nvSpPr>
        <p:spPr>
          <a:xfrm>
            <a:off x="7342632" y="2642616"/>
            <a:ext cx="850392" cy="420624"/>
          </a:xfrm>
          <a:prstGeom prst="rect">
            <a:avLst/>
          </a:prstGeom>
          <a:solidFill>
            <a:srgbClr val="FFFFFF"/>
          </a:solidFill>
          <a:ln w="12700">
            <a:solidFill>
              <a:srgbClr val="BAE6FD"/>
            </a:solidFill>
            <a:prstDash val="solid"/>
          </a:ln>
        </p:spPr>
      </p:sp>
      <p:sp>
        <p:nvSpPr>
          <p:cNvPr id="72" name="Text 70"/>
          <p:cNvSpPr/>
          <p:nvPr/>
        </p:nvSpPr>
        <p:spPr>
          <a:xfrm>
            <a:off x="7342632" y="2642616"/>
            <a:ext cx="850392" cy="420624"/>
          </a:xfrm>
          <a:prstGeom prst="rect">
            <a:avLst/>
          </a:prstGeom>
          <a:noFill/>
          <a:ln/>
        </p:spPr>
        <p:txBody>
          <a:bodyPr wrap="square" rtlCol="0" anchor="ctr"/>
          <a:lstStyle/>
          <a:p>
            <a:pPr algn="ctr" indent="0" marL="0">
              <a:buNone/>
            </a:pPr>
            <a:r>
              <a:rPr lang="en-US" sz="1100" dirty="0">
                <a:solidFill>
                  <a:srgbClr val="0A0F1E"/>
                </a:solidFill>
                <a:latin typeface="Calibri" pitchFamily="34" charset="0"/>
                <a:ea typeface="Calibri" pitchFamily="34" charset="-122"/>
                <a:cs typeface="Calibri" pitchFamily="34" charset="-120"/>
              </a:rPr>
              <a:t>Riya Sharma</a:t>
            </a:r>
            <a:endParaRPr lang="en-US" sz="1100" dirty="0"/>
          </a:p>
        </p:txBody>
      </p:sp>
      <p:sp>
        <p:nvSpPr>
          <p:cNvPr id="73" name="Shape 71"/>
          <p:cNvSpPr/>
          <p:nvPr/>
        </p:nvSpPr>
        <p:spPr>
          <a:xfrm>
            <a:off x="8193024" y="2642616"/>
            <a:ext cx="850392" cy="420624"/>
          </a:xfrm>
          <a:prstGeom prst="rect">
            <a:avLst/>
          </a:prstGeom>
          <a:solidFill>
            <a:srgbClr val="FFFFFF"/>
          </a:solidFill>
          <a:ln w="12700">
            <a:solidFill>
              <a:srgbClr val="BAE6FD"/>
            </a:solidFill>
            <a:prstDash val="solid"/>
          </a:ln>
        </p:spPr>
      </p:sp>
      <p:sp>
        <p:nvSpPr>
          <p:cNvPr id="74" name="Text 72"/>
          <p:cNvSpPr/>
          <p:nvPr/>
        </p:nvSpPr>
        <p:spPr>
          <a:xfrm>
            <a:off x="8193024" y="2642616"/>
            <a:ext cx="850392" cy="420624"/>
          </a:xfrm>
          <a:prstGeom prst="rect">
            <a:avLst/>
          </a:prstGeom>
          <a:noFill/>
          <a:ln/>
        </p:spPr>
        <p:txBody>
          <a:bodyPr wrap="square" rtlCol="0" anchor="ctr"/>
          <a:lstStyle/>
          <a:p>
            <a:pPr algn="ctr" indent="0" marL="0">
              <a:buNone/>
            </a:pPr>
            <a:r>
              <a:rPr lang="en-US" sz="1100" dirty="0">
                <a:solidFill>
                  <a:srgbClr val="0A0F1E"/>
                </a:solidFill>
                <a:latin typeface="Calibri" pitchFamily="34" charset="0"/>
                <a:ea typeface="Calibri" pitchFamily="34" charset="-122"/>
                <a:cs typeface="Calibri" pitchFamily="34" charset="-120"/>
              </a:rPr>
              <a:t>Mumbai</a:t>
            </a:r>
            <a:endParaRPr lang="en-US" sz="1100" dirty="0"/>
          </a:p>
        </p:txBody>
      </p:sp>
      <p:sp>
        <p:nvSpPr>
          <p:cNvPr id="75" name="Text 73"/>
          <p:cNvSpPr/>
          <p:nvPr/>
        </p:nvSpPr>
        <p:spPr>
          <a:xfrm>
            <a:off x="9235440" y="1901952"/>
            <a:ext cx="2423160" cy="320040"/>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ORDERS</a:t>
            </a:r>
            <a:endParaRPr lang="en-US" sz="1100" dirty="0"/>
          </a:p>
        </p:txBody>
      </p:sp>
      <p:sp>
        <p:nvSpPr>
          <p:cNvPr id="76" name="Shape 74"/>
          <p:cNvSpPr/>
          <p:nvPr/>
        </p:nvSpPr>
        <p:spPr>
          <a:xfrm>
            <a:off x="9235440" y="2221992"/>
            <a:ext cx="603504" cy="420624"/>
          </a:xfrm>
          <a:prstGeom prst="rect">
            <a:avLst/>
          </a:prstGeom>
          <a:solidFill>
            <a:srgbClr val="E0F2FE"/>
          </a:solidFill>
          <a:ln w="12700">
            <a:solidFill>
              <a:srgbClr val="BAE6FD"/>
            </a:solidFill>
            <a:prstDash val="solid"/>
          </a:ln>
        </p:spPr>
      </p:sp>
      <p:sp>
        <p:nvSpPr>
          <p:cNvPr id="77" name="Text 75"/>
          <p:cNvSpPr/>
          <p:nvPr/>
        </p:nvSpPr>
        <p:spPr>
          <a:xfrm>
            <a:off x="9235440" y="2221992"/>
            <a:ext cx="603504" cy="420624"/>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order_id</a:t>
            </a:r>
            <a:endParaRPr lang="en-US" sz="1000" dirty="0"/>
          </a:p>
        </p:txBody>
      </p:sp>
      <p:sp>
        <p:nvSpPr>
          <p:cNvPr id="78" name="Shape 76"/>
          <p:cNvSpPr/>
          <p:nvPr/>
        </p:nvSpPr>
        <p:spPr>
          <a:xfrm>
            <a:off x="9838944" y="2221992"/>
            <a:ext cx="603504" cy="420624"/>
          </a:xfrm>
          <a:prstGeom prst="rect">
            <a:avLst/>
          </a:prstGeom>
          <a:solidFill>
            <a:srgbClr val="E0F2FE"/>
          </a:solidFill>
          <a:ln w="12700">
            <a:solidFill>
              <a:srgbClr val="BAE6FD"/>
            </a:solidFill>
            <a:prstDash val="solid"/>
          </a:ln>
        </p:spPr>
      </p:sp>
      <p:sp>
        <p:nvSpPr>
          <p:cNvPr id="79" name="Text 77"/>
          <p:cNvSpPr/>
          <p:nvPr/>
        </p:nvSpPr>
        <p:spPr>
          <a:xfrm>
            <a:off x="9838944" y="2221992"/>
            <a:ext cx="603504" cy="420624"/>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cust_id</a:t>
            </a:r>
            <a:endParaRPr lang="en-US" sz="1000" dirty="0"/>
          </a:p>
        </p:txBody>
      </p:sp>
      <p:sp>
        <p:nvSpPr>
          <p:cNvPr id="80" name="Shape 78"/>
          <p:cNvSpPr/>
          <p:nvPr/>
        </p:nvSpPr>
        <p:spPr>
          <a:xfrm>
            <a:off x="10442448" y="2221992"/>
            <a:ext cx="603504" cy="420624"/>
          </a:xfrm>
          <a:prstGeom prst="rect">
            <a:avLst/>
          </a:prstGeom>
          <a:solidFill>
            <a:srgbClr val="E0F2FE"/>
          </a:solidFill>
          <a:ln w="12700">
            <a:solidFill>
              <a:srgbClr val="BAE6FD"/>
            </a:solidFill>
            <a:prstDash val="solid"/>
          </a:ln>
        </p:spPr>
      </p:sp>
      <p:sp>
        <p:nvSpPr>
          <p:cNvPr id="81" name="Text 79"/>
          <p:cNvSpPr/>
          <p:nvPr/>
        </p:nvSpPr>
        <p:spPr>
          <a:xfrm>
            <a:off x="10442448" y="2221992"/>
            <a:ext cx="603504" cy="420624"/>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product</a:t>
            </a:r>
            <a:endParaRPr lang="en-US" sz="1000" dirty="0"/>
          </a:p>
        </p:txBody>
      </p:sp>
      <p:sp>
        <p:nvSpPr>
          <p:cNvPr id="82" name="Shape 80"/>
          <p:cNvSpPr/>
          <p:nvPr/>
        </p:nvSpPr>
        <p:spPr>
          <a:xfrm>
            <a:off x="11045952" y="2221992"/>
            <a:ext cx="603504" cy="420624"/>
          </a:xfrm>
          <a:prstGeom prst="rect">
            <a:avLst/>
          </a:prstGeom>
          <a:solidFill>
            <a:srgbClr val="E0F2FE"/>
          </a:solidFill>
          <a:ln w="12700">
            <a:solidFill>
              <a:srgbClr val="BAE6FD"/>
            </a:solidFill>
            <a:prstDash val="solid"/>
          </a:ln>
        </p:spPr>
      </p:sp>
      <p:sp>
        <p:nvSpPr>
          <p:cNvPr id="83" name="Text 81"/>
          <p:cNvSpPr/>
          <p:nvPr/>
        </p:nvSpPr>
        <p:spPr>
          <a:xfrm>
            <a:off x="11045952" y="2221992"/>
            <a:ext cx="603504" cy="420624"/>
          </a:xfrm>
          <a:prstGeom prst="rect">
            <a:avLst/>
          </a:prstGeom>
          <a:noFill/>
          <a:ln/>
        </p:spPr>
        <p:txBody>
          <a:bodyPr wrap="square" rtlCol="0" anchor="ctr"/>
          <a:lstStyle/>
          <a:p>
            <a:pPr algn="ctr" indent="0" marL="0">
              <a:buNone/>
            </a:pPr>
            <a:r>
              <a:rPr lang="en-US" sz="1000" b="1" dirty="0">
                <a:solidFill>
                  <a:srgbClr val="0A0F1E"/>
                </a:solidFill>
                <a:latin typeface="Calibri" pitchFamily="34" charset="0"/>
                <a:ea typeface="Calibri" pitchFamily="34" charset="-122"/>
                <a:cs typeface="Calibri" pitchFamily="34" charset="-120"/>
              </a:rPr>
              <a:t>price</a:t>
            </a:r>
            <a:endParaRPr lang="en-US" sz="1000" dirty="0"/>
          </a:p>
        </p:txBody>
      </p:sp>
      <p:sp>
        <p:nvSpPr>
          <p:cNvPr id="84" name="Shape 82"/>
          <p:cNvSpPr/>
          <p:nvPr/>
        </p:nvSpPr>
        <p:spPr>
          <a:xfrm>
            <a:off x="9235440" y="2642616"/>
            <a:ext cx="603504" cy="420624"/>
          </a:xfrm>
          <a:prstGeom prst="rect">
            <a:avLst/>
          </a:prstGeom>
          <a:solidFill>
            <a:srgbClr val="FFFFFF"/>
          </a:solidFill>
          <a:ln w="12700">
            <a:solidFill>
              <a:srgbClr val="BAE6FD"/>
            </a:solidFill>
            <a:prstDash val="solid"/>
          </a:ln>
        </p:spPr>
      </p:sp>
      <p:sp>
        <p:nvSpPr>
          <p:cNvPr id="85" name="Text 83"/>
          <p:cNvSpPr/>
          <p:nvPr/>
        </p:nvSpPr>
        <p:spPr>
          <a:xfrm>
            <a:off x="9235440" y="2642616"/>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#001</a:t>
            </a:r>
            <a:endParaRPr lang="en-US" sz="1000" dirty="0"/>
          </a:p>
        </p:txBody>
      </p:sp>
      <p:sp>
        <p:nvSpPr>
          <p:cNvPr id="86" name="Shape 84"/>
          <p:cNvSpPr/>
          <p:nvPr/>
        </p:nvSpPr>
        <p:spPr>
          <a:xfrm>
            <a:off x="9838944" y="2642616"/>
            <a:ext cx="603504" cy="420624"/>
          </a:xfrm>
          <a:prstGeom prst="rect">
            <a:avLst/>
          </a:prstGeom>
          <a:solidFill>
            <a:srgbClr val="FFFFFF"/>
          </a:solidFill>
          <a:ln w="12700">
            <a:solidFill>
              <a:srgbClr val="BAE6FD"/>
            </a:solidFill>
            <a:prstDash val="solid"/>
          </a:ln>
        </p:spPr>
      </p:sp>
      <p:sp>
        <p:nvSpPr>
          <p:cNvPr id="87" name="Text 85"/>
          <p:cNvSpPr/>
          <p:nvPr/>
        </p:nvSpPr>
        <p:spPr>
          <a:xfrm>
            <a:off x="9838944" y="2642616"/>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C1</a:t>
            </a:r>
            <a:endParaRPr lang="en-US" sz="1000" dirty="0"/>
          </a:p>
        </p:txBody>
      </p:sp>
      <p:sp>
        <p:nvSpPr>
          <p:cNvPr id="88" name="Shape 86"/>
          <p:cNvSpPr/>
          <p:nvPr/>
        </p:nvSpPr>
        <p:spPr>
          <a:xfrm>
            <a:off x="10442448" y="2642616"/>
            <a:ext cx="603504" cy="420624"/>
          </a:xfrm>
          <a:prstGeom prst="rect">
            <a:avLst/>
          </a:prstGeom>
          <a:solidFill>
            <a:srgbClr val="FFFFFF"/>
          </a:solidFill>
          <a:ln w="12700">
            <a:solidFill>
              <a:srgbClr val="BAE6FD"/>
            </a:solidFill>
            <a:prstDash val="solid"/>
          </a:ln>
        </p:spPr>
      </p:sp>
      <p:sp>
        <p:nvSpPr>
          <p:cNvPr id="89" name="Text 87"/>
          <p:cNvSpPr/>
          <p:nvPr/>
        </p:nvSpPr>
        <p:spPr>
          <a:xfrm>
            <a:off x="10442448" y="2642616"/>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Laptop</a:t>
            </a:r>
            <a:endParaRPr lang="en-US" sz="1000" dirty="0"/>
          </a:p>
        </p:txBody>
      </p:sp>
      <p:sp>
        <p:nvSpPr>
          <p:cNvPr id="90" name="Shape 88"/>
          <p:cNvSpPr/>
          <p:nvPr/>
        </p:nvSpPr>
        <p:spPr>
          <a:xfrm>
            <a:off x="11045952" y="2642616"/>
            <a:ext cx="603504" cy="420624"/>
          </a:xfrm>
          <a:prstGeom prst="rect">
            <a:avLst/>
          </a:prstGeom>
          <a:solidFill>
            <a:srgbClr val="FFFFFF"/>
          </a:solidFill>
          <a:ln w="12700">
            <a:solidFill>
              <a:srgbClr val="BAE6FD"/>
            </a:solidFill>
            <a:prstDash val="solid"/>
          </a:ln>
        </p:spPr>
      </p:sp>
      <p:sp>
        <p:nvSpPr>
          <p:cNvPr id="91" name="Text 89"/>
          <p:cNvSpPr/>
          <p:nvPr/>
        </p:nvSpPr>
        <p:spPr>
          <a:xfrm>
            <a:off x="11045952" y="2642616"/>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65k</a:t>
            </a:r>
            <a:endParaRPr lang="en-US" sz="1000" dirty="0"/>
          </a:p>
        </p:txBody>
      </p:sp>
      <p:sp>
        <p:nvSpPr>
          <p:cNvPr id="92" name="Shape 90"/>
          <p:cNvSpPr/>
          <p:nvPr/>
        </p:nvSpPr>
        <p:spPr>
          <a:xfrm>
            <a:off x="9235440" y="3063240"/>
            <a:ext cx="603504" cy="420624"/>
          </a:xfrm>
          <a:prstGeom prst="rect">
            <a:avLst/>
          </a:prstGeom>
          <a:solidFill>
            <a:srgbClr val="F0F9FF"/>
          </a:solidFill>
          <a:ln w="12700">
            <a:solidFill>
              <a:srgbClr val="BAE6FD"/>
            </a:solidFill>
            <a:prstDash val="solid"/>
          </a:ln>
        </p:spPr>
      </p:sp>
      <p:sp>
        <p:nvSpPr>
          <p:cNvPr id="93" name="Text 91"/>
          <p:cNvSpPr/>
          <p:nvPr/>
        </p:nvSpPr>
        <p:spPr>
          <a:xfrm>
            <a:off x="9235440" y="3063240"/>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#002</a:t>
            </a:r>
            <a:endParaRPr lang="en-US" sz="1000" dirty="0"/>
          </a:p>
        </p:txBody>
      </p:sp>
      <p:sp>
        <p:nvSpPr>
          <p:cNvPr id="94" name="Shape 92"/>
          <p:cNvSpPr/>
          <p:nvPr/>
        </p:nvSpPr>
        <p:spPr>
          <a:xfrm>
            <a:off x="9838944" y="3063240"/>
            <a:ext cx="603504" cy="420624"/>
          </a:xfrm>
          <a:prstGeom prst="rect">
            <a:avLst/>
          </a:prstGeom>
          <a:solidFill>
            <a:srgbClr val="F0F9FF"/>
          </a:solidFill>
          <a:ln w="12700">
            <a:solidFill>
              <a:srgbClr val="BAE6FD"/>
            </a:solidFill>
            <a:prstDash val="solid"/>
          </a:ln>
        </p:spPr>
      </p:sp>
      <p:sp>
        <p:nvSpPr>
          <p:cNvPr id="95" name="Text 93"/>
          <p:cNvSpPr/>
          <p:nvPr/>
        </p:nvSpPr>
        <p:spPr>
          <a:xfrm>
            <a:off x="9838944" y="3063240"/>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C1</a:t>
            </a:r>
            <a:endParaRPr lang="en-US" sz="1000" dirty="0"/>
          </a:p>
        </p:txBody>
      </p:sp>
      <p:sp>
        <p:nvSpPr>
          <p:cNvPr id="96" name="Shape 94"/>
          <p:cNvSpPr/>
          <p:nvPr/>
        </p:nvSpPr>
        <p:spPr>
          <a:xfrm>
            <a:off x="10442448" y="3063240"/>
            <a:ext cx="603504" cy="420624"/>
          </a:xfrm>
          <a:prstGeom prst="rect">
            <a:avLst/>
          </a:prstGeom>
          <a:solidFill>
            <a:srgbClr val="F0F9FF"/>
          </a:solidFill>
          <a:ln w="12700">
            <a:solidFill>
              <a:srgbClr val="BAE6FD"/>
            </a:solidFill>
            <a:prstDash val="solid"/>
          </a:ln>
        </p:spPr>
      </p:sp>
      <p:sp>
        <p:nvSpPr>
          <p:cNvPr id="97" name="Text 95"/>
          <p:cNvSpPr/>
          <p:nvPr/>
        </p:nvSpPr>
        <p:spPr>
          <a:xfrm>
            <a:off x="10442448" y="3063240"/>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Phone</a:t>
            </a:r>
            <a:endParaRPr lang="en-US" sz="1000" dirty="0"/>
          </a:p>
        </p:txBody>
      </p:sp>
      <p:sp>
        <p:nvSpPr>
          <p:cNvPr id="98" name="Shape 96"/>
          <p:cNvSpPr/>
          <p:nvPr/>
        </p:nvSpPr>
        <p:spPr>
          <a:xfrm>
            <a:off x="11045952" y="3063240"/>
            <a:ext cx="603504" cy="420624"/>
          </a:xfrm>
          <a:prstGeom prst="rect">
            <a:avLst/>
          </a:prstGeom>
          <a:solidFill>
            <a:srgbClr val="F0F9FF"/>
          </a:solidFill>
          <a:ln w="12700">
            <a:solidFill>
              <a:srgbClr val="BAE6FD"/>
            </a:solidFill>
            <a:prstDash val="solid"/>
          </a:ln>
        </p:spPr>
      </p:sp>
      <p:sp>
        <p:nvSpPr>
          <p:cNvPr id="99" name="Text 97"/>
          <p:cNvSpPr/>
          <p:nvPr/>
        </p:nvSpPr>
        <p:spPr>
          <a:xfrm>
            <a:off x="11045952" y="3063240"/>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22k</a:t>
            </a:r>
            <a:endParaRPr lang="en-US" sz="1000" dirty="0"/>
          </a:p>
        </p:txBody>
      </p:sp>
      <p:sp>
        <p:nvSpPr>
          <p:cNvPr id="100" name="Shape 98"/>
          <p:cNvSpPr/>
          <p:nvPr/>
        </p:nvSpPr>
        <p:spPr>
          <a:xfrm>
            <a:off x="9235440" y="3483864"/>
            <a:ext cx="603504" cy="420624"/>
          </a:xfrm>
          <a:prstGeom prst="rect">
            <a:avLst/>
          </a:prstGeom>
          <a:solidFill>
            <a:srgbClr val="FFFFFF"/>
          </a:solidFill>
          <a:ln w="12700">
            <a:solidFill>
              <a:srgbClr val="BAE6FD"/>
            </a:solidFill>
            <a:prstDash val="solid"/>
          </a:ln>
        </p:spPr>
      </p:sp>
      <p:sp>
        <p:nvSpPr>
          <p:cNvPr id="101" name="Text 99"/>
          <p:cNvSpPr/>
          <p:nvPr/>
        </p:nvSpPr>
        <p:spPr>
          <a:xfrm>
            <a:off x="9235440" y="3483864"/>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#003</a:t>
            </a:r>
            <a:endParaRPr lang="en-US" sz="1000" dirty="0"/>
          </a:p>
        </p:txBody>
      </p:sp>
      <p:sp>
        <p:nvSpPr>
          <p:cNvPr id="102" name="Shape 100"/>
          <p:cNvSpPr/>
          <p:nvPr/>
        </p:nvSpPr>
        <p:spPr>
          <a:xfrm>
            <a:off x="9838944" y="3483864"/>
            <a:ext cx="603504" cy="420624"/>
          </a:xfrm>
          <a:prstGeom prst="rect">
            <a:avLst/>
          </a:prstGeom>
          <a:solidFill>
            <a:srgbClr val="FFFFFF"/>
          </a:solidFill>
          <a:ln w="12700">
            <a:solidFill>
              <a:srgbClr val="BAE6FD"/>
            </a:solidFill>
            <a:prstDash val="solid"/>
          </a:ln>
        </p:spPr>
      </p:sp>
      <p:sp>
        <p:nvSpPr>
          <p:cNvPr id="103" name="Text 101"/>
          <p:cNvSpPr/>
          <p:nvPr/>
        </p:nvSpPr>
        <p:spPr>
          <a:xfrm>
            <a:off x="9838944" y="3483864"/>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C1</a:t>
            </a:r>
            <a:endParaRPr lang="en-US" sz="1000" dirty="0"/>
          </a:p>
        </p:txBody>
      </p:sp>
      <p:sp>
        <p:nvSpPr>
          <p:cNvPr id="104" name="Shape 102"/>
          <p:cNvSpPr/>
          <p:nvPr/>
        </p:nvSpPr>
        <p:spPr>
          <a:xfrm>
            <a:off x="10442448" y="3483864"/>
            <a:ext cx="603504" cy="420624"/>
          </a:xfrm>
          <a:prstGeom prst="rect">
            <a:avLst/>
          </a:prstGeom>
          <a:solidFill>
            <a:srgbClr val="FFFFFF"/>
          </a:solidFill>
          <a:ln w="12700">
            <a:solidFill>
              <a:srgbClr val="BAE6FD"/>
            </a:solidFill>
            <a:prstDash val="solid"/>
          </a:ln>
        </p:spPr>
      </p:sp>
      <p:sp>
        <p:nvSpPr>
          <p:cNvPr id="105" name="Text 103"/>
          <p:cNvSpPr/>
          <p:nvPr/>
        </p:nvSpPr>
        <p:spPr>
          <a:xfrm>
            <a:off x="10442448" y="3483864"/>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Tablet</a:t>
            </a:r>
            <a:endParaRPr lang="en-US" sz="1000" dirty="0"/>
          </a:p>
        </p:txBody>
      </p:sp>
      <p:sp>
        <p:nvSpPr>
          <p:cNvPr id="106" name="Shape 104"/>
          <p:cNvSpPr/>
          <p:nvPr/>
        </p:nvSpPr>
        <p:spPr>
          <a:xfrm>
            <a:off x="11045952" y="3483864"/>
            <a:ext cx="603504" cy="420624"/>
          </a:xfrm>
          <a:prstGeom prst="rect">
            <a:avLst/>
          </a:prstGeom>
          <a:solidFill>
            <a:srgbClr val="FFFFFF"/>
          </a:solidFill>
          <a:ln w="12700">
            <a:solidFill>
              <a:srgbClr val="BAE6FD"/>
            </a:solidFill>
            <a:prstDash val="solid"/>
          </a:ln>
        </p:spPr>
      </p:sp>
      <p:sp>
        <p:nvSpPr>
          <p:cNvPr id="107" name="Text 105"/>
          <p:cNvSpPr/>
          <p:nvPr/>
        </p:nvSpPr>
        <p:spPr>
          <a:xfrm>
            <a:off x="11045952" y="3483864"/>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35k</a:t>
            </a:r>
            <a:endParaRPr lang="en-US" sz="1000" dirty="0"/>
          </a:p>
        </p:txBody>
      </p:sp>
      <p:sp>
        <p:nvSpPr>
          <p:cNvPr id="108" name="Shape 106"/>
          <p:cNvSpPr/>
          <p:nvPr/>
        </p:nvSpPr>
        <p:spPr>
          <a:xfrm>
            <a:off x="9235440" y="3904488"/>
            <a:ext cx="603504" cy="420624"/>
          </a:xfrm>
          <a:prstGeom prst="rect">
            <a:avLst/>
          </a:prstGeom>
          <a:solidFill>
            <a:srgbClr val="F0F9FF"/>
          </a:solidFill>
          <a:ln w="12700">
            <a:solidFill>
              <a:srgbClr val="BAE6FD"/>
            </a:solidFill>
            <a:prstDash val="solid"/>
          </a:ln>
        </p:spPr>
      </p:sp>
      <p:sp>
        <p:nvSpPr>
          <p:cNvPr id="109" name="Text 107"/>
          <p:cNvSpPr/>
          <p:nvPr/>
        </p:nvSpPr>
        <p:spPr>
          <a:xfrm>
            <a:off x="9235440" y="3904488"/>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#004</a:t>
            </a:r>
            <a:endParaRPr lang="en-US" sz="1000" dirty="0"/>
          </a:p>
        </p:txBody>
      </p:sp>
      <p:sp>
        <p:nvSpPr>
          <p:cNvPr id="110" name="Shape 108"/>
          <p:cNvSpPr/>
          <p:nvPr/>
        </p:nvSpPr>
        <p:spPr>
          <a:xfrm>
            <a:off x="9838944" y="3904488"/>
            <a:ext cx="603504" cy="420624"/>
          </a:xfrm>
          <a:prstGeom prst="rect">
            <a:avLst/>
          </a:prstGeom>
          <a:solidFill>
            <a:srgbClr val="F0F9FF"/>
          </a:solidFill>
          <a:ln w="12700">
            <a:solidFill>
              <a:srgbClr val="BAE6FD"/>
            </a:solidFill>
            <a:prstDash val="solid"/>
          </a:ln>
        </p:spPr>
      </p:sp>
      <p:sp>
        <p:nvSpPr>
          <p:cNvPr id="111" name="Text 109"/>
          <p:cNvSpPr/>
          <p:nvPr/>
        </p:nvSpPr>
        <p:spPr>
          <a:xfrm>
            <a:off x="9838944" y="3904488"/>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C1</a:t>
            </a:r>
            <a:endParaRPr lang="en-US" sz="1000" dirty="0"/>
          </a:p>
        </p:txBody>
      </p:sp>
      <p:sp>
        <p:nvSpPr>
          <p:cNvPr id="112" name="Shape 110"/>
          <p:cNvSpPr/>
          <p:nvPr/>
        </p:nvSpPr>
        <p:spPr>
          <a:xfrm>
            <a:off x="10442448" y="3904488"/>
            <a:ext cx="603504" cy="420624"/>
          </a:xfrm>
          <a:prstGeom prst="rect">
            <a:avLst/>
          </a:prstGeom>
          <a:solidFill>
            <a:srgbClr val="F0F9FF"/>
          </a:solidFill>
          <a:ln w="12700">
            <a:solidFill>
              <a:srgbClr val="BAE6FD"/>
            </a:solidFill>
            <a:prstDash val="solid"/>
          </a:ln>
        </p:spPr>
      </p:sp>
      <p:sp>
        <p:nvSpPr>
          <p:cNvPr id="113" name="Text 111"/>
          <p:cNvSpPr/>
          <p:nvPr/>
        </p:nvSpPr>
        <p:spPr>
          <a:xfrm>
            <a:off x="10442448" y="3904488"/>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Earbuds</a:t>
            </a:r>
            <a:endParaRPr lang="en-US" sz="1000" dirty="0"/>
          </a:p>
        </p:txBody>
      </p:sp>
      <p:sp>
        <p:nvSpPr>
          <p:cNvPr id="114" name="Shape 112"/>
          <p:cNvSpPr/>
          <p:nvPr/>
        </p:nvSpPr>
        <p:spPr>
          <a:xfrm>
            <a:off x="11045952" y="3904488"/>
            <a:ext cx="603504" cy="420624"/>
          </a:xfrm>
          <a:prstGeom prst="rect">
            <a:avLst/>
          </a:prstGeom>
          <a:solidFill>
            <a:srgbClr val="F0F9FF"/>
          </a:solidFill>
          <a:ln w="12700">
            <a:solidFill>
              <a:srgbClr val="BAE6FD"/>
            </a:solidFill>
            <a:prstDash val="solid"/>
          </a:ln>
        </p:spPr>
      </p:sp>
      <p:sp>
        <p:nvSpPr>
          <p:cNvPr id="115" name="Text 113"/>
          <p:cNvSpPr/>
          <p:nvPr/>
        </p:nvSpPr>
        <p:spPr>
          <a:xfrm>
            <a:off x="11045952" y="3904488"/>
            <a:ext cx="603504" cy="420624"/>
          </a:xfrm>
          <a:prstGeom prst="rect">
            <a:avLst/>
          </a:prstGeom>
          <a:noFill/>
          <a:ln/>
        </p:spPr>
        <p:txBody>
          <a:bodyPr wrap="square" rtlCol="0" anchor="ctr"/>
          <a:lstStyle/>
          <a:p>
            <a:pPr algn="ctr" indent="0" marL="0">
              <a:buNone/>
            </a:pPr>
            <a:r>
              <a:rPr lang="en-US" sz="1000" dirty="0">
                <a:solidFill>
                  <a:srgbClr val="0A0F1E"/>
                </a:solidFill>
                <a:latin typeface="Calibri" pitchFamily="34" charset="0"/>
                <a:ea typeface="Calibri" pitchFamily="34" charset="-122"/>
                <a:cs typeface="Calibri" pitchFamily="34" charset="-120"/>
              </a:rPr>
              <a:t>4.5k</a:t>
            </a:r>
            <a:endParaRPr lang="en-US" sz="1000" dirty="0"/>
          </a:p>
        </p:txBody>
      </p:sp>
      <p:sp>
        <p:nvSpPr>
          <p:cNvPr id="116" name="Text 114"/>
          <p:cNvSpPr/>
          <p:nvPr/>
        </p:nvSpPr>
        <p:spPr>
          <a:xfrm>
            <a:off x="6537960" y="4206240"/>
            <a:ext cx="5120640" cy="822960"/>
          </a:xfrm>
          <a:prstGeom prst="rect">
            <a:avLst/>
          </a:prstGeom>
          <a:noFill/>
          <a:ln/>
        </p:spPr>
        <p:txBody>
          <a:bodyPr wrap="square" rtlCol="0" anchor="ctr"/>
          <a:lstStyle/>
          <a:p>
            <a:pPr indent="0" marL="0">
              <a:buNone/>
            </a:pPr>
            <a:r>
              <a:rPr lang="en-US" sz="1200" b="1" dirty="0">
                <a:solidFill>
                  <a:srgbClr val="52E3A3"/>
                </a:solidFill>
                <a:latin typeface="Calibri" pitchFamily="34" charset="0"/>
                <a:ea typeface="Calibri" pitchFamily="34" charset="-122"/>
                <a:cs typeface="Calibri" pitchFamily="34" charset="-120"/>
              </a:rPr>
              <a:t>✅  Riya's name and city stored ONCE.</a:t>
            </a:r>
            <a:endParaRPr lang="en-US" sz="1200" dirty="0"/>
          </a:p>
          <a:p>
            <a:pPr indent="0" marL="0">
              <a:buNone/>
            </a:pPr>
            <a:r>
              <a:rPr lang="en-US" sz="1200" b="1" dirty="0">
                <a:solidFill>
                  <a:srgbClr val="52E3A3"/>
                </a:solidFill>
                <a:latin typeface="Calibri" pitchFamily="34" charset="0"/>
                <a:ea typeface="Calibri" pitchFamily="34" charset="-122"/>
                <a:cs typeface="Calibri" pitchFamily="34" charset="-120"/>
              </a:rPr>
              <a:t>She moves to Pune? Change 1 row — done.</a:t>
            </a:r>
            <a:endParaRPr lang="en-US" sz="1200" dirty="0"/>
          </a:p>
          <a:p>
            <a:pPr indent="0" marL="0">
              <a:buNone/>
            </a:pPr>
            <a:r>
              <a:rPr lang="en-US" sz="1200" b="1" dirty="0">
                <a:solidFill>
                  <a:srgbClr val="52E3A3"/>
                </a:solidFill>
                <a:latin typeface="Calibri" pitchFamily="34" charset="0"/>
                <a:ea typeface="Calibri" pitchFamily="34" charset="-122"/>
                <a:cs typeface="Calibri" pitchFamily="34" charset="-120"/>
              </a:rPr>
              <a:t>All 4 orders automatically reflect the update.</a:t>
            </a:r>
            <a:endParaRPr lang="en-US" sz="1200" dirty="0"/>
          </a:p>
        </p:txBody>
      </p:sp>
      <p:sp>
        <p:nvSpPr>
          <p:cNvPr id="117" name="Shape 115"/>
          <p:cNvSpPr/>
          <p:nvPr/>
        </p:nvSpPr>
        <p:spPr>
          <a:xfrm>
            <a:off x="0" y="5230368"/>
            <a:ext cx="12161520" cy="457200"/>
          </a:xfrm>
          <a:prstGeom prst="rect">
            <a:avLst/>
          </a:prstGeom>
          <a:solidFill>
            <a:srgbClr val="102A4C"/>
          </a:solidFill>
          <a:ln w="12700">
            <a:solidFill>
              <a:srgbClr val="102A4C"/>
            </a:solidFill>
            <a:prstDash val="solid"/>
          </a:ln>
        </p:spPr>
      </p:sp>
      <p:sp>
        <p:nvSpPr>
          <p:cNvPr id="118" name="Text 116"/>
          <p:cNvSpPr/>
          <p:nvPr/>
        </p:nvSpPr>
        <p:spPr>
          <a:xfrm>
            <a:off x="457200" y="5230368"/>
            <a:ext cx="11247120" cy="457200"/>
          </a:xfrm>
          <a:prstGeom prst="rect">
            <a:avLst/>
          </a:prstGeom>
          <a:noFill/>
          <a:ln/>
        </p:spPr>
        <p:txBody>
          <a:bodyPr wrap="square" rtlCol="0" anchor="ctr"/>
          <a:lstStyle/>
          <a:p>
            <a:pPr algn="ctr" indent="0" marL="0">
              <a:buNone/>
            </a:pPr>
            <a:r>
              <a:rPr lang="en-US" sz="1300" dirty="0">
                <a:solidFill>
                  <a:srgbClr val="00C2CB"/>
                </a:solidFill>
                <a:latin typeface="Calibri" pitchFamily="34" charset="0"/>
                <a:ea typeface="Calibri" pitchFamily="34" charset="-122"/>
                <a:cs typeface="Calibri" pitchFamily="34" charset="-120"/>
              </a:rPr>
              <a:t>Normalization: Refine your tables so each independent piece of information is stored in exactly one place — except for foreign keys.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38B2F0"/>
          </a:solidFill>
          <a:ln w="12700">
            <a:solidFill>
              <a:srgbClr val="38B2F0"/>
            </a:solidFill>
            <a:prstDash val="solid"/>
          </a:ln>
        </p:spPr>
      </p:sp>
      <p:sp>
        <p:nvSpPr>
          <p:cNvPr id="4" name="Shape 2"/>
          <p:cNvSpPr/>
          <p:nvPr/>
        </p:nvSpPr>
        <p:spPr>
          <a:xfrm>
            <a:off x="0" y="1188720"/>
            <a:ext cx="12161520" cy="36576"/>
          </a:xfrm>
          <a:prstGeom prst="rect">
            <a:avLst/>
          </a:prstGeom>
          <a:solidFill>
            <a:srgbClr val="38B2F0"/>
          </a:solidFill>
          <a:ln w="12700">
            <a:solidFill>
              <a:srgbClr val="38B2F0"/>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What Is SQL?</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38B2F0"/>
                </a:solidFill>
                <a:latin typeface="Calibri" pitchFamily="34" charset="0"/>
                <a:ea typeface="Calibri" pitchFamily="34" charset="-122"/>
                <a:cs typeface="Calibri" pitchFamily="34" charset="-120"/>
              </a:rPr>
              <a:t>The language invented to talk to relational databases</a:t>
            </a:r>
            <a:endParaRPr lang="en-US" sz="1400" dirty="0"/>
          </a:p>
        </p:txBody>
      </p:sp>
      <p:sp>
        <p:nvSpPr>
          <p:cNvPr id="7" name="Shape 5"/>
          <p:cNvSpPr/>
          <p:nvPr/>
        </p:nvSpPr>
        <p:spPr>
          <a:xfrm>
            <a:off x="457200" y="1389888"/>
            <a:ext cx="5120640" cy="5212080"/>
          </a:xfrm>
          <a:prstGeom prst="rect">
            <a:avLst/>
          </a:prstGeom>
          <a:solidFill>
            <a:srgbClr val="102A4C"/>
          </a:solidFill>
          <a:ln w="12700">
            <a:solidFill>
              <a:srgbClr val="1E3A5F"/>
            </a:solidFill>
            <a:prstDash val="solid"/>
          </a:ln>
          <a:effectLst>
            <a:outerShdw sx="100000" sy="100000" kx="0" ky="0" algn="bl" rotWithShape="0" blurRad="101600" dist="38100" dir="8100000">
              <a:srgbClr val="000000">
                <a:alpha val="14000"/>
              </a:srgbClr>
            </a:outerShdw>
          </a:effectLst>
        </p:spPr>
      </p:sp>
      <p:sp>
        <p:nvSpPr>
          <p:cNvPr id="8" name="Text 6"/>
          <p:cNvSpPr/>
          <p:nvPr/>
        </p:nvSpPr>
        <p:spPr>
          <a:xfrm>
            <a:off x="640080" y="1508760"/>
            <a:ext cx="4754880" cy="438912"/>
          </a:xfrm>
          <a:prstGeom prst="rect">
            <a:avLst/>
          </a:prstGeom>
          <a:noFill/>
          <a:ln/>
        </p:spPr>
        <p:txBody>
          <a:bodyPr wrap="square" rtlCol="0" anchor="ctr"/>
          <a:lstStyle/>
          <a:p>
            <a:pPr indent="0" marL="0">
              <a:buNone/>
            </a:pPr>
            <a:r>
              <a:rPr lang="en-US" sz="1700" b="1" dirty="0">
                <a:solidFill>
                  <a:srgbClr val="00C2CB"/>
                </a:solidFill>
                <a:latin typeface="Calibri" pitchFamily="34" charset="0"/>
                <a:ea typeface="Calibri" pitchFamily="34" charset="-122"/>
                <a:cs typeface="Calibri" pitchFamily="34" charset="-120"/>
              </a:rPr>
              <a:t>The Origin Story</a:t>
            </a:r>
            <a:endParaRPr lang="en-US" sz="1700" dirty="0"/>
          </a:p>
        </p:txBody>
      </p:sp>
      <p:sp>
        <p:nvSpPr>
          <p:cNvPr id="9" name="Shape 7"/>
          <p:cNvSpPr/>
          <p:nvPr/>
        </p:nvSpPr>
        <p:spPr>
          <a:xfrm>
            <a:off x="594360" y="2057400"/>
            <a:ext cx="292608" cy="292608"/>
          </a:xfrm>
          <a:prstGeom prst="ellipse">
            <a:avLst/>
          </a:prstGeom>
          <a:solidFill>
            <a:srgbClr val="00C2CB"/>
          </a:solidFill>
          <a:ln w="12700">
            <a:solidFill>
              <a:srgbClr val="00C2CB"/>
            </a:solidFill>
            <a:prstDash val="solid"/>
          </a:ln>
        </p:spPr>
      </p:sp>
      <p:sp>
        <p:nvSpPr>
          <p:cNvPr id="10" name="Shape 8"/>
          <p:cNvSpPr/>
          <p:nvPr/>
        </p:nvSpPr>
        <p:spPr>
          <a:xfrm>
            <a:off x="740664" y="2350008"/>
            <a:ext cx="0" cy="347472"/>
          </a:xfrm>
          <a:prstGeom prst="line">
            <a:avLst/>
          </a:prstGeom>
          <a:noFill/>
          <a:ln w="12700">
            <a:solidFill>
              <a:srgbClr val="1E3A5F"/>
            </a:solidFill>
            <a:prstDash val="solid"/>
          </a:ln>
        </p:spPr>
      </p:sp>
      <p:sp>
        <p:nvSpPr>
          <p:cNvPr id="11" name="Text 9"/>
          <p:cNvSpPr/>
          <p:nvPr/>
        </p:nvSpPr>
        <p:spPr>
          <a:xfrm>
            <a:off x="1005840" y="2011680"/>
            <a:ext cx="822960" cy="384048"/>
          </a:xfrm>
          <a:prstGeom prst="rect">
            <a:avLst/>
          </a:prstGeom>
          <a:noFill/>
          <a:ln/>
        </p:spPr>
        <p:txBody>
          <a:bodyPr wrap="square" rtlCol="0" anchor="ctr"/>
          <a:lstStyle/>
          <a:p>
            <a:pPr indent="0" marL="0">
              <a:buNone/>
            </a:pPr>
            <a:r>
              <a:rPr lang="en-US" sz="1200" b="1" dirty="0">
                <a:solidFill>
                  <a:srgbClr val="00C2CB"/>
                </a:solidFill>
                <a:latin typeface="Calibri" pitchFamily="34" charset="0"/>
                <a:ea typeface="Calibri" pitchFamily="34" charset="-122"/>
                <a:cs typeface="Calibri" pitchFamily="34" charset="-120"/>
              </a:rPr>
              <a:t>1970</a:t>
            </a:r>
            <a:endParaRPr lang="en-US" sz="1200" dirty="0"/>
          </a:p>
        </p:txBody>
      </p:sp>
      <p:sp>
        <p:nvSpPr>
          <p:cNvPr id="12" name="Text 10"/>
          <p:cNvSpPr/>
          <p:nvPr/>
        </p:nvSpPr>
        <p:spPr>
          <a:xfrm>
            <a:off x="1901952" y="2011680"/>
            <a:ext cx="3520440" cy="38404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Dr. Codd publishes relational model at IBM. Proposes DSL/Alpha language.</a:t>
            </a:r>
            <a:endParaRPr lang="en-US" sz="1100" dirty="0"/>
          </a:p>
        </p:txBody>
      </p:sp>
      <p:sp>
        <p:nvSpPr>
          <p:cNvPr id="13" name="Shape 11"/>
          <p:cNvSpPr/>
          <p:nvPr/>
        </p:nvSpPr>
        <p:spPr>
          <a:xfrm>
            <a:off x="594360" y="2697480"/>
            <a:ext cx="292608" cy="292608"/>
          </a:xfrm>
          <a:prstGeom prst="ellipse">
            <a:avLst/>
          </a:prstGeom>
          <a:solidFill>
            <a:srgbClr val="00C2CB"/>
          </a:solidFill>
          <a:ln w="12700">
            <a:solidFill>
              <a:srgbClr val="00C2CB"/>
            </a:solidFill>
            <a:prstDash val="solid"/>
          </a:ln>
        </p:spPr>
      </p:sp>
      <p:sp>
        <p:nvSpPr>
          <p:cNvPr id="14" name="Shape 12"/>
          <p:cNvSpPr/>
          <p:nvPr/>
        </p:nvSpPr>
        <p:spPr>
          <a:xfrm>
            <a:off x="740664" y="2990088"/>
            <a:ext cx="0" cy="347472"/>
          </a:xfrm>
          <a:prstGeom prst="line">
            <a:avLst/>
          </a:prstGeom>
          <a:noFill/>
          <a:ln w="12700">
            <a:solidFill>
              <a:srgbClr val="1E3A5F"/>
            </a:solidFill>
            <a:prstDash val="solid"/>
          </a:ln>
        </p:spPr>
      </p:sp>
      <p:sp>
        <p:nvSpPr>
          <p:cNvPr id="15" name="Text 13"/>
          <p:cNvSpPr/>
          <p:nvPr/>
        </p:nvSpPr>
        <p:spPr>
          <a:xfrm>
            <a:off x="1005840" y="2651760"/>
            <a:ext cx="822960" cy="384048"/>
          </a:xfrm>
          <a:prstGeom prst="rect">
            <a:avLst/>
          </a:prstGeom>
          <a:noFill/>
          <a:ln/>
        </p:spPr>
        <p:txBody>
          <a:bodyPr wrap="square" rtlCol="0" anchor="ctr"/>
          <a:lstStyle/>
          <a:p>
            <a:pPr indent="0" marL="0">
              <a:buNone/>
            </a:pPr>
            <a:r>
              <a:rPr lang="en-US" sz="1200" b="1" dirty="0">
                <a:solidFill>
                  <a:srgbClr val="00C2CB"/>
                </a:solidFill>
                <a:latin typeface="Calibri" pitchFamily="34" charset="0"/>
                <a:ea typeface="Calibri" pitchFamily="34" charset="-122"/>
                <a:cs typeface="Calibri" pitchFamily="34" charset="-120"/>
              </a:rPr>
              <a:t>1974</a:t>
            </a:r>
            <a:endParaRPr lang="en-US" sz="1200" dirty="0"/>
          </a:p>
        </p:txBody>
      </p:sp>
      <p:sp>
        <p:nvSpPr>
          <p:cNvPr id="16" name="Text 14"/>
          <p:cNvSpPr/>
          <p:nvPr/>
        </p:nvSpPr>
        <p:spPr>
          <a:xfrm>
            <a:off x="1901952" y="2651760"/>
            <a:ext cx="3520440" cy="38404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IBM builds a prototype. They simplify DSL/Alpha, call it SQUARE.</a:t>
            </a:r>
            <a:endParaRPr lang="en-US" sz="1100" dirty="0"/>
          </a:p>
        </p:txBody>
      </p:sp>
      <p:sp>
        <p:nvSpPr>
          <p:cNvPr id="17" name="Shape 15"/>
          <p:cNvSpPr/>
          <p:nvPr/>
        </p:nvSpPr>
        <p:spPr>
          <a:xfrm>
            <a:off x="594360" y="3337560"/>
            <a:ext cx="292608" cy="292608"/>
          </a:xfrm>
          <a:prstGeom prst="ellipse">
            <a:avLst/>
          </a:prstGeom>
          <a:solidFill>
            <a:srgbClr val="00C2CB"/>
          </a:solidFill>
          <a:ln w="12700">
            <a:solidFill>
              <a:srgbClr val="00C2CB"/>
            </a:solidFill>
            <a:prstDash val="solid"/>
          </a:ln>
        </p:spPr>
      </p:sp>
      <p:sp>
        <p:nvSpPr>
          <p:cNvPr id="18" name="Shape 16"/>
          <p:cNvSpPr/>
          <p:nvPr/>
        </p:nvSpPr>
        <p:spPr>
          <a:xfrm>
            <a:off x="740664" y="3630168"/>
            <a:ext cx="0" cy="347472"/>
          </a:xfrm>
          <a:prstGeom prst="line">
            <a:avLst/>
          </a:prstGeom>
          <a:noFill/>
          <a:ln w="12700">
            <a:solidFill>
              <a:srgbClr val="1E3A5F"/>
            </a:solidFill>
            <a:prstDash val="solid"/>
          </a:ln>
        </p:spPr>
      </p:sp>
      <p:sp>
        <p:nvSpPr>
          <p:cNvPr id="19" name="Text 17"/>
          <p:cNvSpPr/>
          <p:nvPr/>
        </p:nvSpPr>
        <p:spPr>
          <a:xfrm>
            <a:off x="1005840" y="3291840"/>
            <a:ext cx="822960" cy="384048"/>
          </a:xfrm>
          <a:prstGeom prst="rect">
            <a:avLst/>
          </a:prstGeom>
          <a:noFill/>
          <a:ln/>
        </p:spPr>
        <p:txBody>
          <a:bodyPr wrap="square" rtlCol="0" anchor="ctr"/>
          <a:lstStyle/>
          <a:p>
            <a:pPr indent="0" marL="0">
              <a:buNone/>
            </a:pPr>
            <a:r>
              <a:rPr lang="en-US" sz="1200" b="1" dirty="0">
                <a:solidFill>
                  <a:srgbClr val="00C2CB"/>
                </a:solidFill>
                <a:latin typeface="Calibri" pitchFamily="34" charset="0"/>
                <a:ea typeface="Calibri" pitchFamily="34" charset="-122"/>
                <a:cs typeface="Calibri" pitchFamily="34" charset="-120"/>
              </a:rPr>
              <a:t>1976</a:t>
            </a:r>
            <a:endParaRPr lang="en-US" sz="1200" dirty="0"/>
          </a:p>
        </p:txBody>
      </p:sp>
      <p:sp>
        <p:nvSpPr>
          <p:cNvPr id="20" name="Text 18"/>
          <p:cNvSpPr/>
          <p:nvPr/>
        </p:nvSpPr>
        <p:spPr>
          <a:xfrm>
            <a:off x="1901952" y="3291840"/>
            <a:ext cx="3520440" cy="38404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SQUARE refined further → renamed SEQUEL (Structured English Query Language).</a:t>
            </a:r>
            <a:endParaRPr lang="en-US" sz="1100" dirty="0"/>
          </a:p>
        </p:txBody>
      </p:sp>
      <p:sp>
        <p:nvSpPr>
          <p:cNvPr id="21" name="Shape 19"/>
          <p:cNvSpPr/>
          <p:nvPr/>
        </p:nvSpPr>
        <p:spPr>
          <a:xfrm>
            <a:off x="594360" y="3977640"/>
            <a:ext cx="292608" cy="292608"/>
          </a:xfrm>
          <a:prstGeom prst="ellipse">
            <a:avLst/>
          </a:prstGeom>
          <a:solidFill>
            <a:srgbClr val="00C2CB"/>
          </a:solidFill>
          <a:ln w="12700">
            <a:solidFill>
              <a:srgbClr val="00C2CB"/>
            </a:solidFill>
            <a:prstDash val="solid"/>
          </a:ln>
        </p:spPr>
      </p:sp>
      <p:sp>
        <p:nvSpPr>
          <p:cNvPr id="22" name="Shape 20"/>
          <p:cNvSpPr/>
          <p:nvPr/>
        </p:nvSpPr>
        <p:spPr>
          <a:xfrm>
            <a:off x="740664" y="4270248"/>
            <a:ext cx="0" cy="347472"/>
          </a:xfrm>
          <a:prstGeom prst="line">
            <a:avLst/>
          </a:prstGeom>
          <a:noFill/>
          <a:ln w="12700">
            <a:solidFill>
              <a:srgbClr val="1E3A5F"/>
            </a:solidFill>
            <a:prstDash val="solid"/>
          </a:ln>
        </p:spPr>
      </p:sp>
      <p:sp>
        <p:nvSpPr>
          <p:cNvPr id="23" name="Text 21"/>
          <p:cNvSpPr/>
          <p:nvPr/>
        </p:nvSpPr>
        <p:spPr>
          <a:xfrm>
            <a:off x="1005840" y="3931920"/>
            <a:ext cx="822960" cy="384048"/>
          </a:xfrm>
          <a:prstGeom prst="rect">
            <a:avLst/>
          </a:prstGeom>
          <a:noFill/>
          <a:ln/>
        </p:spPr>
        <p:txBody>
          <a:bodyPr wrap="square" rtlCol="0" anchor="ctr"/>
          <a:lstStyle/>
          <a:p>
            <a:pPr indent="0" marL="0">
              <a:buNone/>
            </a:pPr>
            <a:r>
              <a:rPr lang="en-US" sz="1200" b="1" dirty="0">
                <a:solidFill>
                  <a:srgbClr val="00C2CB"/>
                </a:solidFill>
                <a:latin typeface="Calibri" pitchFamily="34" charset="0"/>
                <a:ea typeface="Calibri" pitchFamily="34" charset="-122"/>
                <a:cs typeface="Calibri" pitchFamily="34" charset="-120"/>
              </a:rPr>
              <a:t>1979</a:t>
            </a:r>
            <a:endParaRPr lang="en-US" sz="1200" dirty="0"/>
          </a:p>
        </p:txBody>
      </p:sp>
      <p:sp>
        <p:nvSpPr>
          <p:cNvPr id="24" name="Text 22"/>
          <p:cNvSpPr/>
          <p:nvPr/>
        </p:nvSpPr>
        <p:spPr>
          <a:xfrm>
            <a:off x="1901952" y="3931920"/>
            <a:ext cx="3520440" cy="38404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Name shortened to SQL to avoid trademark conflict. First commercial product: Oracle.</a:t>
            </a:r>
            <a:endParaRPr lang="en-US" sz="1100" dirty="0"/>
          </a:p>
        </p:txBody>
      </p:sp>
      <p:sp>
        <p:nvSpPr>
          <p:cNvPr id="25" name="Shape 23"/>
          <p:cNvSpPr/>
          <p:nvPr/>
        </p:nvSpPr>
        <p:spPr>
          <a:xfrm>
            <a:off x="594360" y="4617720"/>
            <a:ext cx="292608" cy="292608"/>
          </a:xfrm>
          <a:prstGeom prst="ellipse">
            <a:avLst/>
          </a:prstGeom>
          <a:solidFill>
            <a:srgbClr val="00C2CB"/>
          </a:solidFill>
          <a:ln w="12700">
            <a:solidFill>
              <a:srgbClr val="00C2CB"/>
            </a:solidFill>
            <a:prstDash val="solid"/>
          </a:ln>
        </p:spPr>
      </p:sp>
      <p:sp>
        <p:nvSpPr>
          <p:cNvPr id="26" name="Shape 24"/>
          <p:cNvSpPr/>
          <p:nvPr/>
        </p:nvSpPr>
        <p:spPr>
          <a:xfrm>
            <a:off x="740664" y="4910328"/>
            <a:ext cx="0" cy="347472"/>
          </a:xfrm>
          <a:prstGeom prst="line">
            <a:avLst/>
          </a:prstGeom>
          <a:noFill/>
          <a:ln w="12700">
            <a:solidFill>
              <a:srgbClr val="1E3A5F"/>
            </a:solidFill>
            <a:prstDash val="solid"/>
          </a:ln>
        </p:spPr>
      </p:sp>
      <p:sp>
        <p:nvSpPr>
          <p:cNvPr id="27" name="Text 25"/>
          <p:cNvSpPr/>
          <p:nvPr/>
        </p:nvSpPr>
        <p:spPr>
          <a:xfrm>
            <a:off x="1005840" y="4572000"/>
            <a:ext cx="822960" cy="384048"/>
          </a:xfrm>
          <a:prstGeom prst="rect">
            <a:avLst/>
          </a:prstGeom>
          <a:noFill/>
          <a:ln/>
        </p:spPr>
        <p:txBody>
          <a:bodyPr wrap="square" rtlCol="0" anchor="ctr"/>
          <a:lstStyle/>
          <a:p>
            <a:pPr indent="0" marL="0">
              <a:buNone/>
            </a:pPr>
            <a:r>
              <a:rPr lang="en-US" sz="1200" b="1" dirty="0">
                <a:solidFill>
                  <a:srgbClr val="00C2CB"/>
                </a:solidFill>
                <a:latin typeface="Calibri" pitchFamily="34" charset="0"/>
                <a:ea typeface="Calibri" pitchFamily="34" charset="-122"/>
                <a:cs typeface="Calibri" pitchFamily="34" charset="-120"/>
              </a:rPr>
              <a:t>1986</a:t>
            </a:r>
            <a:endParaRPr lang="en-US" sz="1200" dirty="0"/>
          </a:p>
        </p:txBody>
      </p:sp>
      <p:sp>
        <p:nvSpPr>
          <p:cNvPr id="28" name="Text 26"/>
          <p:cNvSpPr/>
          <p:nvPr/>
        </p:nvSpPr>
        <p:spPr>
          <a:xfrm>
            <a:off x="1901952" y="4572000"/>
            <a:ext cx="3520440" cy="38404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ANSI publishes the first official SQL standard — SQL-86.</a:t>
            </a:r>
            <a:endParaRPr lang="en-US" sz="1100" dirty="0"/>
          </a:p>
        </p:txBody>
      </p:sp>
      <p:sp>
        <p:nvSpPr>
          <p:cNvPr id="29" name="Shape 27"/>
          <p:cNvSpPr/>
          <p:nvPr/>
        </p:nvSpPr>
        <p:spPr>
          <a:xfrm>
            <a:off x="594360" y="5257800"/>
            <a:ext cx="292608" cy="292608"/>
          </a:xfrm>
          <a:prstGeom prst="ellipse">
            <a:avLst/>
          </a:prstGeom>
          <a:solidFill>
            <a:srgbClr val="00C2CB"/>
          </a:solidFill>
          <a:ln w="12700">
            <a:solidFill>
              <a:srgbClr val="00C2CB"/>
            </a:solidFill>
            <a:prstDash val="solid"/>
          </a:ln>
        </p:spPr>
      </p:sp>
      <p:sp>
        <p:nvSpPr>
          <p:cNvPr id="30" name="Shape 28"/>
          <p:cNvSpPr/>
          <p:nvPr/>
        </p:nvSpPr>
        <p:spPr>
          <a:xfrm>
            <a:off x="740664" y="5550408"/>
            <a:ext cx="0" cy="347472"/>
          </a:xfrm>
          <a:prstGeom prst="line">
            <a:avLst/>
          </a:prstGeom>
          <a:noFill/>
          <a:ln w="12700">
            <a:solidFill>
              <a:srgbClr val="1E3A5F"/>
            </a:solidFill>
            <a:prstDash val="solid"/>
          </a:ln>
        </p:spPr>
      </p:sp>
      <p:sp>
        <p:nvSpPr>
          <p:cNvPr id="31" name="Text 29"/>
          <p:cNvSpPr/>
          <p:nvPr/>
        </p:nvSpPr>
        <p:spPr>
          <a:xfrm>
            <a:off x="1005840" y="5212080"/>
            <a:ext cx="822960" cy="384048"/>
          </a:xfrm>
          <a:prstGeom prst="rect">
            <a:avLst/>
          </a:prstGeom>
          <a:noFill/>
          <a:ln/>
        </p:spPr>
        <p:txBody>
          <a:bodyPr wrap="square" rtlCol="0" anchor="ctr"/>
          <a:lstStyle/>
          <a:p>
            <a:pPr indent="0" marL="0">
              <a:buNone/>
            </a:pPr>
            <a:r>
              <a:rPr lang="en-US" sz="1200" b="1" dirty="0">
                <a:solidFill>
                  <a:srgbClr val="00C2CB"/>
                </a:solidFill>
                <a:latin typeface="Calibri" pitchFamily="34" charset="0"/>
                <a:ea typeface="Calibri" pitchFamily="34" charset="-122"/>
                <a:cs typeface="Calibri" pitchFamily="34" charset="-120"/>
              </a:rPr>
              <a:t>1992</a:t>
            </a:r>
            <a:endParaRPr lang="en-US" sz="1200" dirty="0"/>
          </a:p>
        </p:txBody>
      </p:sp>
      <p:sp>
        <p:nvSpPr>
          <p:cNvPr id="32" name="Text 30"/>
          <p:cNvSpPr/>
          <p:nvPr/>
        </p:nvSpPr>
        <p:spPr>
          <a:xfrm>
            <a:off x="1901952" y="5212080"/>
            <a:ext cx="3520440" cy="38404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SQL-92 released. Still the foundation most databases follow today.</a:t>
            </a:r>
            <a:endParaRPr lang="en-US" sz="1100" dirty="0"/>
          </a:p>
        </p:txBody>
      </p:sp>
      <p:sp>
        <p:nvSpPr>
          <p:cNvPr id="33" name="Shape 31"/>
          <p:cNvSpPr/>
          <p:nvPr/>
        </p:nvSpPr>
        <p:spPr>
          <a:xfrm>
            <a:off x="594360" y="5897880"/>
            <a:ext cx="292608" cy="292608"/>
          </a:xfrm>
          <a:prstGeom prst="ellipse">
            <a:avLst/>
          </a:prstGeom>
          <a:solidFill>
            <a:srgbClr val="00C2CB"/>
          </a:solidFill>
          <a:ln w="12700">
            <a:solidFill>
              <a:srgbClr val="00C2CB"/>
            </a:solidFill>
            <a:prstDash val="solid"/>
          </a:ln>
        </p:spPr>
      </p:sp>
      <p:sp>
        <p:nvSpPr>
          <p:cNvPr id="34" name="Text 32"/>
          <p:cNvSpPr/>
          <p:nvPr/>
        </p:nvSpPr>
        <p:spPr>
          <a:xfrm>
            <a:off x="1005840" y="5852160"/>
            <a:ext cx="822960" cy="384048"/>
          </a:xfrm>
          <a:prstGeom prst="rect">
            <a:avLst/>
          </a:prstGeom>
          <a:noFill/>
          <a:ln/>
        </p:spPr>
        <p:txBody>
          <a:bodyPr wrap="square" rtlCol="0" anchor="ctr"/>
          <a:lstStyle/>
          <a:p>
            <a:pPr indent="0" marL="0">
              <a:buNone/>
            </a:pPr>
            <a:r>
              <a:rPr lang="en-US" sz="1200" b="1" dirty="0">
                <a:solidFill>
                  <a:srgbClr val="00C2CB"/>
                </a:solidFill>
                <a:latin typeface="Calibri" pitchFamily="34" charset="0"/>
                <a:ea typeface="Calibri" pitchFamily="34" charset="-122"/>
                <a:cs typeface="Calibri" pitchFamily="34" charset="-120"/>
              </a:rPr>
              <a:t>2006+</a:t>
            </a:r>
            <a:endParaRPr lang="en-US" sz="1200" dirty="0"/>
          </a:p>
        </p:txBody>
      </p:sp>
      <p:sp>
        <p:nvSpPr>
          <p:cNvPr id="35" name="Text 33"/>
          <p:cNvSpPr/>
          <p:nvPr/>
        </p:nvSpPr>
        <p:spPr>
          <a:xfrm>
            <a:off x="1901952" y="5852160"/>
            <a:ext cx="3520440" cy="384048"/>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SQL:2006 integrates XML &amp; XQuery. Modern versions add JSON, window functions, etc.</a:t>
            </a:r>
            <a:endParaRPr lang="en-US" sz="1100" dirty="0"/>
          </a:p>
        </p:txBody>
      </p:sp>
      <p:sp>
        <p:nvSpPr>
          <p:cNvPr id="36" name="Shape 34"/>
          <p:cNvSpPr/>
          <p:nvPr/>
        </p:nvSpPr>
        <p:spPr>
          <a:xfrm>
            <a:off x="6035040" y="1389888"/>
            <a:ext cx="5669280" cy="5212080"/>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37" name="Text 35"/>
          <p:cNvSpPr/>
          <p:nvPr/>
        </p:nvSpPr>
        <p:spPr>
          <a:xfrm>
            <a:off x="6217920" y="1508760"/>
            <a:ext cx="5303520" cy="438912"/>
          </a:xfrm>
          <a:prstGeom prst="rect">
            <a:avLst/>
          </a:prstGeom>
          <a:noFill/>
          <a:ln/>
        </p:spPr>
        <p:txBody>
          <a:bodyPr wrap="square" rtlCol="0" anchor="ctr"/>
          <a:lstStyle/>
          <a:p>
            <a:pPr indent="0" marL="0">
              <a:buNone/>
            </a:pPr>
            <a:r>
              <a:rPr lang="en-US" sz="1700" b="1" dirty="0">
                <a:solidFill>
                  <a:srgbClr val="0A0F1E"/>
                </a:solidFill>
                <a:latin typeface="Calibri" pitchFamily="34" charset="0"/>
                <a:ea typeface="Calibri" pitchFamily="34" charset="-122"/>
                <a:cs typeface="Calibri" pitchFamily="34" charset="-120"/>
              </a:rPr>
              <a:t>What SQL Actually Is</a:t>
            </a:r>
            <a:endParaRPr lang="en-US" sz="1700" dirty="0"/>
          </a:p>
        </p:txBody>
      </p:sp>
      <p:sp>
        <p:nvSpPr>
          <p:cNvPr id="38" name="Shape 36"/>
          <p:cNvSpPr/>
          <p:nvPr/>
        </p:nvSpPr>
        <p:spPr>
          <a:xfrm>
            <a:off x="6217920" y="2084832"/>
            <a:ext cx="5303520" cy="987552"/>
          </a:xfrm>
          <a:prstGeom prst="rect">
            <a:avLst/>
          </a:prstGeom>
          <a:solidFill>
            <a:srgbClr val="F8FBFF"/>
          </a:solidFill>
          <a:ln w="12700">
            <a:solidFill>
              <a:srgbClr val="D1E5F5"/>
            </a:solidFill>
            <a:prstDash val="solid"/>
          </a:ln>
        </p:spPr>
      </p:sp>
      <p:sp>
        <p:nvSpPr>
          <p:cNvPr id="39" name="Text 37"/>
          <p:cNvSpPr/>
          <p:nvPr/>
        </p:nvSpPr>
        <p:spPr>
          <a:xfrm>
            <a:off x="6263640" y="2176272"/>
            <a:ext cx="502920" cy="804672"/>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0" name="Text 38"/>
          <p:cNvSpPr/>
          <p:nvPr/>
        </p:nvSpPr>
        <p:spPr>
          <a:xfrm>
            <a:off x="6812280" y="2139696"/>
            <a:ext cx="4663440" cy="347472"/>
          </a:xfrm>
          <a:prstGeom prst="rect">
            <a:avLst/>
          </a:prstGeom>
          <a:noFill/>
          <a:ln/>
        </p:spPr>
        <p:txBody>
          <a:bodyPr wrap="square" rtlCol="0" anchor="ctr"/>
          <a:lstStyle/>
          <a:p>
            <a:pPr indent="0" marL="0">
              <a:buNone/>
            </a:pPr>
            <a:r>
              <a:rPr lang="en-US" sz="1300" b="1" dirty="0">
                <a:solidFill>
                  <a:srgbClr val="0A0F1E"/>
                </a:solidFill>
                <a:latin typeface="Calibri" pitchFamily="34" charset="0"/>
                <a:ea typeface="Calibri" pitchFamily="34" charset="-122"/>
                <a:cs typeface="Calibri" pitchFamily="34" charset="-120"/>
              </a:rPr>
              <a:t>A declarative language</a:t>
            </a:r>
            <a:endParaRPr lang="en-US" sz="1300" dirty="0"/>
          </a:p>
        </p:txBody>
      </p:sp>
      <p:sp>
        <p:nvSpPr>
          <p:cNvPr id="41" name="Text 39"/>
          <p:cNvSpPr/>
          <p:nvPr/>
        </p:nvSpPr>
        <p:spPr>
          <a:xfrm>
            <a:off x="6812280" y="2496312"/>
            <a:ext cx="4663440" cy="502920"/>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You describe WHAT you want. The database's query optimizer decides HOW to fetch it most efficiently. You don't write loops.</a:t>
            </a:r>
            <a:endParaRPr lang="en-US" sz="1150" dirty="0"/>
          </a:p>
        </p:txBody>
      </p:sp>
      <p:sp>
        <p:nvSpPr>
          <p:cNvPr id="42" name="Shape 40"/>
          <p:cNvSpPr/>
          <p:nvPr/>
        </p:nvSpPr>
        <p:spPr>
          <a:xfrm>
            <a:off x="6217920" y="3182112"/>
            <a:ext cx="5303520" cy="987552"/>
          </a:xfrm>
          <a:prstGeom prst="rect">
            <a:avLst/>
          </a:prstGeom>
          <a:solidFill>
            <a:srgbClr val="F8FBFF"/>
          </a:solidFill>
          <a:ln w="12700">
            <a:solidFill>
              <a:srgbClr val="D1E5F5"/>
            </a:solidFill>
            <a:prstDash val="solid"/>
          </a:ln>
        </p:spPr>
      </p:sp>
      <p:sp>
        <p:nvSpPr>
          <p:cNvPr id="43" name="Text 41"/>
          <p:cNvSpPr/>
          <p:nvPr/>
        </p:nvSpPr>
        <p:spPr>
          <a:xfrm>
            <a:off x="6263640" y="3273552"/>
            <a:ext cx="502920" cy="804672"/>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4" name="Text 42"/>
          <p:cNvSpPr/>
          <p:nvPr/>
        </p:nvSpPr>
        <p:spPr>
          <a:xfrm>
            <a:off x="6812280" y="3236976"/>
            <a:ext cx="4663440" cy="347472"/>
          </a:xfrm>
          <a:prstGeom prst="rect">
            <a:avLst/>
          </a:prstGeom>
          <a:noFill/>
          <a:ln/>
        </p:spPr>
        <p:txBody>
          <a:bodyPr wrap="square" rtlCol="0" anchor="ctr"/>
          <a:lstStyle/>
          <a:p>
            <a:pPr indent="0" marL="0">
              <a:buNone/>
            </a:pPr>
            <a:r>
              <a:rPr lang="en-US" sz="1300" b="1" dirty="0">
                <a:solidFill>
                  <a:srgbClr val="0A0F1E"/>
                </a:solidFill>
                <a:latin typeface="Calibri" pitchFamily="34" charset="0"/>
                <a:ea typeface="Calibri" pitchFamily="34" charset="-122"/>
                <a:cs typeface="Calibri" pitchFamily="34" charset="-120"/>
              </a:rPr>
              <a:t>Not just 'Structured Query Language'</a:t>
            </a:r>
            <a:endParaRPr lang="en-US" sz="1300" dirty="0"/>
          </a:p>
        </p:txBody>
      </p:sp>
      <p:sp>
        <p:nvSpPr>
          <p:cNvPr id="45" name="Text 43"/>
          <p:cNvSpPr/>
          <p:nvPr/>
        </p:nvSpPr>
        <p:spPr>
          <a:xfrm>
            <a:off x="6812280" y="3593592"/>
            <a:ext cx="4663440" cy="502920"/>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SQL is officially not an acronym. You can say S-Q-L or 'sequel' — both are correct and widely used.</a:t>
            </a:r>
            <a:endParaRPr lang="en-US" sz="1150" dirty="0"/>
          </a:p>
        </p:txBody>
      </p:sp>
      <p:sp>
        <p:nvSpPr>
          <p:cNvPr id="46" name="Shape 44"/>
          <p:cNvSpPr/>
          <p:nvPr/>
        </p:nvSpPr>
        <p:spPr>
          <a:xfrm>
            <a:off x="6217920" y="4279392"/>
            <a:ext cx="5303520" cy="987552"/>
          </a:xfrm>
          <a:prstGeom prst="rect">
            <a:avLst/>
          </a:prstGeom>
          <a:solidFill>
            <a:srgbClr val="F8FBFF"/>
          </a:solidFill>
          <a:ln w="12700">
            <a:solidFill>
              <a:srgbClr val="D1E5F5"/>
            </a:solidFill>
            <a:prstDash val="solid"/>
          </a:ln>
        </p:spPr>
      </p:sp>
      <p:sp>
        <p:nvSpPr>
          <p:cNvPr id="47" name="Text 45"/>
          <p:cNvSpPr/>
          <p:nvPr/>
        </p:nvSpPr>
        <p:spPr>
          <a:xfrm>
            <a:off x="6263640" y="4370832"/>
            <a:ext cx="502920" cy="804672"/>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8" name="Text 46"/>
          <p:cNvSpPr/>
          <p:nvPr/>
        </p:nvSpPr>
        <p:spPr>
          <a:xfrm>
            <a:off x="6812280" y="4334256"/>
            <a:ext cx="4663440" cy="347472"/>
          </a:xfrm>
          <a:prstGeom prst="rect">
            <a:avLst/>
          </a:prstGeom>
          <a:noFill/>
          <a:ln/>
        </p:spPr>
        <p:txBody>
          <a:bodyPr wrap="square" rtlCol="0" anchor="ctr"/>
          <a:lstStyle/>
          <a:p>
            <a:pPr indent="0" marL="0">
              <a:buNone/>
            </a:pPr>
            <a:r>
              <a:rPr lang="en-US" sz="1300" b="1" dirty="0">
                <a:solidFill>
                  <a:srgbClr val="0A0F1E"/>
                </a:solidFill>
                <a:latin typeface="Calibri" pitchFamily="34" charset="0"/>
                <a:ea typeface="Calibri" pitchFamily="34" charset="-122"/>
                <a:cs typeface="Calibri" pitchFamily="34" charset="-120"/>
              </a:rPr>
              <a:t>A universal standard</a:t>
            </a:r>
            <a:endParaRPr lang="en-US" sz="1300" dirty="0"/>
          </a:p>
        </p:txBody>
      </p:sp>
      <p:sp>
        <p:nvSpPr>
          <p:cNvPr id="49" name="Text 47"/>
          <p:cNvSpPr/>
          <p:nvPr/>
        </p:nvSpPr>
        <p:spPr>
          <a:xfrm>
            <a:off x="6812280" y="4690872"/>
            <a:ext cx="4663440" cy="502920"/>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ANSI &amp; ISO standardized SQL. The same core syntax runs on Oracle, MySQL, PostgreSQL, SQL Server, and SQLite.</a:t>
            </a:r>
            <a:endParaRPr lang="en-US" sz="1150" dirty="0"/>
          </a:p>
        </p:txBody>
      </p:sp>
      <p:sp>
        <p:nvSpPr>
          <p:cNvPr id="50" name="Shape 48"/>
          <p:cNvSpPr/>
          <p:nvPr/>
        </p:nvSpPr>
        <p:spPr>
          <a:xfrm>
            <a:off x="6217920" y="5376672"/>
            <a:ext cx="5303520" cy="987552"/>
          </a:xfrm>
          <a:prstGeom prst="rect">
            <a:avLst/>
          </a:prstGeom>
          <a:solidFill>
            <a:srgbClr val="F8FBFF"/>
          </a:solidFill>
          <a:ln w="12700">
            <a:solidFill>
              <a:srgbClr val="D1E5F5"/>
            </a:solidFill>
            <a:prstDash val="solid"/>
          </a:ln>
        </p:spPr>
      </p:sp>
      <p:sp>
        <p:nvSpPr>
          <p:cNvPr id="51" name="Text 49"/>
          <p:cNvSpPr/>
          <p:nvPr/>
        </p:nvSpPr>
        <p:spPr>
          <a:xfrm>
            <a:off x="6263640" y="5468112"/>
            <a:ext cx="502920" cy="804672"/>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52" name="Text 50"/>
          <p:cNvSpPr/>
          <p:nvPr/>
        </p:nvSpPr>
        <p:spPr>
          <a:xfrm>
            <a:off x="6812280" y="5431536"/>
            <a:ext cx="4663440" cy="347472"/>
          </a:xfrm>
          <a:prstGeom prst="rect">
            <a:avLst/>
          </a:prstGeom>
          <a:noFill/>
          <a:ln/>
        </p:spPr>
        <p:txBody>
          <a:bodyPr wrap="square" rtlCol="0" anchor="ctr"/>
          <a:lstStyle/>
          <a:p>
            <a:pPr indent="0" marL="0">
              <a:buNone/>
            </a:pPr>
            <a:r>
              <a:rPr lang="en-US" sz="1300" b="1" dirty="0">
                <a:solidFill>
                  <a:srgbClr val="0A0F1E"/>
                </a:solidFill>
                <a:latin typeface="Calibri" pitchFamily="34" charset="0"/>
                <a:ea typeface="Calibri" pitchFamily="34" charset="-122"/>
                <a:cs typeface="Calibri" pitchFamily="34" charset="-120"/>
              </a:rPr>
              <a:t>Split into three sub-languages</a:t>
            </a:r>
            <a:endParaRPr lang="en-US" sz="1300" dirty="0"/>
          </a:p>
        </p:txBody>
      </p:sp>
      <p:sp>
        <p:nvSpPr>
          <p:cNvPr id="53" name="Text 51"/>
          <p:cNvSpPr/>
          <p:nvPr/>
        </p:nvSpPr>
        <p:spPr>
          <a:xfrm>
            <a:off x="6812280" y="5788152"/>
            <a:ext cx="4663440" cy="502920"/>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Schema (CREATE/ALTER/DROP), Data (SELECT/INSERT/UPDATE/DELETE), and Transaction (BEGIN/COMMIT/ROLLBACK) statements.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00C2CB"/>
          </a:solidFill>
          <a:ln w="12700">
            <a:solidFill>
              <a:srgbClr val="00C2CB"/>
            </a:solidFill>
            <a:prstDash val="solid"/>
          </a:ln>
        </p:spPr>
      </p:sp>
      <p:sp>
        <p:nvSpPr>
          <p:cNvPr id="4" name="Shape 2"/>
          <p:cNvSpPr/>
          <p:nvPr/>
        </p:nvSpPr>
        <p:spPr>
          <a:xfrm>
            <a:off x="0" y="1188720"/>
            <a:ext cx="12161520" cy="36576"/>
          </a:xfrm>
          <a:prstGeom prst="rect">
            <a:avLst/>
          </a:prstGeom>
          <a:solidFill>
            <a:srgbClr val="00C2CB"/>
          </a:solidFill>
          <a:ln w="12700">
            <a:solidFill>
              <a:srgbClr val="00C2C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SQL Is Nonprocedural — Say WHAT, Not HOW</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00C2CB"/>
                </a:solidFill>
                <a:latin typeface="Calibri" pitchFamily="34" charset="0"/>
                <a:ea typeface="Calibri" pitchFamily="34" charset="-122"/>
                <a:cs typeface="Calibri" pitchFamily="34" charset="-120"/>
              </a:rPr>
              <a:t>This is the single biggest mental shift from traditional programming</a:t>
            </a:r>
            <a:endParaRPr lang="en-US" sz="1400" dirty="0"/>
          </a:p>
        </p:txBody>
      </p:sp>
      <p:sp>
        <p:nvSpPr>
          <p:cNvPr id="7" name="Shape 5"/>
          <p:cNvSpPr/>
          <p:nvPr/>
        </p:nvSpPr>
        <p:spPr>
          <a:xfrm>
            <a:off x="457200" y="1389888"/>
            <a:ext cx="11247120" cy="621792"/>
          </a:xfrm>
          <a:prstGeom prst="rect">
            <a:avLst/>
          </a:prstGeom>
          <a:solidFill>
            <a:srgbClr val="102A4C"/>
          </a:solidFill>
          <a:ln w="12700">
            <a:solidFill>
              <a:srgbClr val="00C2CB"/>
            </a:solidFill>
            <a:prstDash val="solid"/>
          </a:ln>
        </p:spPr>
      </p:sp>
      <p:sp>
        <p:nvSpPr>
          <p:cNvPr id="8" name="Text 6"/>
          <p:cNvSpPr/>
          <p:nvPr/>
        </p:nvSpPr>
        <p:spPr>
          <a:xfrm>
            <a:off x="640080" y="1389888"/>
            <a:ext cx="10972800" cy="621792"/>
          </a:xfrm>
          <a:prstGeom prst="rect">
            <a:avLst/>
          </a:prstGeom>
          <a:noFill/>
          <a:ln/>
        </p:spPr>
        <p:txBody>
          <a:bodyPr wrap="square" rtlCol="0" anchor="ctr"/>
          <a:lstStyle/>
          <a:p>
            <a:pPr indent="0" marL="0">
              <a:buNone/>
            </a:pPr>
            <a:r>
              <a:rPr lang="en-US" sz="1400" i="1" dirty="0">
                <a:solidFill>
                  <a:srgbClr val="CBD5E1"/>
                </a:solidFill>
                <a:latin typeface="Calibri" pitchFamily="34" charset="0"/>
                <a:ea typeface="Calibri" pitchFamily="34" charset="-122"/>
                <a:cs typeface="Calibri" pitchFamily="34" charset="-120"/>
              </a:rPr>
              <a:t>🍽️  Analogy:  A chef follows a recipe step by step (procedural).  A customer just says "I'd like pasta, please" (nonprocedural). SQL is the customer.</a:t>
            </a:r>
            <a:endParaRPr lang="en-US" sz="1400" dirty="0"/>
          </a:p>
        </p:txBody>
      </p:sp>
      <p:sp>
        <p:nvSpPr>
          <p:cNvPr id="9" name="Shape 7"/>
          <p:cNvSpPr/>
          <p:nvPr/>
        </p:nvSpPr>
        <p:spPr>
          <a:xfrm>
            <a:off x="457200" y="2176272"/>
            <a:ext cx="5303520" cy="475488"/>
          </a:xfrm>
          <a:prstGeom prst="rect">
            <a:avLst/>
          </a:prstGeom>
          <a:solidFill>
            <a:srgbClr val="1F2937"/>
          </a:solidFill>
          <a:ln w="12700">
            <a:solidFill>
              <a:srgbClr val="374151"/>
            </a:solidFill>
            <a:prstDash val="solid"/>
          </a:ln>
        </p:spPr>
      </p:sp>
      <p:sp>
        <p:nvSpPr>
          <p:cNvPr id="10" name="Text 8"/>
          <p:cNvSpPr/>
          <p:nvPr/>
        </p:nvSpPr>
        <p:spPr>
          <a:xfrm>
            <a:off x="457200" y="2176272"/>
            <a:ext cx="5303520" cy="475488"/>
          </a:xfrm>
          <a:prstGeom prst="rect">
            <a:avLst/>
          </a:prstGeom>
          <a:noFill/>
          <a:ln/>
        </p:spPr>
        <p:txBody>
          <a:bodyPr wrap="square" rtlCol="0" anchor="ctr"/>
          <a:lstStyle/>
          <a:p>
            <a:pPr algn="ctr" indent="0" marL="0">
              <a:buNone/>
            </a:pPr>
            <a:r>
              <a:rPr lang="en-US" sz="1400" b="1" dirty="0">
                <a:solidFill>
                  <a:srgbClr val="9CA3AF"/>
                </a:solidFill>
                <a:latin typeface="Calibri" pitchFamily="34" charset="0"/>
                <a:ea typeface="Calibri" pitchFamily="34" charset="-122"/>
                <a:cs typeface="Calibri" pitchFamily="34" charset="-120"/>
              </a:rPr>
              <a:t>🐍  Python — Procedural</a:t>
            </a:r>
            <a:endParaRPr lang="en-US" sz="1400" dirty="0"/>
          </a:p>
        </p:txBody>
      </p:sp>
      <p:sp>
        <p:nvSpPr>
          <p:cNvPr id="11" name="Shape 9"/>
          <p:cNvSpPr/>
          <p:nvPr/>
        </p:nvSpPr>
        <p:spPr>
          <a:xfrm>
            <a:off x="457200" y="2651760"/>
            <a:ext cx="5303520" cy="2880360"/>
          </a:xfrm>
          <a:prstGeom prst="rect">
            <a:avLst/>
          </a:prstGeom>
          <a:solidFill>
            <a:srgbClr val="111827"/>
          </a:solidFill>
          <a:ln w="12700">
            <a:solidFill>
              <a:srgbClr val="374151"/>
            </a:solidFill>
            <a:prstDash val="solid"/>
          </a:ln>
        </p:spPr>
      </p:sp>
      <p:sp>
        <p:nvSpPr>
          <p:cNvPr id="12" name="Text 10"/>
          <p:cNvSpPr/>
          <p:nvPr/>
        </p:nvSpPr>
        <p:spPr>
          <a:xfrm>
            <a:off x="594360" y="2697480"/>
            <a:ext cx="5029200" cy="2743200"/>
          </a:xfrm>
          <a:prstGeom prst="rect">
            <a:avLst/>
          </a:prstGeom>
          <a:noFill/>
          <a:ln/>
        </p:spPr>
        <p:txBody>
          <a:bodyPr wrap="square" rtlCol="0" anchor="t"/>
          <a:lstStyle/>
          <a:p>
            <a:pPr indent="0" marL="0">
              <a:buNone/>
            </a:pPr>
            <a:r>
              <a:rPr lang="en-US" sz="1400" dirty="0">
                <a:solidFill>
                  <a:srgbClr val="E2E8F0"/>
                </a:solidFill>
                <a:latin typeface="Courier New" pitchFamily="34" charset="0"/>
                <a:ea typeface="Courier New" pitchFamily="34" charset="-122"/>
                <a:cs typeface="Courier New" pitchFamily="34" charset="-120"/>
              </a:rPr>
              <a:t>results</a:t>
            </a:r>
            <a:pPr indent="0" marL="0">
              <a:buNone/>
            </a:pPr>
            <a:r>
              <a:rPr lang="en-US" sz="1400" dirty="0">
                <a:solidFill>
                  <a:srgbClr val="E2E8F0"/>
                </a:solidFill>
                <a:latin typeface="Courier New" pitchFamily="34" charset="0"/>
                <a:ea typeface="Courier New" pitchFamily="34" charset="-122"/>
                <a:cs typeface="Courier New" pitchFamily="34" charset="-120"/>
              </a:rPr>
              <a:t> = </a:t>
            </a:r>
            <a:pPr indent="0" marL="0">
              <a:buNone/>
            </a:pPr>
            <a:r>
              <a:rPr lang="en-US" sz="1400" dirty="0">
                <a:solidFill>
                  <a:srgbClr val="FCD34D"/>
                </a:solidFill>
                <a:latin typeface="Courier New" pitchFamily="34" charset="0"/>
                <a:ea typeface="Courier New" pitchFamily="34" charset="-122"/>
                <a:cs typeface="Courier New" pitchFamily="34" charset="-120"/>
              </a:rPr>
              <a:t>[]</a:t>
            </a:r>
            <a:pPr indent="0" marL="0">
              <a:buNone/>
            </a:pPr>
            <a:r>
              <a:rPr lang="en-US" sz="1400" dirty="0">
                <a:solidFill>
                  <a:srgbClr val="000000"/>
                </a:solidFill>
                <a:latin typeface="Courier New" pitchFamily="34" charset="0"/>
                <a:ea typeface="Courier New" pitchFamily="34" charset="-122"/>
                <a:cs typeface="Courier New" pitchFamily="34" charset="-120"/>
              </a:rPr>
              <a:t>
</a:t>
            </a:r>
            <a:pPr indent="0" marL="0">
              <a:buNone/>
            </a:pPr>
            <a:r>
              <a:rPr lang="en-US" sz="1400" dirty="0">
                <a:solidFill>
                  <a:srgbClr val="F472B6"/>
                </a:solidFill>
                <a:latin typeface="Courier New" pitchFamily="34" charset="0"/>
                <a:ea typeface="Courier New" pitchFamily="34" charset="-122"/>
                <a:cs typeface="Courier New" pitchFamily="34" charset="-120"/>
              </a:rPr>
              <a:t>for </a:t>
            </a:r>
            <a:pPr indent="0" marL="0">
              <a:buNone/>
            </a:pPr>
            <a:r>
              <a:rPr lang="en-US" sz="1400" dirty="0">
                <a:solidFill>
                  <a:srgbClr val="E2E8F0"/>
                </a:solidFill>
                <a:latin typeface="Courier New" pitchFamily="34" charset="0"/>
                <a:ea typeface="Courier New" pitchFamily="34" charset="-122"/>
                <a:cs typeface="Courier New" pitchFamily="34" charset="-120"/>
              </a:rPr>
              <a:t>customer </a:t>
            </a:r>
            <a:pPr indent="0" marL="0">
              <a:buNone/>
            </a:pPr>
            <a:r>
              <a:rPr lang="en-US" sz="1400" dirty="0">
                <a:solidFill>
                  <a:srgbClr val="F472B6"/>
                </a:solidFill>
                <a:latin typeface="Courier New" pitchFamily="34" charset="0"/>
                <a:ea typeface="Courier New" pitchFamily="34" charset="-122"/>
                <a:cs typeface="Courier New" pitchFamily="34" charset="-120"/>
              </a:rPr>
              <a:t>in </a:t>
            </a:r>
            <a:pPr indent="0" marL="0">
              <a:buNone/>
            </a:pPr>
            <a:r>
              <a:rPr lang="en-US" sz="1400" dirty="0">
                <a:solidFill>
                  <a:srgbClr val="E2E8F0"/>
                </a:solidFill>
                <a:latin typeface="Courier New" pitchFamily="34" charset="0"/>
                <a:ea typeface="Courier New" pitchFamily="34" charset="-122"/>
                <a:cs typeface="Courier New" pitchFamily="34" charset="-120"/>
              </a:rPr>
              <a:t>all_customers:
</a:t>
            </a:r>
            <a:pPr indent="0" marL="0">
              <a:buNone/>
            </a:pPr>
            <a:r>
              <a:rPr lang="en-US" sz="1400" dirty="0">
                <a:solidFill>
                  <a:srgbClr val="F472B6"/>
                </a:solidFill>
                <a:latin typeface="Courier New" pitchFamily="34" charset="0"/>
                <a:ea typeface="Courier New" pitchFamily="34" charset="-122"/>
                <a:cs typeface="Courier New" pitchFamily="34" charset="-120"/>
              </a:rPr>
              <a:t>    if </a:t>
            </a:r>
            <a:pPr indent="0" marL="0">
              <a:buNone/>
            </a:pPr>
            <a:r>
              <a:rPr lang="en-US" sz="1400" dirty="0">
                <a:solidFill>
                  <a:srgbClr val="E2E8F0"/>
                </a:solidFill>
                <a:latin typeface="Courier New" pitchFamily="34" charset="0"/>
                <a:ea typeface="Courier New" pitchFamily="34" charset="-122"/>
                <a:cs typeface="Courier New" pitchFamily="34" charset="-120"/>
              </a:rPr>
              <a:t>customer</a:t>
            </a:r>
            <a:pPr indent="0" marL="0">
              <a:buNone/>
            </a:pPr>
            <a:r>
              <a:rPr lang="en-US" sz="1400" dirty="0">
                <a:solidFill>
                  <a:srgbClr val="93C5FD"/>
                </a:solidFill>
                <a:latin typeface="Courier New" pitchFamily="34" charset="0"/>
                <a:ea typeface="Courier New" pitchFamily="34" charset="-122"/>
                <a:cs typeface="Courier New" pitchFamily="34" charset="-120"/>
              </a:rPr>
              <a:t>.city </a:t>
            </a:r>
            <a:pPr indent="0" marL="0">
              <a:buNone/>
            </a:pPr>
            <a:r>
              <a:rPr lang="en-US" sz="1400" dirty="0">
                <a:solidFill>
                  <a:srgbClr val="E2E8F0"/>
                </a:solidFill>
                <a:latin typeface="Courier New" pitchFamily="34" charset="0"/>
                <a:ea typeface="Courier New" pitchFamily="34" charset="-122"/>
                <a:cs typeface="Courier New" pitchFamily="34" charset="-120"/>
              </a:rPr>
              <a:t>== </a:t>
            </a:r>
            <a:pPr indent="0" marL="0">
              <a:buNone/>
            </a:pPr>
            <a:r>
              <a:rPr lang="en-US" sz="1400" dirty="0">
                <a:solidFill>
                  <a:srgbClr val="86EFAC"/>
                </a:solidFill>
                <a:latin typeface="Courier New" pitchFamily="34" charset="0"/>
                <a:ea typeface="Courier New" pitchFamily="34" charset="-122"/>
                <a:cs typeface="Courier New" pitchFamily="34" charset="-120"/>
              </a:rPr>
              <a:t>"Mumbai"</a:t>
            </a:r>
            <a:pPr indent="0" marL="0">
              <a:buNone/>
            </a:pPr>
            <a:r>
              <a:rPr lang="en-US" sz="1400" dirty="0">
                <a:solidFill>
                  <a:srgbClr val="E2E8F0"/>
                </a:solidFill>
                <a:latin typeface="Courier New" pitchFamily="34" charset="0"/>
                <a:ea typeface="Courier New" pitchFamily="34" charset="-122"/>
                <a:cs typeface="Courier New" pitchFamily="34" charset="-120"/>
              </a:rPr>
              <a:t>:
</a:t>
            </a:r>
            <a:pPr indent="0" marL="0">
              <a:buNone/>
            </a:pPr>
            <a:r>
              <a:rPr lang="en-US" sz="1400" dirty="0">
                <a:solidFill>
                  <a:srgbClr val="E2E8F0"/>
                </a:solidFill>
                <a:latin typeface="Courier New" pitchFamily="34" charset="0"/>
                <a:ea typeface="Courier New" pitchFamily="34" charset="-122"/>
                <a:cs typeface="Courier New" pitchFamily="34" charset="-120"/>
              </a:rPr>
              <a:t>        results</a:t>
            </a:r>
            <a:pPr indent="0" marL="0">
              <a:buNone/>
            </a:pPr>
            <a:r>
              <a:rPr lang="en-US" sz="1400" dirty="0">
                <a:solidFill>
                  <a:srgbClr val="93C5FD"/>
                </a:solidFill>
                <a:latin typeface="Courier New" pitchFamily="34" charset="0"/>
                <a:ea typeface="Courier New" pitchFamily="34" charset="-122"/>
                <a:cs typeface="Courier New" pitchFamily="34" charset="-120"/>
              </a:rPr>
              <a:t>.append(</a:t>
            </a:r>
            <a:pPr indent="0" marL="0">
              <a:buNone/>
            </a:pPr>
            <a:r>
              <a:rPr lang="en-US" sz="1400" dirty="0">
                <a:solidFill>
                  <a:srgbClr val="E2E8F0"/>
                </a:solidFill>
                <a:latin typeface="Courier New" pitchFamily="34" charset="0"/>
                <a:ea typeface="Courier New" pitchFamily="34" charset="-122"/>
                <a:cs typeface="Courier New" pitchFamily="34" charset="-120"/>
              </a:rPr>
              <a:t>customer</a:t>
            </a:r>
            <a:pPr indent="0" marL="0">
              <a:buNone/>
            </a:pPr>
            <a:r>
              <a:rPr lang="en-US" sz="1400" dirty="0">
                <a:solidFill>
                  <a:srgbClr val="E2E8F0"/>
                </a:solidFill>
                <a:latin typeface="Courier New" pitchFamily="34" charset="0"/>
                <a:ea typeface="Courier New" pitchFamily="34" charset="-122"/>
                <a:cs typeface="Courier New" pitchFamily="34" charset="-120"/>
              </a:rPr>
              <a:t>)
</a:t>
            </a:r>
            <a:pPr indent="0" marL="0">
              <a:buNone/>
            </a:pPr>
            <a:r>
              <a:rPr lang="en-US" sz="1400" dirty="0">
                <a:solidFill>
                  <a:srgbClr val="F472B6"/>
                </a:solidFill>
                <a:latin typeface="Courier New" pitchFamily="34" charset="0"/>
                <a:ea typeface="Courier New" pitchFamily="34" charset="-122"/>
                <a:cs typeface="Courier New" pitchFamily="34" charset="-120"/>
              </a:rPr>
              <a:t>return </a:t>
            </a:r>
            <a:pPr indent="0" marL="0">
              <a:buNone/>
            </a:pPr>
            <a:r>
              <a:rPr lang="en-US" sz="1400" dirty="0">
                <a:solidFill>
                  <a:srgbClr val="E2E8F0"/>
                </a:solidFill>
                <a:latin typeface="Courier New" pitchFamily="34" charset="0"/>
                <a:ea typeface="Courier New" pitchFamily="34" charset="-122"/>
                <a:cs typeface="Courier New" pitchFamily="34" charset="-120"/>
              </a:rPr>
              <a:t>results</a:t>
            </a:r>
            <a:endParaRPr lang="en-US" sz="1400" dirty="0"/>
          </a:p>
        </p:txBody>
      </p:sp>
      <p:sp>
        <p:nvSpPr>
          <p:cNvPr id="13" name="Shape 11"/>
          <p:cNvSpPr/>
          <p:nvPr/>
        </p:nvSpPr>
        <p:spPr>
          <a:xfrm>
            <a:off x="6400800" y="2176272"/>
            <a:ext cx="5303520" cy="475488"/>
          </a:xfrm>
          <a:prstGeom prst="rect">
            <a:avLst/>
          </a:prstGeom>
          <a:solidFill>
            <a:srgbClr val="009CA5"/>
          </a:solidFill>
          <a:ln w="12700">
            <a:solidFill>
              <a:srgbClr val="00C2CB"/>
            </a:solidFill>
            <a:prstDash val="solid"/>
          </a:ln>
        </p:spPr>
      </p:sp>
      <p:sp>
        <p:nvSpPr>
          <p:cNvPr id="14" name="Text 12"/>
          <p:cNvSpPr/>
          <p:nvPr/>
        </p:nvSpPr>
        <p:spPr>
          <a:xfrm>
            <a:off x="6400800" y="2176272"/>
            <a:ext cx="530352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SQL — Nonprocedural</a:t>
            </a:r>
            <a:endParaRPr lang="en-US" sz="1400" dirty="0"/>
          </a:p>
        </p:txBody>
      </p:sp>
      <p:sp>
        <p:nvSpPr>
          <p:cNvPr id="15" name="Shape 13"/>
          <p:cNvSpPr/>
          <p:nvPr/>
        </p:nvSpPr>
        <p:spPr>
          <a:xfrm>
            <a:off x="6400800" y="2651760"/>
            <a:ext cx="5303520" cy="2880360"/>
          </a:xfrm>
          <a:prstGeom prst="rect">
            <a:avLst/>
          </a:prstGeom>
          <a:solidFill>
            <a:srgbClr val="061020"/>
          </a:solidFill>
          <a:ln w="12700">
            <a:solidFill>
              <a:srgbClr val="00C2CB"/>
            </a:solidFill>
            <a:prstDash val="solid"/>
          </a:ln>
        </p:spPr>
      </p:sp>
      <p:sp>
        <p:nvSpPr>
          <p:cNvPr id="16" name="Text 14"/>
          <p:cNvSpPr/>
          <p:nvPr/>
        </p:nvSpPr>
        <p:spPr>
          <a:xfrm>
            <a:off x="6537960" y="2697480"/>
            <a:ext cx="5029200" cy="2743200"/>
          </a:xfrm>
          <a:prstGeom prst="rect">
            <a:avLst/>
          </a:prstGeom>
          <a:noFill/>
          <a:ln/>
        </p:spPr>
        <p:txBody>
          <a:bodyPr wrap="square" rtlCol="0" anchor="t"/>
          <a:lstStyle/>
          <a:p>
            <a:pPr indent="0" marL="0">
              <a:buNone/>
            </a:pPr>
            <a:r>
              <a:rPr lang="en-US" sz="1600" dirty="0">
                <a:solidFill>
                  <a:srgbClr val="000000"/>
                </a:solidFill>
                <a:latin typeface="Courier New" pitchFamily="34" charset="0"/>
                <a:ea typeface="Courier New" pitchFamily="34" charset="-122"/>
                <a:cs typeface="Courier New" pitchFamily="34" charset="-120"/>
              </a:rPr>
              <a:t>
</a:t>
            </a:r>
            <a:pPr indent="0" marL="0">
              <a:buNone/>
            </a:pPr>
            <a:r>
              <a:rPr lang="en-US" sz="1600" dirty="0">
                <a:solidFill>
                  <a:srgbClr val="00C2CB"/>
                </a:solidFill>
                <a:latin typeface="Courier New" pitchFamily="34" charset="0"/>
                <a:ea typeface="Courier New" pitchFamily="34" charset="-122"/>
                <a:cs typeface="Courier New" pitchFamily="34" charset="-120"/>
              </a:rPr>
              <a:t>SELECT </a:t>
            </a:r>
            <a:pPr indent="0" marL="0">
              <a:buNone/>
            </a:pPr>
            <a:r>
              <a:rPr lang="en-US" sz="1600" dirty="0">
                <a:solidFill>
                  <a:srgbClr val="FFFFFF"/>
                </a:solidFill>
                <a:latin typeface="Courier New" pitchFamily="34" charset="0"/>
                <a:ea typeface="Courier New" pitchFamily="34" charset="-122"/>
                <a:cs typeface="Courier New" pitchFamily="34" charset="-120"/>
              </a:rPr>
              <a:t>*
</a:t>
            </a:r>
            <a:pPr indent="0" marL="0">
              <a:buNone/>
            </a:pPr>
            <a:r>
              <a:rPr lang="en-US" sz="1600" dirty="0">
                <a:solidFill>
                  <a:srgbClr val="00C2CB"/>
                </a:solidFill>
                <a:latin typeface="Courier New" pitchFamily="34" charset="0"/>
                <a:ea typeface="Courier New" pitchFamily="34" charset="-122"/>
                <a:cs typeface="Courier New" pitchFamily="34" charset="-120"/>
              </a:rPr>
              <a:t>FROM </a:t>
            </a:r>
            <a:pPr indent="0" marL="0">
              <a:buNone/>
            </a:pPr>
            <a:r>
              <a:rPr lang="en-US" sz="1600" dirty="0">
                <a:solidFill>
                  <a:srgbClr val="FFFFFF"/>
                </a:solidFill>
                <a:latin typeface="Courier New" pitchFamily="34" charset="0"/>
                <a:ea typeface="Courier New" pitchFamily="34" charset="-122"/>
                <a:cs typeface="Courier New" pitchFamily="34" charset="-120"/>
              </a:rPr>
              <a:t>customers
</a:t>
            </a:r>
            <a:pPr indent="0" marL="0">
              <a:buNone/>
            </a:pPr>
            <a:r>
              <a:rPr lang="en-US" sz="1600" dirty="0">
                <a:solidFill>
                  <a:srgbClr val="00C2CB"/>
                </a:solidFill>
                <a:latin typeface="Courier New" pitchFamily="34" charset="0"/>
                <a:ea typeface="Courier New" pitchFamily="34" charset="-122"/>
                <a:cs typeface="Courier New" pitchFamily="34" charset="-120"/>
              </a:rPr>
              <a:t>WHERE </a:t>
            </a:r>
            <a:pPr indent="0" marL="0">
              <a:buNone/>
            </a:pPr>
            <a:r>
              <a:rPr lang="en-US" sz="1600" dirty="0">
                <a:solidFill>
                  <a:srgbClr val="FFFFFF"/>
                </a:solidFill>
                <a:latin typeface="Courier New" pitchFamily="34" charset="0"/>
                <a:ea typeface="Courier New" pitchFamily="34" charset="-122"/>
                <a:cs typeface="Courier New" pitchFamily="34" charset="-120"/>
              </a:rPr>
              <a:t>city = </a:t>
            </a:r>
            <a:pPr indent="0" marL="0">
              <a:buNone/>
            </a:pPr>
            <a:r>
              <a:rPr lang="en-US" sz="1600" dirty="0">
                <a:solidFill>
                  <a:srgbClr val="86EFAC"/>
                </a:solidFill>
                <a:latin typeface="Courier New" pitchFamily="34" charset="0"/>
                <a:ea typeface="Courier New" pitchFamily="34" charset="-122"/>
                <a:cs typeface="Courier New" pitchFamily="34" charset="-120"/>
              </a:rPr>
              <a:t>'Mumbai';</a:t>
            </a:r>
            <a:endParaRPr lang="en-US" sz="1600" dirty="0"/>
          </a:p>
        </p:txBody>
      </p:sp>
      <p:sp>
        <p:nvSpPr>
          <p:cNvPr id="17" name="Shape 15"/>
          <p:cNvSpPr/>
          <p:nvPr/>
        </p:nvSpPr>
        <p:spPr>
          <a:xfrm>
            <a:off x="457200" y="5596128"/>
            <a:ext cx="11247120" cy="274320"/>
          </a:xfrm>
          <a:prstGeom prst="rect">
            <a:avLst/>
          </a:prstGeom>
          <a:solidFill>
            <a:srgbClr val="102A4C"/>
          </a:solidFill>
          <a:ln w="12700">
            <a:solidFill>
              <a:srgbClr val="1E3A5F"/>
            </a:solidFill>
            <a:prstDash val="solid"/>
          </a:ln>
        </p:spPr>
      </p:sp>
      <p:sp>
        <p:nvSpPr>
          <p:cNvPr id="18" name="Text 16"/>
          <p:cNvSpPr/>
          <p:nvPr/>
        </p:nvSpPr>
        <p:spPr>
          <a:xfrm>
            <a:off x="502920" y="5596128"/>
            <a:ext cx="1828800" cy="274320"/>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Comparison</a:t>
            </a:r>
            <a:endParaRPr lang="en-US" sz="1100" dirty="0"/>
          </a:p>
        </p:txBody>
      </p:sp>
      <p:sp>
        <p:nvSpPr>
          <p:cNvPr id="19" name="Text 17"/>
          <p:cNvSpPr/>
          <p:nvPr/>
        </p:nvSpPr>
        <p:spPr>
          <a:xfrm>
            <a:off x="2560320" y="5596128"/>
            <a:ext cx="4114800" cy="274320"/>
          </a:xfrm>
          <a:prstGeom prst="rect">
            <a:avLst/>
          </a:prstGeom>
          <a:noFill/>
          <a:ln/>
        </p:spPr>
        <p:txBody>
          <a:bodyPr wrap="square" rtlCol="0" anchor="ctr"/>
          <a:lstStyle/>
          <a:p>
            <a:pPr indent="0" marL="0">
              <a:buNone/>
            </a:pPr>
            <a:r>
              <a:rPr lang="en-US" sz="1100" b="1" dirty="0">
                <a:solidFill>
                  <a:srgbClr val="9CA3AF"/>
                </a:solidFill>
                <a:latin typeface="Calibri" pitchFamily="34" charset="0"/>
                <a:ea typeface="Calibri" pitchFamily="34" charset="-122"/>
                <a:cs typeface="Calibri" pitchFamily="34" charset="-120"/>
              </a:rPr>
              <a:t>Python</a:t>
            </a:r>
            <a:endParaRPr lang="en-US" sz="1100" dirty="0"/>
          </a:p>
        </p:txBody>
      </p:sp>
      <p:sp>
        <p:nvSpPr>
          <p:cNvPr id="20" name="Text 18"/>
          <p:cNvSpPr/>
          <p:nvPr/>
        </p:nvSpPr>
        <p:spPr>
          <a:xfrm>
            <a:off x="7040880" y="5596128"/>
            <a:ext cx="4114800" cy="274320"/>
          </a:xfrm>
          <a:prstGeom prst="rect">
            <a:avLst/>
          </a:prstGeom>
          <a:noFill/>
          <a:ln/>
        </p:spPr>
        <p:txBody>
          <a:bodyPr wrap="square" rtlCol="0" anchor="ctr"/>
          <a:lstStyle/>
          <a:p>
            <a:pPr indent="0" marL="0">
              <a:buNone/>
            </a:pPr>
            <a:r>
              <a:rPr lang="en-US" sz="1100" b="1" dirty="0">
                <a:solidFill>
                  <a:srgbClr val="00C2CB"/>
                </a:solidFill>
                <a:latin typeface="Calibri" pitchFamily="34" charset="0"/>
                <a:ea typeface="Calibri" pitchFamily="34" charset="-122"/>
                <a:cs typeface="Calibri" pitchFamily="34" charset="-120"/>
              </a:rPr>
              <a:t>SQL</a:t>
            </a:r>
            <a:endParaRPr lang="en-US" sz="1100" dirty="0"/>
          </a:p>
        </p:txBody>
      </p:sp>
      <p:sp>
        <p:nvSpPr>
          <p:cNvPr id="21" name="Shape 19"/>
          <p:cNvSpPr/>
          <p:nvPr/>
        </p:nvSpPr>
        <p:spPr>
          <a:xfrm>
            <a:off x="457200" y="5888736"/>
            <a:ext cx="11247120" cy="228600"/>
          </a:xfrm>
          <a:prstGeom prst="rect">
            <a:avLst/>
          </a:prstGeom>
          <a:solidFill>
            <a:srgbClr val="FFFFFF"/>
          </a:solidFill>
          <a:ln w="12700">
            <a:solidFill>
              <a:srgbClr val="D1E5F5"/>
            </a:solidFill>
            <a:prstDash val="solid"/>
          </a:ln>
        </p:spPr>
      </p:sp>
      <p:sp>
        <p:nvSpPr>
          <p:cNvPr id="22" name="Text 20"/>
          <p:cNvSpPr/>
          <p:nvPr/>
        </p:nvSpPr>
        <p:spPr>
          <a:xfrm>
            <a:off x="502920" y="5888736"/>
            <a:ext cx="2011680" cy="228600"/>
          </a:xfrm>
          <a:prstGeom prst="rect">
            <a:avLst/>
          </a:prstGeom>
          <a:noFill/>
          <a:ln/>
        </p:spPr>
        <p:txBody>
          <a:bodyPr wrap="square"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Code length</a:t>
            </a:r>
            <a:endParaRPr lang="en-US" sz="1050" dirty="0"/>
          </a:p>
        </p:txBody>
      </p:sp>
      <p:sp>
        <p:nvSpPr>
          <p:cNvPr id="23" name="Text 21"/>
          <p:cNvSpPr/>
          <p:nvPr/>
        </p:nvSpPr>
        <p:spPr>
          <a:xfrm>
            <a:off x="2560320" y="5888736"/>
            <a:ext cx="4114800" cy="228600"/>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~10 lines</a:t>
            </a:r>
            <a:endParaRPr lang="en-US" sz="1050" dirty="0"/>
          </a:p>
        </p:txBody>
      </p:sp>
      <p:sp>
        <p:nvSpPr>
          <p:cNvPr id="24" name="Text 22"/>
          <p:cNvSpPr/>
          <p:nvPr/>
        </p:nvSpPr>
        <p:spPr>
          <a:xfrm>
            <a:off x="7040880" y="5888736"/>
            <a:ext cx="4114800" cy="228600"/>
          </a:xfrm>
          <a:prstGeom prst="rect">
            <a:avLst/>
          </a:prstGeom>
          <a:noFill/>
          <a:ln/>
        </p:spPr>
        <p:txBody>
          <a:bodyPr wrap="square" rtlCol="0" anchor="ctr"/>
          <a:lstStyle/>
          <a:p>
            <a:pPr indent="0" marL="0">
              <a:buNone/>
            </a:pPr>
            <a:r>
              <a:rPr lang="en-US" sz="1050" b="1" dirty="0">
                <a:solidFill>
                  <a:srgbClr val="009CA5"/>
                </a:solidFill>
                <a:latin typeface="Calibri" pitchFamily="34" charset="0"/>
                <a:ea typeface="Calibri" pitchFamily="34" charset="-122"/>
                <a:cs typeface="Calibri" pitchFamily="34" charset="-120"/>
              </a:rPr>
              <a:t>3 lines</a:t>
            </a:r>
            <a:endParaRPr lang="en-US" sz="1050" dirty="0"/>
          </a:p>
        </p:txBody>
      </p:sp>
      <p:sp>
        <p:nvSpPr>
          <p:cNvPr id="25" name="Shape 23"/>
          <p:cNvSpPr/>
          <p:nvPr/>
        </p:nvSpPr>
        <p:spPr>
          <a:xfrm>
            <a:off x="457200" y="6126480"/>
            <a:ext cx="11247120" cy="228600"/>
          </a:xfrm>
          <a:prstGeom prst="rect">
            <a:avLst/>
          </a:prstGeom>
          <a:solidFill>
            <a:srgbClr val="F5F9FF"/>
          </a:solidFill>
          <a:ln w="12700">
            <a:solidFill>
              <a:srgbClr val="D1E5F5"/>
            </a:solidFill>
            <a:prstDash val="solid"/>
          </a:ln>
        </p:spPr>
      </p:sp>
      <p:sp>
        <p:nvSpPr>
          <p:cNvPr id="26" name="Text 24"/>
          <p:cNvSpPr/>
          <p:nvPr/>
        </p:nvSpPr>
        <p:spPr>
          <a:xfrm>
            <a:off x="502920" y="6126480"/>
            <a:ext cx="2011680" cy="228600"/>
          </a:xfrm>
          <a:prstGeom prst="rect">
            <a:avLst/>
          </a:prstGeom>
          <a:noFill/>
          <a:ln/>
        </p:spPr>
        <p:txBody>
          <a:bodyPr wrap="square"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You manage</a:t>
            </a:r>
            <a:endParaRPr lang="en-US" sz="1050" dirty="0"/>
          </a:p>
        </p:txBody>
      </p:sp>
      <p:sp>
        <p:nvSpPr>
          <p:cNvPr id="27" name="Text 25"/>
          <p:cNvSpPr/>
          <p:nvPr/>
        </p:nvSpPr>
        <p:spPr>
          <a:xfrm>
            <a:off x="2560320" y="6126480"/>
            <a:ext cx="4114800" cy="228600"/>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The loop, the condition, the append</a:t>
            </a:r>
            <a:endParaRPr lang="en-US" sz="1050" dirty="0"/>
          </a:p>
        </p:txBody>
      </p:sp>
      <p:sp>
        <p:nvSpPr>
          <p:cNvPr id="28" name="Text 26"/>
          <p:cNvSpPr/>
          <p:nvPr/>
        </p:nvSpPr>
        <p:spPr>
          <a:xfrm>
            <a:off x="7040880" y="6126480"/>
            <a:ext cx="4114800" cy="228600"/>
          </a:xfrm>
          <a:prstGeom prst="rect">
            <a:avLst/>
          </a:prstGeom>
          <a:noFill/>
          <a:ln/>
        </p:spPr>
        <p:txBody>
          <a:bodyPr wrap="square" rtlCol="0" anchor="ctr"/>
          <a:lstStyle/>
          <a:p>
            <a:pPr indent="0" marL="0">
              <a:buNone/>
            </a:pPr>
            <a:r>
              <a:rPr lang="en-US" sz="1050" b="1" dirty="0">
                <a:solidFill>
                  <a:srgbClr val="009CA5"/>
                </a:solidFill>
                <a:latin typeface="Calibri" pitchFamily="34" charset="0"/>
                <a:ea typeface="Calibri" pitchFamily="34" charset="-122"/>
                <a:cs typeface="Calibri" pitchFamily="34" charset="-120"/>
              </a:rPr>
              <a:t>Just the goal</a:t>
            </a:r>
            <a:endParaRPr lang="en-US" sz="1050" dirty="0"/>
          </a:p>
        </p:txBody>
      </p:sp>
      <p:sp>
        <p:nvSpPr>
          <p:cNvPr id="29" name="Shape 27"/>
          <p:cNvSpPr/>
          <p:nvPr/>
        </p:nvSpPr>
        <p:spPr>
          <a:xfrm>
            <a:off x="457200" y="6364224"/>
            <a:ext cx="11247120" cy="228600"/>
          </a:xfrm>
          <a:prstGeom prst="rect">
            <a:avLst/>
          </a:prstGeom>
          <a:solidFill>
            <a:srgbClr val="FFFFFF"/>
          </a:solidFill>
          <a:ln w="12700">
            <a:solidFill>
              <a:srgbClr val="D1E5F5"/>
            </a:solidFill>
            <a:prstDash val="solid"/>
          </a:ln>
        </p:spPr>
      </p:sp>
      <p:sp>
        <p:nvSpPr>
          <p:cNvPr id="30" name="Text 28"/>
          <p:cNvSpPr/>
          <p:nvPr/>
        </p:nvSpPr>
        <p:spPr>
          <a:xfrm>
            <a:off x="502920" y="6364224"/>
            <a:ext cx="2011680" cy="228600"/>
          </a:xfrm>
          <a:prstGeom prst="rect">
            <a:avLst/>
          </a:prstGeom>
          <a:noFill/>
          <a:ln/>
        </p:spPr>
        <p:txBody>
          <a:bodyPr wrap="square"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Optimization</a:t>
            </a:r>
            <a:endParaRPr lang="en-US" sz="1050" dirty="0"/>
          </a:p>
        </p:txBody>
      </p:sp>
      <p:sp>
        <p:nvSpPr>
          <p:cNvPr id="31" name="Text 29"/>
          <p:cNvSpPr/>
          <p:nvPr/>
        </p:nvSpPr>
        <p:spPr>
          <a:xfrm>
            <a:off x="2560320" y="6364224"/>
            <a:ext cx="4114800" cy="228600"/>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You write the algorithm</a:t>
            </a:r>
            <a:endParaRPr lang="en-US" sz="1050" dirty="0"/>
          </a:p>
        </p:txBody>
      </p:sp>
      <p:sp>
        <p:nvSpPr>
          <p:cNvPr id="32" name="Text 30"/>
          <p:cNvSpPr/>
          <p:nvPr/>
        </p:nvSpPr>
        <p:spPr>
          <a:xfrm>
            <a:off x="7040880" y="6364224"/>
            <a:ext cx="4114800" cy="228600"/>
          </a:xfrm>
          <a:prstGeom prst="rect">
            <a:avLst/>
          </a:prstGeom>
          <a:noFill/>
          <a:ln/>
        </p:spPr>
        <p:txBody>
          <a:bodyPr wrap="square" rtlCol="0" anchor="ctr"/>
          <a:lstStyle/>
          <a:p>
            <a:pPr indent="0" marL="0">
              <a:buNone/>
            </a:pPr>
            <a:r>
              <a:rPr lang="en-US" sz="1050" b="1" dirty="0">
                <a:solidFill>
                  <a:srgbClr val="009CA5"/>
                </a:solidFill>
                <a:latin typeface="Calibri" pitchFamily="34" charset="0"/>
                <a:ea typeface="Calibri" pitchFamily="34" charset="-122"/>
                <a:cs typeface="Calibri" pitchFamily="34" charset="-120"/>
              </a:rPr>
              <a:t>Database engine decides</a:t>
            </a:r>
            <a:endParaRPr lang="en-US" sz="1050" dirty="0"/>
          </a:p>
        </p:txBody>
      </p:sp>
      <p:sp>
        <p:nvSpPr>
          <p:cNvPr id="33" name="Shape 31"/>
          <p:cNvSpPr/>
          <p:nvPr/>
        </p:nvSpPr>
        <p:spPr>
          <a:xfrm>
            <a:off x="457200" y="6601968"/>
            <a:ext cx="11247120" cy="228600"/>
          </a:xfrm>
          <a:prstGeom prst="rect">
            <a:avLst/>
          </a:prstGeom>
          <a:solidFill>
            <a:srgbClr val="F5F9FF"/>
          </a:solidFill>
          <a:ln w="12700">
            <a:solidFill>
              <a:srgbClr val="D1E5F5"/>
            </a:solidFill>
            <a:prstDash val="solid"/>
          </a:ln>
        </p:spPr>
      </p:sp>
      <p:sp>
        <p:nvSpPr>
          <p:cNvPr id="34" name="Text 32"/>
          <p:cNvSpPr/>
          <p:nvPr/>
        </p:nvSpPr>
        <p:spPr>
          <a:xfrm>
            <a:off x="502920" y="6601968"/>
            <a:ext cx="2011680" cy="228600"/>
          </a:xfrm>
          <a:prstGeom prst="rect">
            <a:avLst/>
          </a:prstGeom>
          <a:noFill/>
          <a:ln/>
        </p:spPr>
        <p:txBody>
          <a:bodyPr wrap="square"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Readable by</a:t>
            </a:r>
            <a:endParaRPr lang="en-US" sz="1050" dirty="0"/>
          </a:p>
        </p:txBody>
      </p:sp>
      <p:sp>
        <p:nvSpPr>
          <p:cNvPr id="35" name="Text 33"/>
          <p:cNvSpPr/>
          <p:nvPr/>
        </p:nvSpPr>
        <p:spPr>
          <a:xfrm>
            <a:off x="2560320" y="6601968"/>
            <a:ext cx="4114800" cy="228600"/>
          </a:xfrm>
          <a:prstGeom prst="rect">
            <a:avLst/>
          </a:prstGeom>
          <a:noFill/>
          <a:ln/>
        </p:spPr>
        <p:txBody>
          <a:bodyPr wrap="square" rtlCol="0" anchor="ctr"/>
          <a:lstStyle/>
          <a:p>
            <a:pPr indent="0" marL="0">
              <a:buNone/>
            </a:pPr>
            <a:r>
              <a:rPr lang="en-US" sz="1050" dirty="0">
                <a:solidFill>
                  <a:srgbClr val="374151"/>
                </a:solidFill>
                <a:latin typeface="Calibri" pitchFamily="34" charset="0"/>
                <a:ea typeface="Calibri" pitchFamily="34" charset="-122"/>
                <a:cs typeface="Calibri" pitchFamily="34" charset="-120"/>
              </a:rPr>
              <a:t>Developers only</a:t>
            </a:r>
            <a:endParaRPr lang="en-US" sz="1050" dirty="0"/>
          </a:p>
        </p:txBody>
      </p:sp>
      <p:sp>
        <p:nvSpPr>
          <p:cNvPr id="36" name="Text 34"/>
          <p:cNvSpPr/>
          <p:nvPr/>
        </p:nvSpPr>
        <p:spPr>
          <a:xfrm>
            <a:off x="7040880" y="6601968"/>
            <a:ext cx="4114800" cy="228600"/>
          </a:xfrm>
          <a:prstGeom prst="rect">
            <a:avLst/>
          </a:prstGeom>
          <a:noFill/>
          <a:ln/>
        </p:spPr>
        <p:txBody>
          <a:bodyPr wrap="square" rtlCol="0" anchor="ctr"/>
          <a:lstStyle/>
          <a:p>
            <a:pPr indent="0" marL="0">
              <a:buNone/>
            </a:pPr>
            <a:r>
              <a:rPr lang="en-US" sz="1050" b="1" dirty="0">
                <a:solidFill>
                  <a:srgbClr val="009CA5"/>
                </a:solidFill>
                <a:latin typeface="Calibri" pitchFamily="34" charset="0"/>
                <a:ea typeface="Calibri" pitchFamily="34" charset="-122"/>
                <a:cs typeface="Calibri" pitchFamily="34" charset="-120"/>
              </a:rPr>
              <a:t>Anyone who speaks SQL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FFB347"/>
          </a:solidFill>
          <a:ln w="12700">
            <a:solidFill>
              <a:srgbClr val="FFB347"/>
            </a:solidFill>
            <a:prstDash val="solid"/>
          </a:ln>
        </p:spPr>
      </p:sp>
      <p:sp>
        <p:nvSpPr>
          <p:cNvPr id="4" name="Shape 2"/>
          <p:cNvSpPr/>
          <p:nvPr/>
        </p:nvSpPr>
        <p:spPr>
          <a:xfrm>
            <a:off x="0" y="1188720"/>
            <a:ext cx="12161520" cy="36576"/>
          </a:xfrm>
          <a:prstGeom prst="rect">
            <a:avLst/>
          </a:prstGeom>
          <a:solidFill>
            <a:srgbClr val="FFB347"/>
          </a:solidFill>
          <a:ln w="12700">
            <a:solidFill>
              <a:srgbClr val="FFB347"/>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SQL Statement Classes</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FFB347"/>
                </a:solidFill>
                <a:latin typeface="Calibri" pitchFamily="34" charset="0"/>
                <a:ea typeface="Calibri" pitchFamily="34" charset="-122"/>
                <a:cs typeface="Calibri" pitchFamily="34" charset="-120"/>
              </a:rPr>
              <a:t>Three distinct languages living inside SQL</a:t>
            </a:r>
            <a:endParaRPr lang="en-US" sz="1400" dirty="0"/>
          </a:p>
        </p:txBody>
      </p:sp>
      <p:sp>
        <p:nvSpPr>
          <p:cNvPr id="7" name="Shape 5"/>
          <p:cNvSpPr/>
          <p:nvPr/>
        </p:nvSpPr>
        <p:spPr>
          <a:xfrm>
            <a:off x="384048" y="1371600"/>
            <a:ext cx="3657600" cy="5230368"/>
          </a:xfrm>
          <a:prstGeom prst="rect">
            <a:avLst/>
          </a:prstGeom>
          <a:solidFill>
            <a:srgbClr val="102A4C"/>
          </a:solidFill>
          <a:ln w="12700">
            <a:solidFill>
              <a:srgbClr val="38B2F0"/>
            </a:solidFill>
            <a:prstDash val="solid"/>
          </a:ln>
          <a:effectLst>
            <a:outerShdw sx="100000" sy="100000" kx="0" ky="0" algn="bl" rotWithShape="0" blurRad="101600" dist="38100" dir="8100000">
              <a:srgbClr val="000000">
                <a:alpha val="14000"/>
              </a:srgbClr>
            </a:outerShdw>
          </a:effectLst>
        </p:spPr>
      </p:sp>
      <p:sp>
        <p:nvSpPr>
          <p:cNvPr id="8" name="Shape 6"/>
          <p:cNvSpPr/>
          <p:nvPr/>
        </p:nvSpPr>
        <p:spPr>
          <a:xfrm>
            <a:off x="384048" y="1371600"/>
            <a:ext cx="3657600" cy="54864"/>
          </a:xfrm>
          <a:prstGeom prst="rect">
            <a:avLst/>
          </a:prstGeom>
          <a:solidFill>
            <a:srgbClr val="38B2F0"/>
          </a:solidFill>
          <a:ln w="12700">
            <a:solidFill>
              <a:srgbClr val="38B2F0"/>
            </a:solidFill>
            <a:prstDash val="solid"/>
          </a:ln>
        </p:spPr>
      </p:sp>
      <p:sp>
        <p:nvSpPr>
          <p:cNvPr id="9" name="Text 7"/>
          <p:cNvSpPr/>
          <p:nvPr/>
        </p:nvSpPr>
        <p:spPr>
          <a:xfrm>
            <a:off x="384048" y="1463040"/>
            <a:ext cx="365760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0" name="Text 8"/>
          <p:cNvSpPr/>
          <p:nvPr/>
        </p:nvSpPr>
        <p:spPr>
          <a:xfrm>
            <a:off x="521208" y="2029968"/>
            <a:ext cx="3383280"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Schema Statements</a:t>
            </a:r>
            <a:endParaRPr lang="en-US" sz="1600" dirty="0"/>
          </a:p>
        </p:txBody>
      </p:sp>
      <p:sp>
        <p:nvSpPr>
          <p:cNvPr id="11" name="Text 9"/>
          <p:cNvSpPr/>
          <p:nvPr/>
        </p:nvSpPr>
        <p:spPr>
          <a:xfrm>
            <a:off x="521208" y="2468880"/>
            <a:ext cx="3383280" cy="292608"/>
          </a:xfrm>
          <a:prstGeom prst="rect">
            <a:avLst/>
          </a:prstGeom>
          <a:noFill/>
          <a:ln/>
        </p:spPr>
        <p:txBody>
          <a:bodyPr wrap="square" rtlCol="0" anchor="ctr"/>
          <a:lstStyle/>
          <a:p>
            <a:pPr algn="ctr" indent="0" marL="0">
              <a:buNone/>
            </a:pPr>
            <a:r>
              <a:rPr lang="en-US" sz="1200" i="1" dirty="0">
                <a:solidFill>
                  <a:srgbClr val="38B2F0"/>
                </a:solidFill>
                <a:latin typeface="Calibri" pitchFamily="34" charset="0"/>
                <a:ea typeface="Calibri" pitchFamily="34" charset="-122"/>
                <a:cs typeface="Calibri" pitchFamily="34" charset="-120"/>
              </a:rPr>
              <a:t>Define the structure</a:t>
            </a:r>
            <a:endParaRPr lang="en-US" sz="1200" dirty="0"/>
          </a:p>
        </p:txBody>
      </p:sp>
      <p:sp>
        <p:nvSpPr>
          <p:cNvPr id="12" name="Text 10"/>
          <p:cNvSpPr/>
          <p:nvPr/>
        </p:nvSpPr>
        <p:spPr>
          <a:xfrm>
            <a:off x="548640" y="2834640"/>
            <a:ext cx="3328416" cy="804672"/>
          </a:xfrm>
          <a:prstGeom prst="rect">
            <a:avLst/>
          </a:prstGeom>
          <a:noFill/>
          <a:ln/>
        </p:spPr>
        <p:txBody>
          <a:bodyPr wrap="square"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Schema statements create and manage the container — the tables, columns and relationships — before any data exists.</a:t>
            </a:r>
            <a:endParaRPr lang="en-US" sz="1150" dirty="0"/>
          </a:p>
        </p:txBody>
      </p:sp>
      <p:sp>
        <p:nvSpPr>
          <p:cNvPr id="13" name="Shape 11"/>
          <p:cNvSpPr/>
          <p:nvPr/>
        </p:nvSpPr>
        <p:spPr>
          <a:xfrm>
            <a:off x="566928" y="3703320"/>
            <a:ext cx="3291840" cy="0"/>
          </a:xfrm>
          <a:prstGeom prst="line">
            <a:avLst/>
          </a:prstGeom>
          <a:noFill/>
          <a:ln w="12700">
            <a:solidFill>
              <a:srgbClr val="1E3A5F"/>
            </a:solidFill>
            <a:prstDash val="solid"/>
          </a:ln>
        </p:spPr>
      </p:sp>
      <p:sp>
        <p:nvSpPr>
          <p:cNvPr id="14" name="Shape 12"/>
          <p:cNvSpPr/>
          <p:nvPr/>
        </p:nvSpPr>
        <p:spPr>
          <a:xfrm>
            <a:off x="548640" y="3794760"/>
            <a:ext cx="3328416" cy="475488"/>
          </a:xfrm>
          <a:prstGeom prst="rect">
            <a:avLst/>
          </a:prstGeom>
          <a:solidFill>
            <a:srgbClr val="132F56"/>
          </a:solidFill>
          <a:ln w="12700">
            <a:solidFill>
              <a:srgbClr val="1E3A5F"/>
            </a:solidFill>
            <a:prstDash val="solid"/>
          </a:ln>
        </p:spPr>
      </p:sp>
      <p:sp>
        <p:nvSpPr>
          <p:cNvPr id="15" name="Text 13"/>
          <p:cNvSpPr/>
          <p:nvPr/>
        </p:nvSpPr>
        <p:spPr>
          <a:xfrm>
            <a:off x="640080" y="3794760"/>
            <a:ext cx="1188720" cy="475488"/>
          </a:xfrm>
          <a:prstGeom prst="rect">
            <a:avLst/>
          </a:prstGeom>
          <a:noFill/>
          <a:ln/>
        </p:spPr>
        <p:txBody>
          <a:bodyPr wrap="square" rtlCol="0" anchor="ctr"/>
          <a:lstStyle/>
          <a:p>
            <a:pPr indent="0" marL="0">
              <a:buNone/>
            </a:pPr>
            <a:r>
              <a:rPr lang="en-US" sz="1150" b="1" dirty="0">
                <a:solidFill>
                  <a:srgbClr val="38B2F0"/>
                </a:solidFill>
                <a:latin typeface="Courier New" pitchFamily="34" charset="0"/>
                <a:ea typeface="Courier New" pitchFamily="34" charset="-122"/>
                <a:cs typeface="Courier New" pitchFamily="34" charset="-120"/>
              </a:rPr>
              <a:t>CREATE TABLE</a:t>
            </a:r>
            <a:endParaRPr lang="en-US" sz="1150" dirty="0"/>
          </a:p>
        </p:txBody>
      </p:sp>
      <p:sp>
        <p:nvSpPr>
          <p:cNvPr id="16" name="Text 14"/>
          <p:cNvSpPr/>
          <p:nvPr/>
        </p:nvSpPr>
        <p:spPr>
          <a:xfrm>
            <a:off x="1892808" y="3794760"/>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Build a new table with columns and types</a:t>
            </a:r>
            <a:endParaRPr lang="en-US" sz="1050" dirty="0"/>
          </a:p>
        </p:txBody>
      </p:sp>
      <p:sp>
        <p:nvSpPr>
          <p:cNvPr id="17" name="Shape 15"/>
          <p:cNvSpPr/>
          <p:nvPr/>
        </p:nvSpPr>
        <p:spPr>
          <a:xfrm>
            <a:off x="548640" y="4361688"/>
            <a:ext cx="3328416" cy="475488"/>
          </a:xfrm>
          <a:prstGeom prst="rect">
            <a:avLst/>
          </a:prstGeom>
          <a:solidFill>
            <a:srgbClr val="132F56"/>
          </a:solidFill>
          <a:ln w="12700">
            <a:solidFill>
              <a:srgbClr val="1E3A5F"/>
            </a:solidFill>
            <a:prstDash val="solid"/>
          </a:ln>
        </p:spPr>
      </p:sp>
      <p:sp>
        <p:nvSpPr>
          <p:cNvPr id="18" name="Text 16"/>
          <p:cNvSpPr/>
          <p:nvPr/>
        </p:nvSpPr>
        <p:spPr>
          <a:xfrm>
            <a:off x="640080" y="4361688"/>
            <a:ext cx="1188720" cy="475488"/>
          </a:xfrm>
          <a:prstGeom prst="rect">
            <a:avLst/>
          </a:prstGeom>
          <a:noFill/>
          <a:ln/>
        </p:spPr>
        <p:txBody>
          <a:bodyPr wrap="square" rtlCol="0" anchor="ctr"/>
          <a:lstStyle/>
          <a:p>
            <a:pPr indent="0" marL="0">
              <a:buNone/>
            </a:pPr>
            <a:r>
              <a:rPr lang="en-US" sz="1150" b="1" dirty="0">
                <a:solidFill>
                  <a:srgbClr val="38B2F0"/>
                </a:solidFill>
                <a:latin typeface="Courier New" pitchFamily="34" charset="0"/>
                <a:ea typeface="Courier New" pitchFamily="34" charset="-122"/>
                <a:cs typeface="Courier New" pitchFamily="34" charset="-120"/>
              </a:rPr>
              <a:t>ALTER TABLE</a:t>
            </a:r>
            <a:endParaRPr lang="en-US" sz="1150" dirty="0"/>
          </a:p>
        </p:txBody>
      </p:sp>
      <p:sp>
        <p:nvSpPr>
          <p:cNvPr id="19" name="Text 17"/>
          <p:cNvSpPr/>
          <p:nvPr/>
        </p:nvSpPr>
        <p:spPr>
          <a:xfrm>
            <a:off x="1892808" y="4361688"/>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Add/remove a column or constraint later</a:t>
            </a:r>
            <a:endParaRPr lang="en-US" sz="1050" dirty="0"/>
          </a:p>
        </p:txBody>
      </p:sp>
      <p:sp>
        <p:nvSpPr>
          <p:cNvPr id="20" name="Shape 18"/>
          <p:cNvSpPr/>
          <p:nvPr/>
        </p:nvSpPr>
        <p:spPr>
          <a:xfrm>
            <a:off x="548640" y="4928616"/>
            <a:ext cx="3328416" cy="475488"/>
          </a:xfrm>
          <a:prstGeom prst="rect">
            <a:avLst/>
          </a:prstGeom>
          <a:solidFill>
            <a:srgbClr val="132F56"/>
          </a:solidFill>
          <a:ln w="12700">
            <a:solidFill>
              <a:srgbClr val="1E3A5F"/>
            </a:solidFill>
            <a:prstDash val="solid"/>
          </a:ln>
        </p:spPr>
      </p:sp>
      <p:sp>
        <p:nvSpPr>
          <p:cNvPr id="21" name="Text 19"/>
          <p:cNvSpPr/>
          <p:nvPr/>
        </p:nvSpPr>
        <p:spPr>
          <a:xfrm>
            <a:off x="640080" y="4928616"/>
            <a:ext cx="1188720" cy="475488"/>
          </a:xfrm>
          <a:prstGeom prst="rect">
            <a:avLst/>
          </a:prstGeom>
          <a:noFill/>
          <a:ln/>
        </p:spPr>
        <p:txBody>
          <a:bodyPr wrap="square" rtlCol="0" anchor="ctr"/>
          <a:lstStyle/>
          <a:p>
            <a:pPr indent="0" marL="0">
              <a:buNone/>
            </a:pPr>
            <a:r>
              <a:rPr lang="en-US" sz="1150" b="1" dirty="0">
                <a:solidFill>
                  <a:srgbClr val="38B2F0"/>
                </a:solidFill>
                <a:latin typeface="Courier New" pitchFamily="34" charset="0"/>
                <a:ea typeface="Courier New" pitchFamily="34" charset="-122"/>
                <a:cs typeface="Courier New" pitchFamily="34" charset="-120"/>
              </a:rPr>
              <a:t>DROP TABLE</a:t>
            </a:r>
            <a:endParaRPr lang="en-US" sz="1150" dirty="0"/>
          </a:p>
        </p:txBody>
      </p:sp>
      <p:sp>
        <p:nvSpPr>
          <p:cNvPr id="22" name="Text 20"/>
          <p:cNvSpPr/>
          <p:nvPr/>
        </p:nvSpPr>
        <p:spPr>
          <a:xfrm>
            <a:off x="1892808" y="4928616"/>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Permanently delete a table and all its data</a:t>
            </a:r>
            <a:endParaRPr lang="en-US" sz="1050" dirty="0"/>
          </a:p>
        </p:txBody>
      </p:sp>
      <p:sp>
        <p:nvSpPr>
          <p:cNvPr id="23" name="Shape 21"/>
          <p:cNvSpPr/>
          <p:nvPr/>
        </p:nvSpPr>
        <p:spPr>
          <a:xfrm>
            <a:off x="566928" y="5559552"/>
            <a:ext cx="3291840" cy="0"/>
          </a:xfrm>
          <a:prstGeom prst="line">
            <a:avLst/>
          </a:prstGeom>
          <a:noFill/>
          <a:ln w="12700">
            <a:solidFill>
              <a:srgbClr val="1E3A5F"/>
            </a:solidFill>
            <a:prstDash val="solid"/>
          </a:ln>
        </p:spPr>
      </p:sp>
      <p:sp>
        <p:nvSpPr>
          <p:cNvPr id="24" name="Text 22"/>
          <p:cNvSpPr/>
          <p:nvPr/>
        </p:nvSpPr>
        <p:spPr>
          <a:xfrm>
            <a:off x="548640" y="5614416"/>
            <a:ext cx="3328416" cy="658368"/>
          </a:xfrm>
          <a:prstGeom prst="rect">
            <a:avLst/>
          </a:prstGeom>
          <a:noFill/>
          <a:ln/>
        </p:spPr>
        <p:txBody>
          <a:bodyPr wrap="square" rtlCol="0" anchor="ctr"/>
          <a:lstStyle/>
          <a:p>
            <a:pPr indent="0" marL="0">
              <a:buNone/>
            </a:pPr>
            <a:r>
              <a:rPr lang="en-US" sz="1050" i="1" dirty="0">
                <a:solidFill>
                  <a:srgbClr val="7B93B3"/>
                </a:solidFill>
                <a:latin typeface="Calibri" pitchFamily="34" charset="0"/>
                <a:ea typeface="Calibri" pitchFamily="34" charset="-122"/>
                <a:cs typeface="Calibri" pitchFamily="34" charset="-120"/>
              </a:rPr>
              <a:t>Think of it like designing a spreadsheet's column headers before typing anything in.</a:t>
            </a:r>
            <a:endParaRPr lang="en-US" sz="1050" dirty="0"/>
          </a:p>
        </p:txBody>
      </p:sp>
      <p:sp>
        <p:nvSpPr>
          <p:cNvPr id="25" name="Shape 23"/>
          <p:cNvSpPr/>
          <p:nvPr/>
        </p:nvSpPr>
        <p:spPr>
          <a:xfrm>
            <a:off x="4315968" y="1371600"/>
            <a:ext cx="3657600" cy="5230368"/>
          </a:xfrm>
          <a:prstGeom prst="rect">
            <a:avLst/>
          </a:prstGeom>
          <a:solidFill>
            <a:srgbClr val="102A4C"/>
          </a:solidFill>
          <a:ln w="12700">
            <a:solidFill>
              <a:srgbClr val="00C2CB"/>
            </a:solidFill>
            <a:prstDash val="solid"/>
          </a:ln>
          <a:effectLst>
            <a:outerShdw sx="100000" sy="100000" kx="0" ky="0" algn="bl" rotWithShape="0" blurRad="101600" dist="38100" dir="8100000">
              <a:srgbClr val="000000">
                <a:alpha val="14000"/>
              </a:srgbClr>
            </a:outerShdw>
          </a:effectLst>
        </p:spPr>
      </p:sp>
      <p:sp>
        <p:nvSpPr>
          <p:cNvPr id="26" name="Shape 24"/>
          <p:cNvSpPr/>
          <p:nvPr/>
        </p:nvSpPr>
        <p:spPr>
          <a:xfrm>
            <a:off x="4315968" y="1371600"/>
            <a:ext cx="3657600" cy="54864"/>
          </a:xfrm>
          <a:prstGeom prst="rect">
            <a:avLst/>
          </a:prstGeom>
          <a:solidFill>
            <a:srgbClr val="00C2CB"/>
          </a:solidFill>
          <a:ln w="12700">
            <a:solidFill>
              <a:srgbClr val="00C2CB"/>
            </a:solidFill>
            <a:prstDash val="solid"/>
          </a:ln>
        </p:spPr>
      </p:sp>
      <p:sp>
        <p:nvSpPr>
          <p:cNvPr id="27" name="Text 25"/>
          <p:cNvSpPr/>
          <p:nvPr/>
        </p:nvSpPr>
        <p:spPr>
          <a:xfrm>
            <a:off x="4315968" y="1463040"/>
            <a:ext cx="365760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8" name="Text 26"/>
          <p:cNvSpPr/>
          <p:nvPr/>
        </p:nvSpPr>
        <p:spPr>
          <a:xfrm>
            <a:off x="4453128" y="2029968"/>
            <a:ext cx="3383280"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Data Statements</a:t>
            </a:r>
            <a:endParaRPr lang="en-US" sz="1600" dirty="0"/>
          </a:p>
        </p:txBody>
      </p:sp>
      <p:sp>
        <p:nvSpPr>
          <p:cNvPr id="29" name="Text 27"/>
          <p:cNvSpPr/>
          <p:nvPr/>
        </p:nvSpPr>
        <p:spPr>
          <a:xfrm>
            <a:off x="4453128" y="2468880"/>
            <a:ext cx="3383280" cy="292608"/>
          </a:xfrm>
          <a:prstGeom prst="rect">
            <a:avLst/>
          </a:prstGeom>
          <a:noFill/>
          <a:ln/>
        </p:spPr>
        <p:txBody>
          <a:bodyPr wrap="square" rtlCol="0" anchor="ctr"/>
          <a:lstStyle/>
          <a:p>
            <a:pPr algn="ctr" indent="0" marL="0">
              <a:buNone/>
            </a:pPr>
            <a:r>
              <a:rPr lang="en-US" sz="1200" i="1" dirty="0">
                <a:solidFill>
                  <a:srgbClr val="00C2CB"/>
                </a:solidFill>
                <a:latin typeface="Calibri" pitchFamily="34" charset="0"/>
                <a:ea typeface="Calibri" pitchFamily="34" charset="-122"/>
                <a:cs typeface="Calibri" pitchFamily="34" charset="-120"/>
              </a:rPr>
              <a:t>Read and change data</a:t>
            </a:r>
            <a:endParaRPr lang="en-US" sz="1200" dirty="0"/>
          </a:p>
        </p:txBody>
      </p:sp>
      <p:sp>
        <p:nvSpPr>
          <p:cNvPr id="30" name="Text 28"/>
          <p:cNvSpPr/>
          <p:nvPr/>
        </p:nvSpPr>
        <p:spPr>
          <a:xfrm>
            <a:off x="4480560" y="2834640"/>
            <a:ext cx="3328416" cy="804672"/>
          </a:xfrm>
          <a:prstGeom prst="rect">
            <a:avLst/>
          </a:prstGeom>
          <a:noFill/>
          <a:ln/>
        </p:spPr>
        <p:txBody>
          <a:bodyPr wrap="square" rtlCol="0" anchor="ctr"/>
          <a:lstStyle/>
          <a:p>
            <a:pPr indent="0" marL="0">
              <a:buNone/>
            </a:pPr>
            <a:r>
              <a:rPr lang="en-US" sz="1150" dirty="0">
                <a:solidFill>
                  <a:srgbClr val="94A3B8"/>
                </a:solidFill>
                <a:latin typeface="Calibri" pitchFamily="34" charset="0"/>
                <a:ea typeface="Calibri" pitchFamily="34" charset="-122"/>
                <a:cs typeface="Calibri" pitchFamily="34" charset="-120"/>
              </a:rPr>
              <a:t>The heart of SQL. SELECT, INSERT, UPDATE and DELETE — the four operations that power every app you've ever used.</a:t>
            </a:r>
            <a:endParaRPr lang="en-US" sz="1150" dirty="0"/>
          </a:p>
        </p:txBody>
      </p:sp>
      <p:sp>
        <p:nvSpPr>
          <p:cNvPr id="31" name="Shape 29"/>
          <p:cNvSpPr/>
          <p:nvPr/>
        </p:nvSpPr>
        <p:spPr>
          <a:xfrm>
            <a:off x="4498848" y="3703320"/>
            <a:ext cx="3291840" cy="0"/>
          </a:xfrm>
          <a:prstGeom prst="line">
            <a:avLst/>
          </a:prstGeom>
          <a:noFill/>
          <a:ln w="12700">
            <a:solidFill>
              <a:srgbClr val="1E3A5F"/>
            </a:solidFill>
            <a:prstDash val="solid"/>
          </a:ln>
        </p:spPr>
      </p:sp>
      <p:sp>
        <p:nvSpPr>
          <p:cNvPr id="32" name="Shape 30"/>
          <p:cNvSpPr/>
          <p:nvPr/>
        </p:nvSpPr>
        <p:spPr>
          <a:xfrm>
            <a:off x="4480560" y="3794760"/>
            <a:ext cx="3328416" cy="475488"/>
          </a:xfrm>
          <a:prstGeom prst="rect">
            <a:avLst/>
          </a:prstGeom>
          <a:solidFill>
            <a:srgbClr val="132F56"/>
          </a:solidFill>
          <a:ln w="12700">
            <a:solidFill>
              <a:srgbClr val="1E3A5F"/>
            </a:solidFill>
            <a:prstDash val="solid"/>
          </a:ln>
        </p:spPr>
      </p:sp>
      <p:sp>
        <p:nvSpPr>
          <p:cNvPr id="33" name="Text 31"/>
          <p:cNvSpPr/>
          <p:nvPr/>
        </p:nvSpPr>
        <p:spPr>
          <a:xfrm>
            <a:off x="4572000" y="3794760"/>
            <a:ext cx="1188720" cy="475488"/>
          </a:xfrm>
          <a:prstGeom prst="rect">
            <a:avLst/>
          </a:prstGeom>
          <a:noFill/>
          <a:ln/>
        </p:spPr>
        <p:txBody>
          <a:bodyPr wrap="square" rtlCol="0" anchor="ctr"/>
          <a:lstStyle/>
          <a:p>
            <a:pPr indent="0" marL="0">
              <a:buNone/>
            </a:pPr>
            <a:r>
              <a:rPr lang="en-US" sz="1150" b="1" dirty="0">
                <a:solidFill>
                  <a:srgbClr val="00C2CB"/>
                </a:solidFill>
                <a:latin typeface="Courier New" pitchFamily="34" charset="0"/>
                <a:ea typeface="Courier New" pitchFamily="34" charset="-122"/>
                <a:cs typeface="Courier New" pitchFamily="34" charset="-120"/>
              </a:rPr>
              <a:t>SELECT</a:t>
            </a:r>
            <a:endParaRPr lang="en-US" sz="1150" dirty="0"/>
          </a:p>
        </p:txBody>
      </p:sp>
      <p:sp>
        <p:nvSpPr>
          <p:cNvPr id="34" name="Text 32"/>
          <p:cNvSpPr/>
          <p:nvPr/>
        </p:nvSpPr>
        <p:spPr>
          <a:xfrm>
            <a:off x="5824728" y="3794760"/>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Read rows matching your criteria</a:t>
            </a:r>
            <a:endParaRPr lang="en-US" sz="1050" dirty="0"/>
          </a:p>
        </p:txBody>
      </p:sp>
      <p:sp>
        <p:nvSpPr>
          <p:cNvPr id="35" name="Shape 33"/>
          <p:cNvSpPr/>
          <p:nvPr/>
        </p:nvSpPr>
        <p:spPr>
          <a:xfrm>
            <a:off x="4480560" y="4361688"/>
            <a:ext cx="3328416" cy="475488"/>
          </a:xfrm>
          <a:prstGeom prst="rect">
            <a:avLst/>
          </a:prstGeom>
          <a:solidFill>
            <a:srgbClr val="132F56"/>
          </a:solidFill>
          <a:ln w="12700">
            <a:solidFill>
              <a:srgbClr val="1E3A5F"/>
            </a:solidFill>
            <a:prstDash val="solid"/>
          </a:ln>
        </p:spPr>
      </p:sp>
      <p:sp>
        <p:nvSpPr>
          <p:cNvPr id="36" name="Text 34"/>
          <p:cNvSpPr/>
          <p:nvPr/>
        </p:nvSpPr>
        <p:spPr>
          <a:xfrm>
            <a:off x="4572000" y="4361688"/>
            <a:ext cx="1188720" cy="475488"/>
          </a:xfrm>
          <a:prstGeom prst="rect">
            <a:avLst/>
          </a:prstGeom>
          <a:noFill/>
          <a:ln/>
        </p:spPr>
        <p:txBody>
          <a:bodyPr wrap="square" rtlCol="0" anchor="ctr"/>
          <a:lstStyle/>
          <a:p>
            <a:pPr indent="0" marL="0">
              <a:buNone/>
            </a:pPr>
            <a:r>
              <a:rPr lang="en-US" sz="1150" b="1" dirty="0">
                <a:solidFill>
                  <a:srgbClr val="00C2CB"/>
                </a:solidFill>
                <a:latin typeface="Courier New" pitchFamily="34" charset="0"/>
                <a:ea typeface="Courier New" pitchFamily="34" charset="-122"/>
                <a:cs typeface="Courier New" pitchFamily="34" charset="-120"/>
              </a:rPr>
              <a:t>INSERT</a:t>
            </a:r>
            <a:endParaRPr lang="en-US" sz="1150" dirty="0"/>
          </a:p>
        </p:txBody>
      </p:sp>
      <p:sp>
        <p:nvSpPr>
          <p:cNvPr id="37" name="Text 35"/>
          <p:cNvSpPr/>
          <p:nvPr/>
        </p:nvSpPr>
        <p:spPr>
          <a:xfrm>
            <a:off x="5824728" y="4361688"/>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Add one or more new rows</a:t>
            </a:r>
            <a:endParaRPr lang="en-US" sz="1050" dirty="0"/>
          </a:p>
        </p:txBody>
      </p:sp>
      <p:sp>
        <p:nvSpPr>
          <p:cNvPr id="38" name="Shape 36"/>
          <p:cNvSpPr/>
          <p:nvPr/>
        </p:nvSpPr>
        <p:spPr>
          <a:xfrm>
            <a:off x="4480560" y="4928616"/>
            <a:ext cx="3328416" cy="475488"/>
          </a:xfrm>
          <a:prstGeom prst="rect">
            <a:avLst/>
          </a:prstGeom>
          <a:solidFill>
            <a:srgbClr val="132F56"/>
          </a:solidFill>
          <a:ln w="12700">
            <a:solidFill>
              <a:srgbClr val="1E3A5F"/>
            </a:solidFill>
            <a:prstDash val="solid"/>
          </a:ln>
        </p:spPr>
      </p:sp>
      <p:sp>
        <p:nvSpPr>
          <p:cNvPr id="39" name="Text 37"/>
          <p:cNvSpPr/>
          <p:nvPr/>
        </p:nvSpPr>
        <p:spPr>
          <a:xfrm>
            <a:off x="4572000" y="4928616"/>
            <a:ext cx="1188720" cy="475488"/>
          </a:xfrm>
          <a:prstGeom prst="rect">
            <a:avLst/>
          </a:prstGeom>
          <a:noFill/>
          <a:ln/>
        </p:spPr>
        <p:txBody>
          <a:bodyPr wrap="square" rtlCol="0" anchor="ctr"/>
          <a:lstStyle/>
          <a:p>
            <a:pPr indent="0" marL="0">
              <a:buNone/>
            </a:pPr>
            <a:r>
              <a:rPr lang="en-US" sz="1150" b="1" dirty="0">
                <a:solidFill>
                  <a:srgbClr val="00C2CB"/>
                </a:solidFill>
                <a:latin typeface="Courier New" pitchFamily="34" charset="0"/>
                <a:ea typeface="Courier New" pitchFamily="34" charset="-122"/>
                <a:cs typeface="Courier New" pitchFamily="34" charset="-120"/>
              </a:rPr>
              <a:t>UPDATE</a:t>
            </a:r>
            <a:endParaRPr lang="en-US" sz="1150" dirty="0"/>
          </a:p>
        </p:txBody>
      </p:sp>
      <p:sp>
        <p:nvSpPr>
          <p:cNvPr id="40" name="Text 38"/>
          <p:cNvSpPr/>
          <p:nvPr/>
        </p:nvSpPr>
        <p:spPr>
          <a:xfrm>
            <a:off x="5824728" y="4928616"/>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Change values in existing rows</a:t>
            </a:r>
            <a:endParaRPr lang="en-US" sz="1050" dirty="0"/>
          </a:p>
        </p:txBody>
      </p:sp>
      <p:sp>
        <p:nvSpPr>
          <p:cNvPr id="41" name="Shape 39"/>
          <p:cNvSpPr/>
          <p:nvPr/>
        </p:nvSpPr>
        <p:spPr>
          <a:xfrm>
            <a:off x="4480560" y="5495544"/>
            <a:ext cx="3328416" cy="475488"/>
          </a:xfrm>
          <a:prstGeom prst="rect">
            <a:avLst/>
          </a:prstGeom>
          <a:solidFill>
            <a:srgbClr val="132F56"/>
          </a:solidFill>
          <a:ln w="12700">
            <a:solidFill>
              <a:srgbClr val="1E3A5F"/>
            </a:solidFill>
            <a:prstDash val="solid"/>
          </a:ln>
        </p:spPr>
      </p:sp>
      <p:sp>
        <p:nvSpPr>
          <p:cNvPr id="42" name="Text 40"/>
          <p:cNvSpPr/>
          <p:nvPr/>
        </p:nvSpPr>
        <p:spPr>
          <a:xfrm>
            <a:off x="4572000" y="5495544"/>
            <a:ext cx="1188720" cy="475488"/>
          </a:xfrm>
          <a:prstGeom prst="rect">
            <a:avLst/>
          </a:prstGeom>
          <a:noFill/>
          <a:ln/>
        </p:spPr>
        <p:txBody>
          <a:bodyPr wrap="square" rtlCol="0" anchor="ctr"/>
          <a:lstStyle/>
          <a:p>
            <a:pPr indent="0" marL="0">
              <a:buNone/>
            </a:pPr>
            <a:r>
              <a:rPr lang="en-US" sz="1150" b="1" dirty="0">
                <a:solidFill>
                  <a:srgbClr val="00C2CB"/>
                </a:solidFill>
                <a:latin typeface="Courier New" pitchFamily="34" charset="0"/>
                <a:ea typeface="Courier New" pitchFamily="34" charset="-122"/>
                <a:cs typeface="Courier New" pitchFamily="34" charset="-120"/>
              </a:rPr>
              <a:t>DELETE</a:t>
            </a:r>
            <a:endParaRPr lang="en-US" sz="1150" dirty="0"/>
          </a:p>
        </p:txBody>
      </p:sp>
      <p:sp>
        <p:nvSpPr>
          <p:cNvPr id="43" name="Text 41"/>
          <p:cNvSpPr/>
          <p:nvPr/>
        </p:nvSpPr>
        <p:spPr>
          <a:xfrm>
            <a:off x="5824728" y="5495544"/>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Remove rows that match a condition</a:t>
            </a:r>
            <a:endParaRPr lang="en-US" sz="1050" dirty="0"/>
          </a:p>
        </p:txBody>
      </p:sp>
      <p:sp>
        <p:nvSpPr>
          <p:cNvPr id="44" name="Shape 42"/>
          <p:cNvSpPr/>
          <p:nvPr/>
        </p:nvSpPr>
        <p:spPr>
          <a:xfrm>
            <a:off x="4498848" y="5559552"/>
            <a:ext cx="3291840" cy="0"/>
          </a:xfrm>
          <a:prstGeom prst="line">
            <a:avLst/>
          </a:prstGeom>
          <a:noFill/>
          <a:ln w="12700">
            <a:solidFill>
              <a:srgbClr val="1E3A5F"/>
            </a:solidFill>
            <a:prstDash val="solid"/>
          </a:ln>
        </p:spPr>
      </p:sp>
      <p:sp>
        <p:nvSpPr>
          <p:cNvPr id="45" name="Text 43"/>
          <p:cNvSpPr/>
          <p:nvPr/>
        </p:nvSpPr>
        <p:spPr>
          <a:xfrm>
            <a:off x="4480560" y="5614416"/>
            <a:ext cx="3328416" cy="658368"/>
          </a:xfrm>
          <a:prstGeom prst="rect">
            <a:avLst/>
          </a:prstGeom>
          <a:noFill/>
          <a:ln/>
        </p:spPr>
        <p:txBody>
          <a:bodyPr wrap="square" rtlCol="0" anchor="ctr"/>
          <a:lstStyle/>
          <a:p>
            <a:pPr indent="0" marL="0">
              <a:buNone/>
            </a:pPr>
            <a:r>
              <a:rPr lang="en-US" sz="1050" i="1" dirty="0">
                <a:solidFill>
                  <a:srgbClr val="7B93B3"/>
                </a:solidFill>
                <a:latin typeface="Calibri" pitchFamily="34" charset="0"/>
                <a:ea typeface="Calibri" pitchFamily="34" charset="-122"/>
                <a:cs typeface="Calibri" pitchFamily="34" charset="-120"/>
              </a:rPr>
              <a:t>Most of this course focuses here. Every query, every report, every dashboard is a SELECT.</a:t>
            </a:r>
            <a:endParaRPr lang="en-US" sz="1050" dirty="0"/>
          </a:p>
        </p:txBody>
      </p:sp>
      <p:sp>
        <p:nvSpPr>
          <p:cNvPr id="46" name="Shape 44"/>
          <p:cNvSpPr/>
          <p:nvPr/>
        </p:nvSpPr>
        <p:spPr>
          <a:xfrm>
            <a:off x="8247888" y="1371600"/>
            <a:ext cx="3657600" cy="5230368"/>
          </a:xfrm>
          <a:prstGeom prst="rect">
            <a:avLst/>
          </a:prstGeom>
          <a:solidFill>
            <a:srgbClr val="102A4C"/>
          </a:solidFill>
          <a:ln w="12700">
            <a:solidFill>
              <a:srgbClr val="FFB347"/>
            </a:solidFill>
            <a:prstDash val="solid"/>
          </a:ln>
          <a:effectLst>
            <a:outerShdw sx="100000" sy="100000" kx="0" ky="0" algn="bl" rotWithShape="0" blurRad="101600" dist="38100" dir="8100000">
              <a:srgbClr val="000000">
                <a:alpha val="14000"/>
              </a:srgbClr>
            </a:outerShdw>
          </a:effectLst>
        </p:spPr>
      </p:sp>
      <p:sp>
        <p:nvSpPr>
          <p:cNvPr id="47" name="Shape 45"/>
          <p:cNvSpPr/>
          <p:nvPr/>
        </p:nvSpPr>
        <p:spPr>
          <a:xfrm>
            <a:off x="8247888" y="1371600"/>
            <a:ext cx="3657600" cy="54864"/>
          </a:xfrm>
          <a:prstGeom prst="rect">
            <a:avLst/>
          </a:prstGeom>
          <a:solidFill>
            <a:srgbClr val="FFB347"/>
          </a:solidFill>
          <a:ln w="12700">
            <a:solidFill>
              <a:srgbClr val="FFB347"/>
            </a:solidFill>
            <a:prstDash val="solid"/>
          </a:ln>
        </p:spPr>
      </p:sp>
      <p:sp>
        <p:nvSpPr>
          <p:cNvPr id="48" name="Text 46"/>
          <p:cNvSpPr/>
          <p:nvPr/>
        </p:nvSpPr>
        <p:spPr>
          <a:xfrm>
            <a:off x="8247888" y="1463040"/>
            <a:ext cx="3657600" cy="548640"/>
          </a:xfrm>
          <a:prstGeom prst="rect">
            <a:avLst/>
          </a:prstGeom>
          <a:noFill/>
          <a:ln/>
        </p:spPr>
        <p:txBody>
          <a:bodyPr wrap="square" rtlCol="0" anchor="ctr"/>
          <a:lstStyle/>
          <a:p>
            <a:pPr algn="ctr" indent="0" marL="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49" name="Text 47"/>
          <p:cNvSpPr/>
          <p:nvPr/>
        </p:nvSpPr>
        <p:spPr>
          <a:xfrm>
            <a:off x="8385048" y="2029968"/>
            <a:ext cx="3383280" cy="43891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Transaction Statements</a:t>
            </a:r>
            <a:endParaRPr lang="en-US" sz="1600" dirty="0"/>
          </a:p>
        </p:txBody>
      </p:sp>
      <p:sp>
        <p:nvSpPr>
          <p:cNvPr id="50" name="Text 48"/>
          <p:cNvSpPr/>
          <p:nvPr/>
        </p:nvSpPr>
        <p:spPr>
          <a:xfrm>
            <a:off x="8385048" y="2468880"/>
            <a:ext cx="3383280" cy="292608"/>
          </a:xfrm>
          <a:prstGeom prst="rect">
            <a:avLst/>
          </a:prstGeom>
          <a:noFill/>
          <a:ln/>
        </p:spPr>
        <p:txBody>
          <a:bodyPr wrap="square" rtlCol="0" anchor="ctr"/>
          <a:lstStyle/>
          <a:p>
            <a:pPr algn="ctr" indent="0" marL="0">
              <a:buNone/>
            </a:pPr>
            <a:r>
              <a:rPr lang="en-US" sz="1200" i="1" dirty="0">
                <a:solidFill>
                  <a:srgbClr val="FFB347"/>
                </a:solidFill>
                <a:latin typeface="Calibri" pitchFamily="34" charset="0"/>
                <a:ea typeface="Calibri" pitchFamily="34" charset="-122"/>
                <a:cs typeface="Calibri" pitchFamily="34" charset="-120"/>
              </a:rPr>
              <a:t>Group operations safely</a:t>
            </a:r>
            <a:endParaRPr lang="en-US" sz="1200" dirty="0"/>
          </a:p>
        </p:txBody>
      </p:sp>
      <p:sp>
        <p:nvSpPr>
          <p:cNvPr id="51" name="Text 49"/>
          <p:cNvSpPr/>
          <p:nvPr/>
        </p:nvSpPr>
        <p:spPr>
          <a:xfrm>
            <a:off x="8412480" y="2834640"/>
            <a:ext cx="3328416" cy="804672"/>
          </a:xfrm>
          <a:prstGeom prst="rect">
            <a:avLst/>
          </a:prstGeom>
          <a:noFill/>
          <a:ln/>
        </p:spPr>
        <p:txBody>
          <a:bodyPr wrap="square" rtlCol="0" anchor="ctr"/>
          <a:lstStyle/>
          <a:p>
            <a:pPr indent="0" marL="0">
              <a:buNone/>
            </a:pPr>
            <a:r>
              <a:rPr lang="en-US" sz="1150" dirty="0">
                <a:solidFill>
                  <a:srgbClr val="94A3B8"/>
                </a:solidFill>
                <a:latin typeface="Calibri" pitchFamily="34" charset="0"/>
                <a:ea typeface="Calibri" pitchFamily="34" charset="-122"/>
                <a:cs typeface="Calibri" pitchFamily="34" charset="-120"/>
              </a:rPr>
              <a:t>Transactions let you bundle multiple data statements into one atomic unit. Either all succeed, or none do.</a:t>
            </a:r>
            <a:endParaRPr lang="en-US" sz="1150" dirty="0"/>
          </a:p>
        </p:txBody>
      </p:sp>
      <p:sp>
        <p:nvSpPr>
          <p:cNvPr id="52" name="Shape 50"/>
          <p:cNvSpPr/>
          <p:nvPr/>
        </p:nvSpPr>
        <p:spPr>
          <a:xfrm>
            <a:off x="8430768" y="3703320"/>
            <a:ext cx="3291840" cy="0"/>
          </a:xfrm>
          <a:prstGeom prst="line">
            <a:avLst/>
          </a:prstGeom>
          <a:noFill/>
          <a:ln w="12700">
            <a:solidFill>
              <a:srgbClr val="1E3A5F"/>
            </a:solidFill>
            <a:prstDash val="solid"/>
          </a:ln>
        </p:spPr>
      </p:sp>
      <p:sp>
        <p:nvSpPr>
          <p:cNvPr id="53" name="Shape 51"/>
          <p:cNvSpPr/>
          <p:nvPr/>
        </p:nvSpPr>
        <p:spPr>
          <a:xfrm>
            <a:off x="8412480" y="3794760"/>
            <a:ext cx="3328416" cy="475488"/>
          </a:xfrm>
          <a:prstGeom prst="rect">
            <a:avLst/>
          </a:prstGeom>
          <a:solidFill>
            <a:srgbClr val="132F56"/>
          </a:solidFill>
          <a:ln w="12700">
            <a:solidFill>
              <a:srgbClr val="1E3A5F"/>
            </a:solidFill>
            <a:prstDash val="solid"/>
          </a:ln>
        </p:spPr>
      </p:sp>
      <p:sp>
        <p:nvSpPr>
          <p:cNvPr id="54" name="Text 52"/>
          <p:cNvSpPr/>
          <p:nvPr/>
        </p:nvSpPr>
        <p:spPr>
          <a:xfrm>
            <a:off x="8503920" y="3794760"/>
            <a:ext cx="1188720" cy="475488"/>
          </a:xfrm>
          <a:prstGeom prst="rect">
            <a:avLst/>
          </a:prstGeom>
          <a:noFill/>
          <a:ln/>
        </p:spPr>
        <p:txBody>
          <a:bodyPr wrap="square" rtlCol="0" anchor="ctr"/>
          <a:lstStyle/>
          <a:p>
            <a:pPr indent="0" marL="0">
              <a:buNone/>
            </a:pPr>
            <a:r>
              <a:rPr lang="en-US" sz="1150" b="1" dirty="0">
                <a:solidFill>
                  <a:srgbClr val="FFB347"/>
                </a:solidFill>
                <a:latin typeface="Courier New" pitchFamily="34" charset="0"/>
                <a:ea typeface="Courier New" pitchFamily="34" charset="-122"/>
                <a:cs typeface="Courier New" pitchFamily="34" charset="-120"/>
              </a:rPr>
              <a:t>BEGIN</a:t>
            </a:r>
            <a:endParaRPr lang="en-US" sz="1150" dirty="0"/>
          </a:p>
        </p:txBody>
      </p:sp>
      <p:sp>
        <p:nvSpPr>
          <p:cNvPr id="55" name="Text 53"/>
          <p:cNvSpPr/>
          <p:nvPr/>
        </p:nvSpPr>
        <p:spPr>
          <a:xfrm>
            <a:off x="9756648" y="3794760"/>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Start a transaction block</a:t>
            </a:r>
            <a:endParaRPr lang="en-US" sz="1050" dirty="0"/>
          </a:p>
        </p:txBody>
      </p:sp>
      <p:sp>
        <p:nvSpPr>
          <p:cNvPr id="56" name="Shape 54"/>
          <p:cNvSpPr/>
          <p:nvPr/>
        </p:nvSpPr>
        <p:spPr>
          <a:xfrm>
            <a:off x="8412480" y="4361688"/>
            <a:ext cx="3328416" cy="475488"/>
          </a:xfrm>
          <a:prstGeom prst="rect">
            <a:avLst/>
          </a:prstGeom>
          <a:solidFill>
            <a:srgbClr val="132F56"/>
          </a:solidFill>
          <a:ln w="12700">
            <a:solidFill>
              <a:srgbClr val="1E3A5F"/>
            </a:solidFill>
            <a:prstDash val="solid"/>
          </a:ln>
        </p:spPr>
      </p:sp>
      <p:sp>
        <p:nvSpPr>
          <p:cNvPr id="57" name="Text 55"/>
          <p:cNvSpPr/>
          <p:nvPr/>
        </p:nvSpPr>
        <p:spPr>
          <a:xfrm>
            <a:off x="8503920" y="4361688"/>
            <a:ext cx="1188720" cy="475488"/>
          </a:xfrm>
          <a:prstGeom prst="rect">
            <a:avLst/>
          </a:prstGeom>
          <a:noFill/>
          <a:ln/>
        </p:spPr>
        <p:txBody>
          <a:bodyPr wrap="square" rtlCol="0" anchor="ctr"/>
          <a:lstStyle/>
          <a:p>
            <a:pPr indent="0" marL="0">
              <a:buNone/>
            </a:pPr>
            <a:r>
              <a:rPr lang="en-US" sz="1150" b="1" dirty="0">
                <a:solidFill>
                  <a:srgbClr val="FFB347"/>
                </a:solidFill>
                <a:latin typeface="Courier New" pitchFamily="34" charset="0"/>
                <a:ea typeface="Courier New" pitchFamily="34" charset="-122"/>
                <a:cs typeface="Courier New" pitchFamily="34" charset="-120"/>
              </a:rPr>
              <a:t>COMMIT</a:t>
            </a:r>
            <a:endParaRPr lang="en-US" sz="1150" dirty="0"/>
          </a:p>
        </p:txBody>
      </p:sp>
      <p:sp>
        <p:nvSpPr>
          <p:cNvPr id="58" name="Text 56"/>
          <p:cNvSpPr/>
          <p:nvPr/>
        </p:nvSpPr>
        <p:spPr>
          <a:xfrm>
            <a:off x="9756648" y="4361688"/>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Save all changes permanently</a:t>
            </a:r>
            <a:endParaRPr lang="en-US" sz="1050" dirty="0"/>
          </a:p>
        </p:txBody>
      </p:sp>
      <p:sp>
        <p:nvSpPr>
          <p:cNvPr id="59" name="Shape 57"/>
          <p:cNvSpPr/>
          <p:nvPr/>
        </p:nvSpPr>
        <p:spPr>
          <a:xfrm>
            <a:off x="8412480" y="4928616"/>
            <a:ext cx="3328416" cy="475488"/>
          </a:xfrm>
          <a:prstGeom prst="rect">
            <a:avLst/>
          </a:prstGeom>
          <a:solidFill>
            <a:srgbClr val="132F56"/>
          </a:solidFill>
          <a:ln w="12700">
            <a:solidFill>
              <a:srgbClr val="1E3A5F"/>
            </a:solidFill>
            <a:prstDash val="solid"/>
          </a:ln>
        </p:spPr>
      </p:sp>
      <p:sp>
        <p:nvSpPr>
          <p:cNvPr id="60" name="Text 58"/>
          <p:cNvSpPr/>
          <p:nvPr/>
        </p:nvSpPr>
        <p:spPr>
          <a:xfrm>
            <a:off x="8503920" y="4928616"/>
            <a:ext cx="1188720" cy="475488"/>
          </a:xfrm>
          <a:prstGeom prst="rect">
            <a:avLst/>
          </a:prstGeom>
          <a:noFill/>
          <a:ln/>
        </p:spPr>
        <p:txBody>
          <a:bodyPr wrap="square" rtlCol="0" anchor="ctr"/>
          <a:lstStyle/>
          <a:p>
            <a:pPr indent="0" marL="0">
              <a:buNone/>
            </a:pPr>
            <a:r>
              <a:rPr lang="en-US" sz="1150" b="1" dirty="0">
                <a:solidFill>
                  <a:srgbClr val="FFB347"/>
                </a:solidFill>
                <a:latin typeface="Courier New" pitchFamily="34" charset="0"/>
                <a:ea typeface="Courier New" pitchFamily="34" charset="-122"/>
                <a:cs typeface="Courier New" pitchFamily="34" charset="-120"/>
              </a:rPr>
              <a:t>ROLLBACK</a:t>
            </a:r>
            <a:endParaRPr lang="en-US" sz="1150" dirty="0"/>
          </a:p>
        </p:txBody>
      </p:sp>
      <p:sp>
        <p:nvSpPr>
          <p:cNvPr id="61" name="Text 59"/>
          <p:cNvSpPr/>
          <p:nvPr/>
        </p:nvSpPr>
        <p:spPr>
          <a:xfrm>
            <a:off x="9756648" y="4928616"/>
            <a:ext cx="1874520" cy="47548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Undo everything since BEGIN</a:t>
            </a:r>
            <a:endParaRPr lang="en-US" sz="1050" dirty="0"/>
          </a:p>
        </p:txBody>
      </p:sp>
      <p:sp>
        <p:nvSpPr>
          <p:cNvPr id="62" name="Shape 60"/>
          <p:cNvSpPr/>
          <p:nvPr/>
        </p:nvSpPr>
        <p:spPr>
          <a:xfrm>
            <a:off x="8430768" y="5559552"/>
            <a:ext cx="3291840" cy="0"/>
          </a:xfrm>
          <a:prstGeom prst="line">
            <a:avLst/>
          </a:prstGeom>
          <a:noFill/>
          <a:ln w="12700">
            <a:solidFill>
              <a:srgbClr val="1E3A5F"/>
            </a:solidFill>
            <a:prstDash val="solid"/>
          </a:ln>
        </p:spPr>
      </p:sp>
      <p:sp>
        <p:nvSpPr>
          <p:cNvPr id="63" name="Text 61"/>
          <p:cNvSpPr/>
          <p:nvPr/>
        </p:nvSpPr>
        <p:spPr>
          <a:xfrm>
            <a:off x="8412480" y="5614416"/>
            <a:ext cx="3328416" cy="658368"/>
          </a:xfrm>
          <a:prstGeom prst="rect">
            <a:avLst/>
          </a:prstGeom>
          <a:noFill/>
          <a:ln/>
        </p:spPr>
        <p:txBody>
          <a:bodyPr wrap="square" rtlCol="0" anchor="ctr"/>
          <a:lstStyle/>
          <a:p>
            <a:pPr indent="0" marL="0">
              <a:buNone/>
            </a:pPr>
            <a:r>
              <a:rPr lang="en-US" sz="1050" i="1" dirty="0">
                <a:solidFill>
                  <a:srgbClr val="7B93B3"/>
                </a:solidFill>
                <a:latin typeface="Calibri" pitchFamily="34" charset="0"/>
                <a:ea typeface="Calibri" pitchFamily="34" charset="-122"/>
                <a:cs typeface="Calibri" pitchFamily="34" charset="-120"/>
              </a:rPr>
              <a:t>Critical for UPI payments: debit your account AND credit your friend's — both or neither.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00C2CB"/>
          </a:solidFill>
          <a:ln w="12700">
            <a:solidFill>
              <a:srgbClr val="00C2CB"/>
            </a:solidFill>
            <a:prstDash val="solid"/>
          </a:ln>
        </p:spPr>
      </p:sp>
      <p:sp>
        <p:nvSpPr>
          <p:cNvPr id="4" name="Shape 2"/>
          <p:cNvSpPr/>
          <p:nvPr/>
        </p:nvSpPr>
        <p:spPr>
          <a:xfrm>
            <a:off x="0" y="1188720"/>
            <a:ext cx="12161520" cy="36576"/>
          </a:xfrm>
          <a:prstGeom prst="rect">
            <a:avLst/>
          </a:prstGeom>
          <a:solidFill>
            <a:srgbClr val="00C2CB"/>
          </a:solidFill>
          <a:ln w="12700">
            <a:solidFill>
              <a:srgbClr val="00C2C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Excel vs Databases — Know the Difference</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00C2CB"/>
                </a:solidFill>
                <a:latin typeface="Calibri" pitchFamily="34" charset="0"/>
                <a:ea typeface="Calibri" pitchFamily="34" charset="-122"/>
                <a:cs typeface="Calibri" pitchFamily="34" charset="-120"/>
              </a:rPr>
              <a:t>Both are tools — great or terrible depending on the job</a:t>
            </a:r>
            <a:endParaRPr lang="en-US" sz="1400" dirty="0"/>
          </a:p>
        </p:txBody>
      </p:sp>
      <p:sp>
        <p:nvSpPr>
          <p:cNvPr id="7" name="Shape 5"/>
          <p:cNvSpPr/>
          <p:nvPr/>
        </p:nvSpPr>
        <p:spPr>
          <a:xfrm>
            <a:off x="2926080" y="1371600"/>
            <a:ext cx="4114800" cy="530352"/>
          </a:xfrm>
          <a:prstGeom prst="rect">
            <a:avLst/>
          </a:prstGeom>
          <a:solidFill>
            <a:srgbClr val="166534"/>
          </a:solidFill>
          <a:ln w="12700">
            <a:solidFill>
              <a:srgbClr val="166534"/>
            </a:solidFill>
            <a:prstDash val="solid"/>
          </a:ln>
        </p:spPr>
      </p:sp>
      <p:sp>
        <p:nvSpPr>
          <p:cNvPr id="8" name="Text 6"/>
          <p:cNvSpPr/>
          <p:nvPr/>
        </p:nvSpPr>
        <p:spPr>
          <a:xfrm>
            <a:off x="2926080" y="1371600"/>
            <a:ext cx="4114800" cy="53035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  Microsoft Excel</a:t>
            </a:r>
            <a:endParaRPr lang="en-US" sz="1600" dirty="0"/>
          </a:p>
        </p:txBody>
      </p:sp>
      <p:sp>
        <p:nvSpPr>
          <p:cNvPr id="9" name="Shape 7"/>
          <p:cNvSpPr/>
          <p:nvPr/>
        </p:nvSpPr>
        <p:spPr>
          <a:xfrm>
            <a:off x="7315200" y="1371600"/>
            <a:ext cx="4434840" cy="530352"/>
          </a:xfrm>
          <a:prstGeom prst="rect">
            <a:avLst/>
          </a:prstGeom>
          <a:solidFill>
            <a:srgbClr val="009CA5"/>
          </a:solidFill>
          <a:ln w="12700">
            <a:solidFill>
              <a:srgbClr val="009CA5"/>
            </a:solidFill>
            <a:prstDash val="solid"/>
          </a:ln>
        </p:spPr>
      </p:sp>
      <p:sp>
        <p:nvSpPr>
          <p:cNvPr id="10" name="Text 8"/>
          <p:cNvSpPr/>
          <p:nvPr/>
        </p:nvSpPr>
        <p:spPr>
          <a:xfrm>
            <a:off x="7315200" y="1371600"/>
            <a:ext cx="4434840" cy="53035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  Relational Database</a:t>
            </a:r>
            <a:endParaRPr lang="en-US" sz="1600" dirty="0"/>
          </a:p>
        </p:txBody>
      </p:sp>
      <p:sp>
        <p:nvSpPr>
          <p:cNvPr id="11" name="Shape 9"/>
          <p:cNvSpPr/>
          <p:nvPr/>
        </p:nvSpPr>
        <p:spPr>
          <a:xfrm>
            <a:off x="384048" y="1975104"/>
            <a:ext cx="2423160" cy="530352"/>
          </a:xfrm>
          <a:prstGeom prst="rect">
            <a:avLst/>
          </a:prstGeom>
          <a:solidFill>
            <a:srgbClr val="0A0F1E"/>
          </a:solidFill>
          <a:ln w="12700">
            <a:solidFill>
              <a:srgbClr val="1E3A5F"/>
            </a:solidFill>
            <a:prstDash val="solid"/>
          </a:ln>
        </p:spPr>
      </p:sp>
      <p:sp>
        <p:nvSpPr>
          <p:cNvPr id="12" name="Text 10"/>
          <p:cNvSpPr/>
          <p:nvPr/>
        </p:nvSpPr>
        <p:spPr>
          <a:xfrm>
            <a:off x="457200" y="1975104"/>
            <a:ext cx="2331720" cy="530352"/>
          </a:xfrm>
          <a:prstGeom prst="rect">
            <a:avLst/>
          </a:prstGeom>
          <a:noFill/>
          <a:ln/>
        </p:spPr>
        <p:txBody>
          <a:bodyPr wrap="square" rtlCol="0" anchor="ctr"/>
          <a:lstStyle/>
          <a:p>
            <a:pPr indent="0" marL="0">
              <a:buNone/>
            </a:pPr>
            <a:r>
              <a:rPr lang="en-US" sz="1250" b="1" dirty="0">
                <a:solidFill>
                  <a:srgbClr val="00C2CB"/>
                </a:solidFill>
                <a:latin typeface="Calibri" pitchFamily="34" charset="0"/>
                <a:ea typeface="Calibri" pitchFamily="34" charset="-122"/>
                <a:cs typeface="Calibri" pitchFamily="34" charset="-120"/>
              </a:rPr>
              <a:t>Row limit</a:t>
            </a:r>
            <a:endParaRPr lang="en-US" sz="1250" dirty="0"/>
          </a:p>
        </p:txBody>
      </p:sp>
      <p:sp>
        <p:nvSpPr>
          <p:cNvPr id="13" name="Shape 11"/>
          <p:cNvSpPr/>
          <p:nvPr/>
        </p:nvSpPr>
        <p:spPr>
          <a:xfrm>
            <a:off x="2926080" y="1975104"/>
            <a:ext cx="4114800" cy="530352"/>
          </a:xfrm>
          <a:prstGeom prst="rect">
            <a:avLst/>
          </a:prstGeom>
          <a:solidFill>
            <a:srgbClr val="102A4C"/>
          </a:solidFill>
          <a:ln w="12700">
            <a:solidFill>
              <a:srgbClr val="1E3A5F"/>
            </a:solidFill>
            <a:prstDash val="solid"/>
          </a:ln>
        </p:spPr>
      </p:sp>
      <p:sp>
        <p:nvSpPr>
          <p:cNvPr id="14" name="Text 12"/>
          <p:cNvSpPr/>
          <p:nvPr/>
        </p:nvSpPr>
        <p:spPr>
          <a:xfrm>
            <a:off x="3017520" y="1975104"/>
            <a:ext cx="3931920" cy="530352"/>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~1,048,576 rows max (gets slow at ~100k)</a:t>
            </a:r>
            <a:endParaRPr lang="en-US" sz="1150" dirty="0"/>
          </a:p>
        </p:txBody>
      </p:sp>
      <p:sp>
        <p:nvSpPr>
          <p:cNvPr id="15" name="Shape 13"/>
          <p:cNvSpPr/>
          <p:nvPr/>
        </p:nvSpPr>
        <p:spPr>
          <a:xfrm>
            <a:off x="7315200" y="1975104"/>
            <a:ext cx="4434840" cy="530352"/>
          </a:xfrm>
          <a:prstGeom prst="rect">
            <a:avLst/>
          </a:prstGeom>
          <a:solidFill>
            <a:srgbClr val="102A4C"/>
          </a:solidFill>
          <a:ln w="12700">
            <a:solidFill>
              <a:srgbClr val="1E3A5F"/>
            </a:solidFill>
            <a:prstDash val="solid"/>
          </a:ln>
        </p:spPr>
      </p:sp>
      <p:sp>
        <p:nvSpPr>
          <p:cNvPr id="16" name="Text 14"/>
          <p:cNvSpPr/>
          <p:nvPr/>
        </p:nvSpPr>
        <p:spPr>
          <a:xfrm>
            <a:off x="7406640" y="1975104"/>
            <a:ext cx="4251960" cy="530352"/>
          </a:xfrm>
          <a:prstGeom prst="rect">
            <a:avLst/>
          </a:prstGeom>
          <a:noFill/>
          <a:ln/>
        </p:spPr>
        <p:txBody>
          <a:bodyPr wrap="square" rtlCol="0" anchor="ctr"/>
          <a:lstStyle/>
          <a:p>
            <a:pPr indent="0" marL="0">
              <a:buNone/>
            </a:pPr>
            <a:r>
              <a:rPr lang="en-US" sz="1150" b="1" dirty="0">
                <a:solidFill>
                  <a:srgbClr val="52E3A3"/>
                </a:solidFill>
                <a:latin typeface="Calibri" pitchFamily="34" charset="0"/>
                <a:ea typeface="Calibri" pitchFamily="34" charset="-122"/>
                <a:cs typeface="Calibri" pitchFamily="34" charset="-120"/>
              </a:rPr>
              <a:t>Billions of rows — indexes keep it fast</a:t>
            </a:r>
            <a:endParaRPr lang="en-US" sz="1150" dirty="0"/>
          </a:p>
        </p:txBody>
      </p:sp>
      <p:sp>
        <p:nvSpPr>
          <p:cNvPr id="17" name="Shape 15"/>
          <p:cNvSpPr/>
          <p:nvPr/>
        </p:nvSpPr>
        <p:spPr>
          <a:xfrm>
            <a:off x="384048" y="2542032"/>
            <a:ext cx="2423160" cy="530352"/>
          </a:xfrm>
          <a:prstGeom prst="rect">
            <a:avLst/>
          </a:prstGeom>
          <a:solidFill>
            <a:srgbClr val="0A0F1E"/>
          </a:solidFill>
          <a:ln w="12700">
            <a:solidFill>
              <a:srgbClr val="1E3A5F"/>
            </a:solidFill>
            <a:prstDash val="solid"/>
          </a:ln>
        </p:spPr>
      </p:sp>
      <p:sp>
        <p:nvSpPr>
          <p:cNvPr id="18" name="Text 16"/>
          <p:cNvSpPr/>
          <p:nvPr/>
        </p:nvSpPr>
        <p:spPr>
          <a:xfrm>
            <a:off x="457200" y="2542032"/>
            <a:ext cx="2331720" cy="530352"/>
          </a:xfrm>
          <a:prstGeom prst="rect">
            <a:avLst/>
          </a:prstGeom>
          <a:noFill/>
          <a:ln/>
        </p:spPr>
        <p:txBody>
          <a:bodyPr wrap="square" rtlCol="0" anchor="ctr"/>
          <a:lstStyle/>
          <a:p>
            <a:pPr indent="0" marL="0">
              <a:buNone/>
            </a:pPr>
            <a:r>
              <a:rPr lang="en-US" sz="1250" b="1" dirty="0">
                <a:solidFill>
                  <a:srgbClr val="00C2CB"/>
                </a:solidFill>
                <a:latin typeface="Calibri" pitchFamily="34" charset="0"/>
                <a:ea typeface="Calibri" pitchFamily="34" charset="-122"/>
                <a:cs typeface="Calibri" pitchFamily="34" charset="-120"/>
              </a:rPr>
              <a:t>Concurrent users</a:t>
            </a:r>
            <a:endParaRPr lang="en-US" sz="1250" dirty="0"/>
          </a:p>
        </p:txBody>
      </p:sp>
      <p:sp>
        <p:nvSpPr>
          <p:cNvPr id="19" name="Shape 17"/>
          <p:cNvSpPr/>
          <p:nvPr/>
        </p:nvSpPr>
        <p:spPr>
          <a:xfrm>
            <a:off x="2926080" y="2542032"/>
            <a:ext cx="4114800" cy="530352"/>
          </a:xfrm>
          <a:prstGeom prst="rect">
            <a:avLst/>
          </a:prstGeom>
          <a:solidFill>
            <a:srgbClr val="132F56"/>
          </a:solidFill>
          <a:ln w="12700">
            <a:solidFill>
              <a:srgbClr val="1E3A5F"/>
            </a:solidFill>
            <a:prstDash val="solid"/>
          </a:ln>
        </p:spPr>
      </p:sp>
      <p:sp>
        <p:nvSpPr>
          <p:cNvPr id="20" name="Text 18"/>
          <p:cNvSpPr/>
          <p:nvPr/>
        </p:nvSpPr>
        <p:spPr>
          <a:xfrm>
            <a:off x="3017520" y="2542032"/>
            <a:ext cx="3931920" cy="530352"/>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One person edits safely at a time</a:t>
            </a:r>
            <a:endParaRPr lang="en-US" sz="1150" dirty="0"/>
          </a:p>
        </p:txBody>
      </p:sp>
      <p:sp>
        <p:nvSpPr>
          <p:cNvPr id="21" name="Shape 19"/>
          <p:cNvSpPr/>
          <p:nvPr/>
        </p:nvSpPr>
        <p:spPr>
          <a:xfrm>
            <a:off x="7315200" y="2542032"/>
            <a:ext cx="4434840" cy="530352"/>
          </a:xfrm>
          <a:prstGeom prst="rect">
            <a:avLst/>
          </a:prstGeom>
          <a:solidFill>
            <a:srgbClr val="132F56"/>
          </a:solidFill>
          <a:ln w="12700">
            <a:solidFill>
              <a:srgbClr val="1E3A5F"/>
            </a:solidFill>
            <a:prstDash val="solid"/>
          </a:ln>
        </p:spPr>
      </p:sp>
      <p:sp>
        <p:nvSpPr>
          <p:cNvPr id="22" name="Text 20"/>
          <p:cNvSpPr/>
          <p:nvPr/>
        </p:nvSpPr>
        <p:spPr>
          <a:xfrm>
            <a:off x="7406640" y="2542032"/>
            <a:ext cx="4251960" cy="530352"/>
          </a:xfrm>
          <a:prstGeom prst="rect">
            <a:avLst/>
          </a:prstGeom>
          <a:noFill/>
          <a:ln/>
        </p:spPr>
        <p:txBody>
          <a:bodyPr wrap="square" rtlCol="0" anchor="ctr"/>
          <a:lstStyle/>
          <a:p>
            <a:pPr indent="0" marL="0">
              <a:buNone/>
            </a:pPr>
            <a:r>
              <a:rPr lang="en-US" sz="1150" b="1" dirty="0">
                <a:solidFill>
                  <a:srgbClr val="52E3A3"/>
                </a:solidFill>
                <a:latin typeface="Calibri" pitchFamily="34" charset="0"/>
                <a:ea typeface="Calibri" pitchFamily="34" charset="-122"/>
                <a:cs typeface="Calibri" pitchFamily="34" charset="-120"/>
              </a:rPr>
              <a:t>Millions of simultaneous readers/writers</a:t>
            </a:r>
            <a:endParaRPr lang="en-US" sz="1150" dirty="0"/>
          </a:p>
        </p:txBody>
      </p:sp>
      <p:sp>
        <p:nvSpPr>
          <p:cNvPr id="23" name="Shape 21"/>
          <p:cNvSpPr/>
          <p:nvPr/>
        </p:nvSpPr>
        <p:spPr>
          <a:xfrm>
            <a:off x="384048" y="3108960"/>
            <a:ext cx="2423160" cy="530352"/>
          </a:xfrm>
          <a:prstGeom prst="rect">
            <a:avLst/>
          </a:prstGeom>
          <a:solidFill>
            <a:srgbClr val="0A0F1E"/>
          </a:solidFill>
          <a:ln w="12700">
            <a:solidFill>
              <a:srgbClr val="1E3A5F"/>
            </a:solidFill>
            <a:prstDash val="solid"/>
          </a:ln>
        </p:spPr>
      </p:sp>
      <p:sp>
        <p:nvSpPr>
          <p:cNvPr id="24" name="Text 22"/>
          <p:cNvSpPr/>
          <p:nvPr/>
        </p:nvSpPr>
        <p:spPr>
          <a:xfrm>
            <a:off x="457200" y="3108960"/>
            <a:ext cx="2331720" cy="530352"/>
          </a:xfrm>
          <a:prstGeom prst="rect">
            <a:avLst/>
          </a:prstGeom>
          <a:noFill/>
          <a:ln/>
        </p:spPr>
        <p:txBody>
          <a:bodyPr wrap="square" rtlCol="0" anchor="ctr"/>
          <a:lstStyle/>
          <a:p>
            <a:pPr indent="0" marL="0">
              <a:buNone/>
            </a:pPr>
            <a:r>
              <a:rPr lang="en-US" sz="1250" b="1" dirty="0">
                <a:solidFill>
                  <a:srgbClr val="00C2CB"/>
                </a:solidFill>
                <a:latin typeface="Calibri" pitchFamily="34" charset="0"/>
                <a:ea typeface="Calibri" pitchFamily="34" charset="-122"/>
                <a:cs typeface="Calibri" pitchFamily="34" charset="-120"/>
              </a:rPr>
              <a:t>Data accuracy</a:t>
            </a:r>
            <a:endParaRPr lang="en-US" sz="1250" dirty="0"/>
          </a:p>
        </p:txBody>
      </p:sp>
      <p:sp>
        <p:nvSpPr>
          <p:cNvPr id="25" name="Shape 23"/>
          <p:cNvSpPr/>
          <p:nvPr/>
        </p:nvSpPr>
        <p:spPr>
          <a:xfrm>
            <a:off x="2926080" y="3108960"/>
            <a:ext cx="4114800" cy="530352"/>
          </a:xfrm>
          <a:prstGeom prst="rect">
            <a:avLst/>
          </a:prstGeom>
          <a:solidFill>
            <a:srgbClr val="102A4C"/>
          </a:solidFill>
          <a:ln w="12700">
            <a:solidFill>
              <a:srgbClr val="1E3A5F"/>
            </a:solidFill>
            <a:prstDash val="solid"/>
          </a:ln>
        </p:spPr>
      </p:sp>
      <p:sp>
        <p:nvSpPr>
          <p:cNvPr id="26" name="Text 24"/>
          <p:cNvSpPr/>
          <p:nvPr/>
        </p:nvSpPr>
        <p:spPr>
          <a:xfrm>
            <a:off x="3017520" y="3108960"/>
            <a:ext cx="3931920" cy="530352"/>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Manual entry = typos, duplicate rows</a:t>
            </a:r>
            <a:endParaRPr lang="en-US" sz="1150" dirty="0"/>
          </a:p>
        </p:txBody>
      </p:sp>
      <p:sp>
        <p:nvSpPr>
          <p:cNvPr id="27" name="Shape 25"/>
          <p:cNvSpPr/>
          <p:nvPr/>
        </p:nvSpPr>
        <p:spPr>
          <a:xfrm>
            <a:off x="7315200" y="3108960"/>
            <a:ext cx="4434840" cy="530352"/>
          </a:xfrm>
          <a:prstGeom prst="rect">
            <a:avLst/>
          </a:prstGeom>
          <a:solidFill>
            <a:srgbClr val="102A4C"/>
          </a:solidFill>
          <a:ln w="12700">
            <a:solidFill>
              <a:srgbClr val="1E3A5F"/>
            </a:solidFill>
            <a:prstDash val="solid"/>
          </a:ln>
        </p:spPr>
      </p:sp>
      <p:sp>
        <p:nvSpPr>
          <p:cNvPr id="28" name="Text 26"/>
          <p:cNvSpPr/>
          <p:nvPr/>
        </p:nvSpPr>
        <p:spPr>
          <a:xfrm>
            <a:off x="7406640" y="3108960"/>
            <a:ext cx="4251960" cy="530352"/>
          </a:xfrm>
          <a:prstGeom prst="rect">
            <a:avLst/>
          </a:prstGeom>
          <a:noFill/>
          <a:ln/>
        </p:spPr>
        <p:txBody>
          <a:bodyPr wrap="square" rtlCol="0" anchor="ctr"/>
          <a:lstStyle/>
          <a:p>
            <a:pPr indent="0" marL="0">
              <a:buNone/>
            </a:pPr>
            <a:r>
              <a:rPr lang="en-US" sz="1150" b="1" dirty="0">
                <a:solidFill>
                  <a:srgbClr val="52E3A3"/>
                </a:solidFill>
                <a:latin typeface="Calibri" pitchFamily="34" charset="0"/>
                <a:ea typeface="Calibri" pitchFamily="34" charset="-122"/>
                <a:cs typeface="Calibri" pitchFamily="34" charset="-120"/>
              </a:rPr>
              <a:t>Constraints reject bad data automatically</a:t>
            </a:r>
            <a:endParaRPr lang="en-US" sz="1150" dirty="0"/>
          </a:p>
        </p:txBody>
      </p:sp>
      <p:sp>
        <p:nvSpPr>
          <p:cNvPr id="29" name="Shape 27"/>
          <p:cNvSpPr/>
          <p:nvPr/>
        </p:nvSpPr>
        <p:spPr>
          <a:xfrm>
            <a:off x="384048" y="3675888"/>
            <a:ext cx="2423160" cy="530352"/>
          </a:xfrm>
          <a:prstGeom prst="rect">
            <a:avLst/>
          </a:prstGeom>
          <a:solidFill>
            <a:srgbClr val="0A0F1E"/>
          </a:solidFill>
          <a:ln w="12700">
            <a:solidFill>
              <a:srgbClr val="1E3A5F"/>
            </a:solidFill>
            <a:prstDash val="solid"/>
          </a:ln>
        </p:spPr>
      </p:sp>
      <p:sp>
        <p:nvSpPr>
          <p:cNvPr id="30" name="Text 28"/>
          <p:cNvSpPr/>
          <p:nvPr/>
        </p:nvSpPr>
        <p:spPr>
          <a:xfrm>
            <a:off x="457200" y="3675888"/>
            <a:ext cx="2331720" cy="530352"/>
          </a:xfrm>
          <a:prstGeom prst="rect">
            <a:avLst/>
          </a:prstGeom>
          <a:noFill/>
          <a:ln/>
        </p:spPr>
        <p:txBody>
          <a:bodyPr wrap="square" rtlCol="0" anchor="ctr"/>
          <a:lstStyle/>
          <a:p>
            <a:pPr indent="0" marL="0">
              <a:buNone/>
            </a:pPr>
            <a:r>
              <a:rPr lang="en-US" sz="1250" b="1" dirty="0">
                <a:solidFill>
                  <a:srgbClr val="00C2CB"/>
                </a:solidFill>
                <a:latin typeface="Calibri" pitchFamily="34" charset="0"/>
                <a:ea typeface="Calibri" pitchFamily="34" charset="-122"/>
                <a:cs typeface="Calibri" pitchFamily="34" charset="-120"/>
              </a:rPr>
              <a:t>Change history</a:t>
            </a:r>
            <a:endParaRPr lang="en-US" sz="1250" dirty="0"/>
          </a:p>
        </p:txBody>
      </p:sp>
      <p:sp>
        <p:nvSpPr>
          <p:cNvPr id="31" name="Shape 29"/>
          <p:cNvSpPr/>
          <p:nvPr/>
        </p:nvSpPr>
        <p:spPr>
          <a:xfrm>
            <a:off x="2926080" y="3675888"/>
            <a:ext cx="4114800" cy="530352"/>
          </a:xfrm>
          <a:prstGeom prst="rect">
            <a:avLst/>
          </a:prstGeom>
          <a:solidFill>
            <a:srgbClr val="132F56"/>
          </a:solidFill>
          <a:ln w="12700">
            <a:solidFill>
              <a:srgbClr val="1E3A5F"/>
            </a:solidFill>
            <a:prstDash val="solid"/>
          </a:ln>
        </p:spPr>
      </p:sp>
      <p:sp>
        <p:nvSpPr>
          <p:cNvPr id="32" name="Text 30"/>
          <p:cNvSpPr/>
          <p:nvPr/>
        </p:nvSpPr>
        <p:spPr>
          <a:xfrm>
            <a:off x="3017520" y="3675888"/>
            <a:ext cx="3931920" cy="530352"/>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No built-in audit trail</a:t>
            </a:r>
            <a:endParaRPr lang="en-US" sz="1150" dirty="0"/>
          </a:p>
        </p:txBody>
      </p:sp>
      <p:sp>
        <p:nvSpPr>
          <p:cNvPr id="33" name="Shape 31"/>
          <p:cNvSpPr/>
          <p:nvPr/>
        </p:nvSpPr>
        <p:spPr>
          <a:xfrm>
            <a:off x="7315200" y="3675888"/>
            <a:ext cx="4434840" cy="530352"/>
          </a:xfrm>
          <a:prstGeom prst="rect">
            <a:avLst/>
          </a:prstGeom>
          <a:solidFill>
            <a:srgbClr val="132F56"/>
          </a:solidFill>
          <a:ln w="12700">
            <a:solidFill>
              <a:srgbClr val="1E3A5F"/>
            </a:solidFill>
            <a:prstDash val="solid"/>
          </a:ln>
        </p:spPr>
      </p:sp>
      <p:sp>
        <p:nvSpPr>
          <p:cNvPr id="34" name="Text 32"/>
          <p:cNvSpPr/>
          <p:nvPr/>
        </p:nvSpPr>
        <p:spPr>
          <a:xfrm>
            <a:off x="7406640" y="3675888"/>
            <a:ext cx="4251960" cy="530352"/>
          </a:xfrm>
          <a:prstGeom prst="rect">
            <a:avLst/>
          </a:prstGeom>
          <a:noFill/>
          <a:ln/>
        </p:spPr>
        <p:txBody>
          <a:bodyPr wrap="square" rtlCol="0" anchor="ctr"/>
          <a:lstStyle/>
          <a:p>
            <a:pPr indent="0" marL="0">
              <a:buNone/>
            </a:pPr>
            <a:r>
              <a:rPr lang="en-US" sz="1150" b="1" dirty="0">
                <a:solidFill>
                  <a:srgbClr val="52E3A3"/>
                </a:solidFill>
                <a:latin typeface="Calibri" pitchFamily="34" charset="0"/>
                <a:ea typeface="Calibri" pitchFamily="34" charset="-122"/>
                <a:cs typeface="Calibri" pitchFamily="34" charset="-120"/>
              </a:rPr>
              <a:t>Every insert, update, delete logged</a:t>
            </a:r>
            <a:endParaRPr lang="en-US" sz="1150" dirty="0"/>
          </a:p>
        </p:txBody>
      </p:sp>
      <p:sp>
        <p:nvSpPr>
          <p:cNvPr id="35" name="Shape 33"/>
          <p:cNvSpPr/>
          <p:nvPr/>
        </p:nvSpPr>
        <p:spPr>
          <a:xfrm>
            <a:off x="384048" y="4242816"/>
            <a:ext cx="2423160" cy="530352"/>
          </a:xfrm>
          <a:prstGeom prst="rect">
            <a:avLst/>
          </a:prstGeom>
          <a:solidFill>
            <a:srgbClr val="0A0F1E"/>
          </a:solidFill>
          <a:ln w="12700">
            <a:solidFill>
              <a:srgbClr val="1E3A5F"/>
            </a:solidFill>
            <a:prstDash val="solid"/>
          </a:ln>
        </p:spPr>
      </p:sp>
      <p:sp>
        <p:nvSpPr>
          <p:cNvPr id="36" name="Text 34"/>
          <p:cNvSpPr/>
          <p:nvPr/>
        </p:nvSpPr>
        <p:spPr>
          <a:xfrm>
            <a:off x="457200" y="4242816"/>
            <a:ext cx="2331720" cy="530352"/>
          </a:xfrm>
          <a:prstGeom prst="rect">
            <a:avLst/>
          </a:prstGeom>
          <a:noFill/>
          <a:ln/>
        </p:spPr>
        <p:txBody>
          <a:bodyPr wrap="square" rtlCol="0" anchor="ctr"/>
          <a:lstStyle/>
          <a:p>
            <a:pPr indent="0" marL="0">
              <a:buNone/>
            </a:pPr>
            <a:r>
              <a:rPr lang="en-US" sz="1250" b="1" dirty="0">
                <a:solidFill>
                  <a:srgbClr val="00C2CB"/>
                </a:solidFill>
                <a:latin typeface="Calibri" pitchFamily="34" charset="0"/>
                <a:ea typeface="Calibri" pitchFamily="34" charset="-122"/>
                <a:cs typeface="Calibri" pitchFamily="34" charset="-120"/>
              </a:rPr>
              <a:t>Query power</a:t>
            </a:r>
            <a:endParaRPr lang="en-US" sz="1250" dirty="0"/>
          </a:p>
        </p:txBody>
      </p:sp>
      <p:sp>
        <p:nvSpPr>
          <p:cNvPr id="37" name="Shape 35"/>
          <p:cNvSpPr/>
          <p:nvPr/>
        </p:nvSpPr>
        <p:spPr>
          <a:xfrm>
            <a:off x="2926080" y="4242816"/>
            <a:ext cx="4114800" cy="530352"/>
          </a:xfrm>
          <a:prstGeom prst="rect">
            <a:avLst/>
          </a:prstGeom>
          <a:solidFill>
            <a:srgbClr val="102A4C"/>
          </a:solidFill>
          <a:ln w="12700">
            <a:solidFill>
              <a:srgbClr val="1E3A5F"/>
            </a:solidFill>
            <a:prstDash val="solid"/>
          </a:ln>
        </p:spPr>
      </p:sp>
      <p:sp>
        <p:nvSpPr>
          <p:cNvPr id="38" name="Text 36"/>
          <p:cNvSpPr/>
          <p:nvPr/>
        </p:nvSpPr>
        <p:spPr>
          <a:xfrm>
            <a:off x="3017520" y="4242816"/>
            <a:ext cx="3931920" cy="530352"/>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VLOOKUP, XLOOKUP — slow across large data</a:t>
            </a:r>
            <a:endParaRPr lang="en-US" sz="1150" dirty="0"/>
          </a:p>
        </p:txBody>
      </p:sp>
      <p:sp>
        <p:nvSpPr>
          <p:cNvPr id="39" name="Shape 37"/>
          <p:cNvSpPr/>
          <p:nvPr/>
        </p:nvSpPr>
        <p:spPr>
          <a:xfrm>
            <a:off x="7315200" y="4242816"/>
            <a:ext cx="4434840" cy="530352"/>
          </a:xfrm>
          <a:prstGeom prst="rect">
            <a:avLst/>
          </a:prstGeom>
          <a:solidFill>
            <a:srgbClr val="102A4C"/>
          </a:solidFill>
          <a:ln w="12700">
            <a:solidFill>
              <a:srgbClr val="1E3A5F"/>
            </a:solidFill>
            <a:prstDash val="solid"/>
          </a:ln>
        </p:spPr>
      </p:sp>
      <p:sp>
        <p:nvSpPr>
          <p:cNvPr id="40" name="Text 38"/>
          <p:cNvSpPr/>
          <p:nvPr/>
        </p:nvSpPr>
        <p:spPr>
          <a:xfrm>
            <a:off x="7406640" y="4242816"/>
            <a:ext cx="4251960" cy="530352"/>
          </a:xfrm>
          <a:prstGeom prst="rect">
            <a:avLst/>
          </a:prstGeom>
          <a:noFill/>
          <a:ln/>
        </p:spPr>
        <p:txBody>
          <a:bodyPr wrap="square" rtlCol="0" anchor="ctr"/>
          <a:lstStyle/>
          <a:p>
            <a:pPr indent="0" marL="0">
              <a:buNone/>
            </a:pPr>
            <a:r>
              <a:rPr lang="en-US" sz="1150" b="1" dirty="0">
                <a:solidFill>
                  <a:srgbClr val="52E3A3"/>
                </a:solidFill>
                <a:latin typeface="Calibri" pitchFamily="34" charset="0"/>
                <a:ea typeface="Calibri" pitchFamily="34" charset="-122"/>
                <a:cs typeface="Calibri" pitchFamily="34" charset="-120"/>
              </a:rPr>
              <a:t>Joins across 10 tables in one statement</a:t>
            </a:r>
            <a:endParaRPr lang="en-US" sz="1150" dirty="0"/>
          </a:p>
        </p:txBody>
      </p:sp>
      <p:sp>
        <p:nvSpPr>
          <p:cNvPr id="41" name="Shape 39"/>
          <p:cNvSpPr/>
          <p:nvPr/>
        </p:nvSpPr>
        <p:spPr>
          <a:xfrm>
            <a:off x="384048" y="4809744"/>
            <a:ext cx="2423160" cy="530352"/>
          </a:xfrm>
          <a:prstGeom prst="rect">
            <a:avLst/>
          </a:prstGeom>
          <a:solidFill>
            <a:srgbClr val="0A0F1E"/>
          </a:solidFill>
          <a:ln w="12700">
            <a:solidFill>
              <a:srgbClr val="1E3A5F"/>
            </a:solidFill>
            <a:prstDash val="solid"/>
          </a:ln>
        </p:spPr>
      </p:sp>
      <p:sp>
        <p:nvSpPr>
          <p:cNvPr id="42" name="Text 40"/>
          <p:cNvSpPr/>
          <p:nvPr/>
        </p:nvSpPr>
        <p:spPr>
          <a:xfrm>
            <a:off x="457200" y="4809744"/>
            <a:ext cx="2331720" cy="530352"/>
          </a:xfrm>
          <a:prstGeom prst="rect">
            <a:avLst/>
          </a:prstGeom>
          <a:noFill/>
          <a:ln/>
        </p:spPr>
        <p:txBody>
          <a:bodyPr wrap="square" rtlCol="0" anchor="ctr"/>
          <a:lstStyle/>
          <a:p>
            <a:pPr indent="0" marL="0">
              <a:buNone/>
            </a:pPr>
            <a:r>
              <a:rPr lang="en-US" sz="1250" b="1" dirty="0">
                <a:solidFill>
                  <a:srgbClr val="00C2CB"/>
                </a:solidFill>
                <a:latin typeface="Calibri" pitchFamily="34" charset="0"/>
                <a:ea typeface="Calibri" pitchFamily="34" charset="-122"/>
                <a:cs typeface="Calibri" pitchFamily="34" charset="-120"/>
              </a:rPr>
              <a:t>Powering apps</a:t>
            </a:r>
            <a:endParaRPr lang="en-US" sz="1250" dirty="0"/>
          </a:p>
        </p:txBody>
      </p:sp>
      <p:sp>
        <p:nvSpPr>
          <p:cNvPr id="43" name="Shape 41"/>
          <p:cNvSpPr/>
          <p:nvPr/>
        </p:nvSpPr>
        <p:spPr>
          <a:xfrm>
            <a:off x="2926080" y="4809744"/>
            <a:ext cx="4114800" cy="530352"/>
          </a:xfrm>
          <a:prstGeom prst="rect">
            <a:avLst/>
          </a:prstGeom>
          <a:solidFill>
            <a:srgbClr val="132F56"/>
          </a:solidFill>
          <a:ln w="12700">
            <a:solidFill>
              <a:srgbClr val="1E3A5F"/>
            </a:solidFill>
            <a:prstDash val="solid"/>
          </a:ln>
        </p:spPr>
      </p:sp>
      <p:sp>
        <p:nvSpPr>
          <p:cNvPr id="44" name="Text 42"/>
          <p:cNvSpPr/>
          <p:nvPr/>
        </p:nvSpPr>
        <p:spPr>
          <a:xfrm>
            <a:off x="3017520" y="4809744"/>
            <a:ext cx="3931920" cy="530352"/>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Cannot serve a live website or mobile app</a:t>
            </a:r>
            <a:endParaRPr lang="en-US" sz="1150" dirty="0"/>
          </a:p>
        </p:txBody>
      </p:sp>
      <p:sp>
        <p:nvSpPr>
          <p:cNvPr id="45" name="Shape 43"/>
          <p:cNvSpPr/>
          <p:nvPr/>
        </p:nvSpPr>
        <p:spPr>
          <a:xfrm>
            <a:off x="7315200" y="4809744"/>
            <a:ext cx="4434840" cy="530352"/>
          </a:xfrm>
          <a:prstGeom prst="rect">
            <a:avLst/>
          </a:prstGeom>
          <a:solidFill>
            <a:srgbClr val="132F56"/>
          </a:solidFill>
          <a:ln w="12700">
            <a:solidFill>
              <a:srgbClr val="1E3A5F"/>
            </a:solidFill>
            <a:prstDash val="solid"/>
          </a:ln>
        </p:spPr>
      </p:sp>
      <p:sp>
        <p:nvSpPr>
          <p:cNvPr id="46" name="Text 44"/>
          <p:cNvSpPr/>
          <p:nvPr/>
        </p:nvSpPr>
        <p:spPr>
          <a:xfrm>
            <a:off x="7406640" y="4809744"/>
            <a:ext cx="4251960" cy="530352"/>
          </a:xfrm>
          <a:prstGeom prst="rect">
            <a:avLst/>
          </a:prstGeom>
          <a:noFill/>
          <a:ln/>
        </p:spPr>
        <p:txBody>
          <a:bodyPr wrap="square" rtlCol="0" anchor="ctr"/>
          <a:lstStyle/>
          <a:p>
            <a:pPr indent="0" marL="0">
              <a:buNone/>
            </a:pPr>
            <a:r>
              <a:rPr lang="en-US" sz="1150" b="1" dirty="0">
                <a:solidFill>
                  <a:srgbClr val="52E3A3"/>
                </a:solidFill>
                <a:latin typeface="Calibri" pitchFamily="34" charset="0"/>
                <a:ea typeface="Calibri" pitchFamily="34" charset="-122"/>
                <a:cs typeface="Calibri" pitchFamily="34" charset="-120"/>
              </a:rPr>
              <a:t>Entire products built on top of it</a:t>
            </a:r>
            <a:endParaRPr lang="en-US" sz="1150" dirty="0"/>
          </a:p>
        </p:txBody>
      </p:sp>
      <p:sp>
        <p:nvSpPr>
          <p:cNvPr id="47" name="Shape 45"/>
          <p:cNvSpPr/>
          <p:nvPr/>
        </p:nvSpPr>
        <p:spPr>
          <a:xfrm>
            <a:off x="384048" y="5376672"/>
            <a:ext cx="2423160" cy="530352"/>
          </a:xfrm>
          <a:prstGeom prst="rect">
            <a:avLst/>
          </a:prstGeom>
          <a:solidFill>
            <a:srgbClr val="0A0F1E"/>
          </a:solidFill>
          <a:ln w="12700">
            <a:solidFill>
              <a:srgbClr val="1E3A5F"/>
            </a:solidFill>
            <a:prstDash val="solid"/>
          </a:ln>
        </p:spPr>
      </p:sp>
      <p:sp>
        <p:nvSpPr>
          <p:cNvPr id="48" name="Text 46"/>
          <p:cNvSpPr/>
          <p:nvPr/>
        </p:nvSpPr>
        <p:spPr>
          <a:xfrm>
            <a:off x="457200" y="5376672"/>
            <a:ext cx="2331720" cy="530352"/>
          </a:xfrm>
          <a:prstGeom prst="rect">
            <a:avLst/>
          </a:prstGeom>
          <a:noFill/>
          <a:ln/>
        </p:spPr>
        <p:txBody>
          <a:bodyPr wrap="square" rtlCol="0" anchor="ctr"/>
          <a:lstStyle/>
          <a:p>
            <a:pPr indent="0" marL="0">
              <a:buNone/>
            </a:pPr>
            <a:r>
              <a:rPr lang="en-US" sz="1250" b="1" dirty="0">
                <a:solidFill>
                  <a:srgbClr val="00C2CB"/>
                </a:solidFill>
                <a:latin typeface="Calibri" pitchFamily="34" charset="0"/>
                <a:ea typeface="Calibri" pitchFamily="34" charset="-122"/>
                <a:cs typeface="Calibri" pitchFamily="34" charset="-120"/>
              </a:rPr>
              <a:t>Recovery</a:t>
            </a:r>
            <a:endParaRPr lang="en-US" sz="1250" dirty="0"/>
          </a:p>
        </p:txBody>
      </p:sp>
      <p:sp>
        <p:nvSpPr>
          <p:cNvPr id="49" name="Shape 47"/>
          <p:cNvSpPr/>
          <p:nvPr/>
        </p:nvSpPr>
        <p:spPr>
          <a:xfrm>
            <a:off x="2926080" y="5376672"/>
            <a:ext cx="4114800" cy="530352"/>
          </a:xfrm>
          <a:prstGeom prst="rect">
            <a:avLst/>
          </a:prstGeom>
          <a:solidFill>
            <a:srgbClr val="102A4C"/>
          </a:solidFill>
          <a:ln w="12700">
            <a:solidFill>
              <a:srgbClr val="1E3A5F"/>
            </a:solidFill>
            <a:prstDash val="solid"/>
          </a:ln>
        </p:spPr>
      </p:sp>
      <p:sp>
        <p:nvSpPr>
          <p:cNvPr id="50" name="Text 48"/>
          <p:cNvSpPr/>
          <p:nvPr/>
        </p:nvSpPr>
        <p:spPr>
          <a:xfrm>
            <a:off x="3017520" y="5376672"/>
            <a:ext cx="3931920" cy="530352"/>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File deleted = data gone</a:t>
            </a:r>
            <a:endParaRPr lang="en-US" sz="1150" dirty="0"/>
          </a:p>
        </p:txBody>
      </p:sp>
      <p:sp>
        <p:nvSpPr>
          <p:cNvPr id="51" name="Shape 49"/>
          <p:cNvSpPr/>
          <p:nvPr/>
        </p:nvSpPr>
        <p:spPr>
          <a:xfrm>
            <a:off x="7315200" y="5376672"/>
            <a:ext cx="4434840" cy="530352"/>
          </a:xfrm>
          <a:prstGeom prst="rect">
            <a:avLst/>
          </a:prstGeom>
          <a:solidFill>
            <a:srgbClr val="102A4C"/>
          </a:solidFill>
          <a:ln w="12700">
            <a:solidFill>
              <a:srgbClr val="1E3A5F"/>
            </a:solidFill>
            <a:prstDash val="solid"/>
          </a:ln>
        </p:spPr>
      </p:sp>
      <p:sp>
        <p:nvSpPr>
          <p:cNvPr id="52" name="Text 50"/>
          <p:cNvSpPr/>
          <p:nvPr/>
        </p:nvSpPr>
        <p:spPr>
          <a:xfrm>
            <a:off x="7406640" y="5376672"/>
            <a:ext cx="4251960" cy="530352"/>
          </a:xfrm>
          <a:prstGeom prst="rect">
            <a:avLst/>
          </a:prstGeom>
          <a:noFill/>
          <a:ln/>
        </p:spPr>
        <p:txBody>
          <a:bodyPr wrap="square" rtlCol="0" anchor="ctr"/>
          <a:lstStyle/>
          <a:p>
            <a:pPr indent="0" marL="0">
              <a:buNone/>
            </a:pPr>
            <a:r>
              <a:rPr lang="en-US" sz="1150" b="1" dirty="0">
                <a:solidFill>
                  <a:srgbClr val="52E3A3"/>
                </a:solidFill>
                <a:latin typeface="Calibri" pitchFamily="34" charset="0"/>
                <a:ea typeface="Calibri" pitchFamily="34" charset="-122"/>
                <a:cs typeface="Calibri" pitchFamily="34" charset="-120"/>
              </a:rPr>
              <a:t>Backups, replication, point-in-time restore</a:t>
            </a:r>
            <a:endParaRPr lang="en-US" sz="1150" dirty="0"/>
          </a:p>
        </p:txBody>
      </p:sp>
      <p:sp>
        <p:nvSpPr>
          <p:cNvPr id="53" name="Shape 51"/>
          <p:cNvSpPr/>
          <p:nvPr/>
        </p:nvSpPr>
        <p:spPr>
          <a:xfrm>
            <a:off x="384048" y="5943600"/>
            <a:ext cx="2423160" cy="530352"/>
          </a:xfrm>
          <a:prstGeom prst="rect">
            <a:avLst/>
          </a:prstGeom>
          <a:solidFill>
            <a:srgbClr val="0A0F1E"/>
          </a:solidFill>
          <a:ln w="12700">
            <a:solidFill>
              <a:srgbClr val="1E3A5F"/>
            </a:solidFill>
            <a:prstDash val="solid"/>
          </a:ln>
        </p:spPr>
      </p:sp>
      <p:sp>
        <p:nvSpPr>
          <p:cNvPr id="54" name="Text 52"/>
          <p:cNvSpPr/>
          <p:nvPr/>
        </p:nvSpPr>
        <p:spPr>
          <a:xfrm>
            <a:off x="457200" y="5943600"/>
            <a:ext cx="2331720" cy="530352"/>
          </a:xfrm>
          <a:prstGeom prst="rect">
            <a:avLst/>
          </a:prstGeom>
          <a:noFill/>
          <a:ln/>
        </p:spPr>
        <p:txBody>
          <a:bodyPr wrap="square" rtlCol="0" anchor="ctr"/>
          <a:lstStyle/>
          <a:p>
            <a:pPr indent="0" marL="0">
              <a:buNone/>
            </a:pPr>
            <a:r>
              <a:rPr lang="en-US" sz="1250" b="1" dirty="0">
                <a:solidFill>
                  <a:srgbClr val="00C2CB"/>
                </a:solidFill>
                <a:latin typeface="Calibri" pitchFamily="34" charset="0"/>
                <a:ea typeface="Calibri" pitchFamily="34" charset="-122"/>
                <a:cs typeface="Calibri" pitchFamily="34" charset="-120"/>
              </a:rPr>
              <a:t>Best for</a:t>
            </a:r>
            <a:endParaRPr lang="en-US" sz="1250" dirty="0"/>
          </a:p>
        </p:txBody>
      </p:sp>
      <p:sp>
        <p:nvSpPr>
          <p:cNvPr id="55" name="Shape 53"/>
          <p:cNvSpPr/>
          <p:nvPr/>
        </p:nvSpPr>
        <p:spPr>
          <a:xfrm>
            <a:off x="2926080" y="5943600"/>
            <a:ext cx="4114800" cy="530352"/>
          </a:xfrm>
          <a:prstGeom prst="rect">
            <a:avLst/>
          </a:prstGeom>
          <a:solidFill>
            <a:srgbClr val="132F56"/>
          </a:solidFill>
          <a:ln w="12700">
            <a:solidFill>
              <a:srgbClr val="1E3A5F"/>
            </a:solidFill>
            <a:prstDash val="solid"/>
          </a:ln>
        </p:spPr>
      </p:sp>
      <p:sp>
        <p:nvSpPr>
          <p:cNvPr id="56" name="Text 54"/>
          <p:cNvSpPr/>
          <p:nvPr/>
        </p:nvSpPr>
        <p:spPr>
          <a:xfrm>
            <a:off x="3017520" y="5943600"/>
            <a:ext cx="3931920" cy="530352"/>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Analysis, dashboards, small team reporting</a:t>
            </a:r>
            <a:endParaRPr lang="en-US" sz="1150" dirty="0"/>
          </a:p>
        </p:txBody>
      </p:sp>
      <p:sp>
        <p:nvSpPr>
          <p:cNvPr id="57" name="Shape 55"/>
          <p:cNvSpPr/>
          <p:nvPr/>
        </p:nvSpPr>
        <p:spPr>
          <a:xfrm>
            <a:off x="7315200" y="5943600"/>
            <a:ext cx="4434840" cy="530352"/>
          </a:xfrm>
          <a:prstGeom prst="rect">
            <a:avLst/>
          </a:prstGeom>
          <a:solidFill>
            <a:srgbClr val="132F56"/>
          </a:solidFill>
          <a:ln w="12700">
            <a:solidFill>
              <a:srgbClr val="1E3A5F"/>
            </a:solidFill>
            <a:prstDash val="solid"/>
          </a:ln>
        </p:spPr>
      </p:sp>
      <p:sp>
        <p:nvSpPr>
          <p:cNvPr id="58" name="Text 56"/>
          <p:cNvSpPr/>
          <p:nvPr/>
        </p:nvSpPr>
        <p:spPr>
          <a:xfrm>
            <a:off x="7406640" y="5943600"/>
            <a:ext cx="4251960" cy="530352"/>
          </a:xfrm>
          <a:prstGeom prst="rect">
            <a:avLst/>
          </a:prstGeom>
          <a:noFill/>
          <a:ln/>
        </p:spPr>
        <p:txBody>
          <a:bodyPr wrap="square" rtlCol="0" anchor="ctr"/>
          <a:lstStyle/>
          <a:p>
            <a:pPr indent="0" marL="0">
              <a:buNone/>
            </a:pPr>
            <a:r>
              <a:rPr lang="en-US" sz="1150" b="1" dirty="0">
                <a:solidFill>
                  <a:srgbClr val="52E3A3"/>
                </a:solidFill>
                <a:latin typeface="Calibri" pitchFamily="34" charset="0"/>
                <a:ea typeface="Calibri" pitchFamily="34" charset="-122"/>
                <a:cs typeface="Calibri" pitchFamily="34" charset="-120"/>
              </a:rPr>
              <a:t>Applications, scale, reliability, automation</a:t>
            </a:r>
            <a:endParaRPr lang="en-US" sz="1150" dirty="0"/>
          </a:p>
        </p:txBody>
      </p:sp>
      <p:sp>
        <p:nvSpPr>
          <p:cNvPr id="59" name="Shape 57"/>
          <p:cNvSpPr/>
          <p:nvPr/>
        </p:nvSpPr>
        <p:spPr>
          <a:xfrm>
            <a:off x="0" y="6510528"/>
            <a:ext cx="12161520" cy="347472"/>
          </a:xfrm>
          <a:prstGeom prst="rect">
            <a:avLst/>
          </a:prstGeom>
          <a:solidFill>
            <a:srgbClr val="009CA5"/>
          </a:solidFill>
          <a:ln w="12700">
            <a:solidFill>
              <a:srgbClr val="009CA5"/>
            </a:solidFill>
            <a:prstDash val="solid"/>
          </a:ln>
        </p:spPr>
      </p:sp>
      <p:sp>
        <p:nvSpPr>
          <p:cNvPr id="60" name="Text 58"/>
          <p:cNvSpPr/>
          <p:nvPr/>
        </p:nvSpPr>
        <p:spPr>
          <a:xfrm>
            <a:off x="457200" y="6510528"/>
            <a:ext cx="11247120" cy="347472"/>
          </a:xfrm>
          <a:prstGeom prst="rect">
            <a:avLst/>
          </a:prstGeom>
          <a:noFill/>
          <a:ln/>
        </p:spPr>
        <p:txBody>
          <a:bodyPr wrap="square" rtlCol="0" anchor="ctr"/>
          <a:lstStyle/>
          <a:p>
            <a:pPr algn="ctr" indent="0" marL="0">
              <a:buNone/>
            </a:pPr>
            <a:r>
              <a:rPr lang="en-US" sz="1400" b="1" i="1" dirty="0">
                <a:solidFill>
                  <a:srgbClr val="FFFFFF"/>
                </a:solidFill>
                <a:latin typeface="Calibri" pitchFamily="34" charset="0"/>
                <a:ea typeface="Calibri" pitchFamily="34" charset="-122"/>
                <a:cs typeface="Calibri" pitchFamily="34" charset="-120"/>
              </a:rPr>
              <a:t>Real rule:  Use Excel to understand your data.  Use a database to store, serve, and protect it at scale.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00C2CB"/>
          </a:solidFill>
          <a:ln w="12700">
            <a:solidFill>
              <a:srgbClr val="00C2CB"/>
            </a:solidFill>
            <a:prstDash val="solid"/>
          </a:ln>
        </p:spPr>
      </p:sp>
      <p:sp>
        <p:nvSpPr>
          <p:cNvPr id="4" name="Shape 2"/>
          <p:cNvSpPr/>
          <p:nvPr/>
        </p:nvSpPr>
        <p:spPr>
          <a:xfrm>
            <a:off x="0" y="1188720"/>
            <a:ext cx="12161520" cy="36576"/>
          </a:xfrm>
          <a:prstGeom prst="rect">
            <a:avLst/>
          </a:prstGeom>
          <a:solidFill>
            <a:srgbClr val="00C2CB"/>
          </a:solidFill>
          <a:ln w="12700">
            <a:solidFill>
              <a:srgbClr val="00C2C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Why Every Company Needs a Database</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00C2CB"/>
                </a:solidFill>
                <a:latin typeface="Calibri" pitchFamily="34" charset="0"/>
                <a:ea typeface="Calibri" pitchFamily="34" charset="-122"/>
                <a:cs typeface="Calibri" pitchFamily="34" charset="-120"/>
              </a:rPr>
              <a:t>Real numbers from apps you use every single day</a:t>
            </a:r>
            <a:endParaRPr lang="en-US" sz="1400" dirty="0"/>
          </a:p>
        </p:txBody>
      </p:sp>
      <p:sp>
        <p:nvSpPr>
          <p:cNvPr id="7" name="Shape 5"/>
          <p:cNvSpPr/>
          <p:nvPr/>
        </p:nvSpPr>
        <p:spPr>
          <a:xfrm>
            <a:off x="384048" y="1389888"/>
            <a:ext cx="3657600"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8" name="Shape 6"/>
          <p:cNvSpPr/>
          <p:nvPr/>
        </p:nvSpPr>
        <p:spPr>
          <a:xfrm>
            <a:off x="384048" y="1389888"/>
            <a:ext cx="3657600" cy="54864"/>
          </a:xfrm>
          <a:prstGeom prst="rect">
            <a:avLst/>
          </a:prstGeom>
          <a:solidFill>
            <a:srgbClr val="FFB347"/>
          </a:solidFill>
          <a:ln w="12700">
            <a:solidFill>
              <a:srgbClr val="FFB347"/>
            </a:solidFill>
            <a:prstDash val="solid"/>
          </a:ln>
        </p:spPr>
      </p:sp>
      <p:sp>
        <p:nvSpPr>
          <p:cNvPr id="9" name="Text 7"/>
          <p:cNvSpPr/>
          <p:nvPr/>
        </p:nvSpPr>
        <p:spPr>
          <a:xfrm>
            <a:off x="384048" y="1481328"/>
            <a:ext cx="1097280" cy="59436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0" name="Text 8"/>
          <p:cNvSpPr/>
          <p:nvPr/>
        </p:nvSpPr>
        <p:spPr>
          <a:xfrm>
            <a:off x="384048" y="2075688"/>
            <a:ext cx="1097280" cy="548640"/>
          </a:xfrm>
          <a:prstGeom prst="rect">
            <a:avLst/>
          </a:prstGeom>
          <a:noFill/>
          <a:ln/>
        </p:spPr>
        <p:txBody>
          <a:bodyPr wrap="square" rtlCol="0" anchor="ctr"/>
          <a:lstStyle/>
          <a:p>
            <a:pPr algn="ctr" indent="0" marL="0">
              <a:buNone/>
            </a:pPr>
            <a:r>
              <a:rPr lang="en-US" sz="2200" b="1" dirty="0">
                <a:solidFill>
                  <a:srgbClr val="FFB347"/>
                </a:solidFill>
                <a:latin typeface="Calibri" pitchFamily="34" charset="0"/>
                <a:ea typeface="Calibri" pitchFamily="34" charset="-122"/>
                <a:cs typeface="Calibri" pitchFamily="34" charset="-120"/>
              </a:rPr>
              <a:t>66,000</a:t>
            </a:r>
            <a:endParaRPr lang="en-US" sz="2200" dirty="0"/>
          </a:p>
        </p:txBody>
      </p:sp>
      <p:sp>
        <p:nvSpPr>
          <p:cNvPr id="11" name="Text 9"/>
          <p:cNvSpPr/>
          <p:nvPr/>
        </p:nvSpPr>
        <p:spPr>
          <a:xfrm>
            <a:off x="384048" y="2596896"/>
            <a:ext cx="1097280" cy="347472"/>
          </a:xfrm>
          <a:prstGeom prst="rect">
            <a:avLst/>
          </a:prstGeom>
          <a:noFill/>
          <a:ln/>
        </p:spPr>
        <p:txBody>
          <a:bodyPr wrap="square" rtlCol="0" anchor="ctr"/>
          <a:lstStyle/>
          <a:p>
            <a:pPr algn="ctr" indent="0" marL="0">
              <a:buNone/>
            </a:pPr>
            <a:r>
              <a:rPr lang="en-US" sz="1000" dirty="0">
                <a:solidFill>
                  <a:srgbClr val="7B93B3"/>
                </a:solidFill>
                <a:latin typeface="Calibri" pitchFamily="34" charset="0"/>
                <a:ea typeface="Calibri" pitchFamily="34" charset="-122"/>
                <a:cs typeface="Calibri" pitchFamily="34" charset="-120"/>
              </a:rPr>
              <a:t>orders/sec</a:t>
            </a:r>
            <a:endParaRPr lang="en-US" sz="1000" dirty="0"/>
          </a:p>
        </p:txBody>
      </p:sp>
      <p:sp>
        <p:nvSpPr>
          <p:cNvPr id="12" name="Shape 10"/>
          <p:cNvSpPr/>
          <p:nvPr/>
        </p:nvSpPr>
        <p:spPr>
          <a:xfrm>
            <a:off x="1527048" y="1554480"/>
            <a:ext cx="0" cy="2048256"/>
          </a:xfrm>
          <a:prstGeom prst="line">
            <a:avLst/>
          </a:prstGeom>
          <a:noFill/>
          <a:ln w="12700">
            <a:solidFill>
              <a:srgbClr val="D1E5F5"/>
            </a:solidFill>
            <a:prstDash val="solid"/>
          </a:ln>
        </p:spPr>
      </p:sp>
      <p:sp>
        <p:nvSpPr>
          <p:cNvPr id="13" name="Text 11"/>
          <p:cNvSpPr/>
          <p:nvPr/>
        </p:nvSpPr>
        <p:spPr>
          <a:xfrm>
            <a:off x="1664208" y="1481328"/>
            <a:ext cx="2240280" cy="347472"/>
          </a:xfrm>
          <a:prstGeom prst="rect">
            <a:avLst/>
          </a:prstGeom>
          <a:noFill/>
          <a:ln/>
        </p:spPr>
        <p:txBody>
          <a:bodyPr wrap="square" rtlCol="0" anchor="ctr"/>
          <a:lstStyle/>
          <a:p>
            <a:pPr indent="0" marL="0">
              <a:buNone/>
            </a:pPr>
            <a:r>
              <a:rPr lang="en-US" sz="1400" b="1" dirty="0">
                <a:solidFill>
                  <a:srgbClr val="0A0F1E"/>
                </a:solidFill>
                <a:latin typeface="Calibri" pitchFamily="34" charset="0"/>
                <a:ea typeface="Calibri" pitchFamily="34" charset="-122"/>
                <a:cs typeface="Calibri" pitchFamily="34" charset="-120"/>
              </a:rPr>
              <a:t>E-Commerce</a:t>
            </a:r>
            <a:endParaRPr lang="en-US" sz="1400" dirty="0"/>
          </a:p>
        </p:txBody>
      </p:sp>
      <p:sp>
        <p:nvSpPr>
          <p:cNvPr id="14" name="Text 12"/>
          <p:cNvSpPr/>
          <p:nvPr/>
        </p:nvSpPr>
        <p:spPr>
          <a:xfrm>
            <a:off x="1664208" y="1828800"/>
            <a:ext cx="2240280" cy="256032"/>
          </a:xfrm>
          <a:prstGeom prst="rect">
            <a:avLst/>
          </a:prstGeom>
          <a:noFill/>
          <a:ln/>
        </p:spPr>
        <p:txBody>
          <a:bodyPr wrap="square" rtlCol="0" anchor="ctr"/>
          <a:lstStyle/>
          <a:p>
            <a:pPr indent="0" marL="0">
              <a:buNone/>
            </a:pPr>
            <a:r>
              <a:rPr lang="en-US" sz="1100" i="1" dirty="0">
                <a:solidFill>
                  <a:srgbClr val="FFB347"/>
                </a:solidFill>
                <a:latin typeface="Calibri" pitchFamily="34" charset="0"/>
                <a:ea typeface="Calibri" pitchFamily="34" charset="-122"/>
                <a:cs typeface="Calibri" pitchFamily="34" charset="-120"/>
              </a:rPr>
              <a:t>Flipkart / Amazon</a:t>
            </a:r>
            <a:endParaRPr lang="en-US" sz="1100" dirty="0"/>
          </a:p>
        </p:txBody>
      </p:sp>
      <p:sp>
        <p:nvSpPr>
          <p:cNvPr id="15" name="Text 13"/>
          <p:cNvSpPr/>
          <p:nvPr/>
        </p:nvSpPr>
        <p:spPr>
          <a:xfrm>
            <a:off x="1664208" y="2139696"/>
            <a:ext cx="2240280" cy="137160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Every product listing, every cart add, every payment — each is a SELECT or INSERT. Running on Excel would crash in seconds.</a:t>
            </a:r>
            <a:endParaRPr lang="en-US" sz="1150" dirty="0"/>
          </a:p>
        </p:txBody>
      </p:sp>
      <p:sp>
        <p:nvSpPr>
          <p:cNvPr id="16" name="Shape 14"/>
          <p:cNvSpPr/>
          <p:nvPr/>
        </p:nvSpPr>
        <p:spPr>
          <a:xfrm>
            <a:off x="4315968" y="1389888"/>
            <a:ext cx="3657600"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17" name="Shape 15"/>
          <p:cNvSpPr/>
          <p:nvPr/>
        </p:nvSpPr>
        <p:spPr>
          <a:xfrm>
            <a:off x="4315968" y="1389888"/>
            <a:ext cx="3657600" cy="54864"/>
          </a:xfrm>
          <a:prstGeom prst="rect">
            <a:avLst/>
          </a:prstGeom>
          <a:solidFill>
            <a:srgbClr val="00C2CB"/>
          </a:solidFill>
          <a:ln w="12700">
            <a:solidFill>
              <a:srgbClr val="00C2CB"/>
            </a:solidFill>
            <a:prstDash val="solid"/>
          </a:ln>
        </p:spPr>
      </p:sp>
      <p:sp>
        <p:nvSpPr>
          <p:cNvPr id="18" name="Text 16"/>
          <p:cNvSpPr/>
          <p:nvPr/>
        </p:nvSpPr>
        <p:spPr>
          <a:xfrm>
            <a:off x="4315968" y="1481328"/>
            <a:ext cx="1097280" cy="59436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9" name="Text 17"/>
          <p:cNvSpPr/>
          <p:nvPr/>
        </p:nvSpPr>
        <p:spPr>
          <a:xfrm>
            <a:off x="4315968" y="2075688"/>
            <a:ext cx="1097280" cy="548640"/>
          </a:xfrm>
          <a:prstGeom prst="rect">
            <a:avLst/>
          </a:prstGeom>
          <a:noFill/>
          <a:ln/>
        </p:spPr>
        <p:txBody>
          <a:bodyPr wrap="square" rtlCol="0" anchor="ctr"/>
          <a:lstStyle/>
          <a:p>
            <a:pPr algn="ctr" indent="0" marL="0">
              <a:buNone/>
            </a:pPr>
            <a:r>
              <a:rPr lang="en-US" sz="2200" b="1" dirty="0">
                <a:solidFill>
                  <a:srgbClr val="00C2CB"/>
                </a:solidFill>
                <a:latin typeface="Calibri" pitchFamily="34" charset="0"/>
                <a:ea typeface="Calibri" pitchFamily="34" charset="-122"/>
                <a:cs typeface="Calibri" pitchFamily="34" charset="-120"/>
              </a:rPr>
              <a:t>200ms</a:t>
            </a:r>
            <a:endParaRPr lang="en-US" sz="2200" dirty="0"/>
          </a:p>
        </p:txBody>
      </p:sp>
      <p:sp>
        <p:nvSpPr>
          <p:cNvPr id="20" name="Text 18"/>
          <p:cNvSpPr/>
          <p:nvPr/>
        </p:nvSpPr>
        <p:spPr>
          <a:xfrm>
            <a:off x="4315968" y="2596896"/>
            <a:ext cx="1097280" cy="347472"/>
          </a:xfrm>
          <a:prstGeom prst="rect">
            <a:avLst/>
          </a:prstGeom>
          <a:noFill/>
          <a:ln/>
        </p:spPr>
        <p:txBody>
          <a:bodyPr wrap="square" rtlCol="0" anchor="ctr"/>
          <a:lstStyle/>
          <a:p>
            <a:pPr algn="ctr" indent="0" marL="0">
              <a:buNone/>
            </a:pPr>
            <a:r>
              <a:rPr lang="en-US" sz="1000" dirty="0">
                <a:solidFill>
                  <a:srgbClr val="7B93B3"/>
                </a:solidFill>
                <a:latin typeface="Calibri" pitchFamily="34" charset="0"/>
                <a:ea typeface="Calibri" pitchFamily="34" charset="-122"/>
                <a:cs typeface="Calibri" pitchFamily="34" charset="-120"/>
              </a:rPr>
              <a:t>per transaction</a:t>
            </a:r>
            <a:endParaRPr lang="en-US" sz="1000" dirty="0"/>
          </a:p>
        </p:txBody>
      </p:sp>
      <p:sp>
        <p:nvSpPr>
          <p:cNvPr id="21" name="Shape 19"/>
          <p:cNvSpPr/>
          <p:nvPr/>
        </p:nvSpPr>
        <p:spPr>
          <a:xfrm>
            <a:off x="5458968" y="1554480"/>
            <a:ext cx="0" cy="2048256"/>
          </a:xfrm>
          <a:prstGeom prst="line">
            <a:avLst/>
          </a:prstGeom>
          <a:noFill/>
          <a:ln w="12700">
            <a:solidFill>
              <a:srgbClr val="D1E5F5"/>
            </a:solidFill>
            <a:prstDash val="solid"/>
          </a:ln>
        </p:spPr>
      </p:sp>
      <p:sp>
        <p:nvSpPr>
          <p:cNvPr id="22" name="Text 20"/>
          <p:cNvSpPr/>
          <p:nvPr/>
        </p:nvSpPr>
        <p:spPr>
          <a:xfrm>
            <a:off x="5596128" y="1481328"/>
            <a:ext cx="2240280" cy="347472"/>
          </a:xfrm>
          <a:prstGeom prst="rect">
            <a:avLst/>
          </a:prstGeom>
          <a:noFill/>
          <a:ln/>
        </p:spPr>
        <p:txBody>
          <a:bodyPr wrap="square" rtlCol="0" anchor="ctr"/>
          <a:lstStyle/>
          <a:p>
            <a:pPr indent="0" marL="0">
              <a:buNone/>
            </a:pPr>
            <a:r>
              <a:rPr lang="en-US" sz="1400" b="1" dirty="0">
                <a:solidFill>
                  <a:srgbClr val="0A0F1E"/>
                </a:solidFill>
                <a:latin typeface="Calibri" pitchFamily="34" charset="0"/>
                <a:ea typeface="Calibri" pitchFamily="34" charset="-122"/>
                <a:cs typeface="Calibri" pitchFamily="34" charset="-120"/>
              </a:rPr>
              <a:t>Payments</a:t>
            </a:r>
            <a:endParaRPr lang="en-US" sz="1400" dirty="0"/>
          </a:p>
        </p:txBody>
      </p:sp>
      <p:sp>
        <p:nvSpPr>
          <p:cNvPr id="23" name="Text 21"/>
          <p:cNvSpPr/>
          <p:nvPr/>
        </p:nvSpPr>
        <p:spPr>
          <a:xfrm>
            <a:off x="5596128" y="1828800"/>
            <a:ext cx="2240280" cy="256032"/>
          </a:xfrm>
          <a:prstGeom prst="rect">
            <a:avLst/>
          </a:prstGeom>
          <a:noFill/>
          <a:ln/>
        </p:spPr>
        <p:txBody>
          <a:bodyPr wrap="square" rtlCol="0" anchor="ctr"/>
          <a:lstStyle/>
          <a:p>
            <a:pPr indent="0" marL="0">
              <a:buNone/>
            </a:pPr>
            <a:r>
              <a:rPr lang="en-US" sz="1100" i="1" dirty="0">
                <a:solidFill>
                  <a:srgbClr val="00C2CB"/>
                </a:solidFill>
                <a:latin typeface="Calibri" pitchFamily="34" charset="0"/>
                <a:ea typeface="Calibri" pitchFamily="34" charset="-122"/>
                <a:cs typeface="Calibri" pitchFamily="34" charset="-120"/>
              </a:rPr>
              <a:t>PhonePe / UPI</a:t>
            </a:r>
            <a:endParaRPr lang="en-US" sz="1100" dirty="0"/>
          </a:p>
        </p:txBody>
      </p:sp>
      <p:sp>
        <p:nvSpPr>
          <p:cNvPr id="24" name="Text 22"/>
          <p:cNvSpPr/>
          <p:nvPr/>
        </p:nvSpPr>
        <p:spPr>
          <a:xfrm>
            <a:off x="5596128" y="2139696"/>
            <a:ext cx="2240280" cy="137160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When you tap Pay, 5+ queries run: balance check → fraud scan → debit → credit → log. All inside a single transaction.</a:t>
            </a:r>
            <a:endParaRPr lang="en-US" sz="1150" dirty="0"/>
          </a:p>
        </p:txBody>
      </p:sp>
      <p:sp>
        <p:nvSpPr>
          <p:cNvPr id="25" name="Shape 23"/>
          <p:cNvSpPr/>
          <p:nvPr/>
        </p:nvSpPr>
        <p:spPr>
          <a:xfrm>
            <a:off x="8247888" y="1389888"/>
            <a:ext cx="3657600"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26" name="Shape 24"/>
          <p:cNvSpPr/>
          <p:nvPr/>
        </p:nvSpPr>
        <p:spPr>
          <a:xfrm>
            <a:off x="8247888" y="1389888"/>
            <a:ext cx="3657600" cy="54864"/>
          </a:xfrm>
          <a:prstGeom prst="rect">
            <a:avLst/>
          </a:prstGeom>
          <a:solidFill>
            <a:srgbClr val="FF6B6B"/>
          </a:solidFill>
          <a:ln w="12700">
            <a:solidFill>
              <a:srgbClr val="FF6B6B"/>
            </a:solidFill>
            <a:prstDash val="solid"/>
          </a:ln>
        </p:spPr>
      </p:sp>
      <p:sp>
        <p:nvSpPr>
          <p:cNvPr id="27" name="Text 25"/>
          <p:cNvSpPr/>
          <p:nvPr/>
        </p:nvSpPr>
        <p:spPr>
          <a:xfrm>
            <a:off x="8247888" y="1481328"/>
            <a:ext cx="1097280" cy="59436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28" name="Text 26"/>
          <p:cNvSpPr/>
          <p:nvPr/>
        </p:nvSpPr>
        <p:spPr>
          <a:xfrm>
            <a:off x="8247888" y="2075688"/>
            <a:ext cx="1097280" cy="548640"/>
          </a:xfrm>
          <a:prstGeom prst="rect">
            <a:avLst/>
          </a:prstGeom>
          <a:noFill/>
          <a:ln/>
        </p:spPr>
        <p:txBody>
          <a:bodyPr wrap="square" rtlCol="0" anchor="ctr"/>
          <a:lstStyle/>
          <a:p>
            <a:pPr algn="ctr" indent="0" marL="0">
              <a:buNone/>
            </a:pPr>
            <a:r>
              <a:rPr lang="en-US" sz="2200" b="1" dirty="0">
                <a:solidFill>
                  <a:srgbClr val="FF6B6B"/>
                </a:solidFill>
                <a:latin typeface="Calibri" pitchFamily="34" charset="0"/>
                <a:ea typeface="Calibri" pitchFamily="34" charset="-122"/>
                <a:cs typeface="Calibri" pitchFamily="34" charset="-120"/>
              </a:rPr>
              <a:t>80 TB</a:t>
            </a:r>
            <a:endParaRPr lang="en-US" sz="2200" dirty="0"/>
          </a:p>
        </p:txBody>
      </p:sp>
      <p:sp>
        <p:nvSpPr>
          <p:cNvPr id="29" name="Text 27"/>
          <p:cNvSpPr/>
          <p:nvPr/>
        </p:nvSpPr>
        <p:spPr>
          <a:xfrm>
            <a:off x="8247888" y="2596896"/>
            <a:ext cx="1097280" cy="347472"/>
          </a:xfrm>
          <a:prstGeom prst="rect">
            <a:avLst/>
          </a:prstGeom>
          <a:noFill/>
          <a:ln/>
        </p:spPr>
        <p:txBody>
          <a:bodyPr wrap="square" rtlCol="0" anchor="ctr"/>
          <a:lstStyle/>
          <a:p>
            <a:pPr algn="ctr" indent="0" marL="0">
              <a:buNone/>
            </a:pPr>
            <a:r>
              <a:rPr lang="en-US" sz="1000" dirty="0">
                <a:solidFill>
                  <a:srgbClr val="7B93B3"/>
                </a:solidFill>
                <a:latin typeface="Calibri" pitchFamily="34" charset="0"/>
                <a:ea typeface="Calibri" pitchFamily="34" charset="-122"/>
                <a:cs typeface="Calibri" pitchFamily="34" charset="-120"/>
              </a:rPr>
              <a:t>patient data/year</a:t>
            </a:r>
            <a:endParaRPr lang="en-US" sz="1000" dirty="0"/>
          </a:p>
        </p:txBody>
      </p:sp>
      <p:sp>
        <p:nvSpPr>
          <p:cNvPr id="30" name="Shape 28"/>
          <p:cNvSpPr/>
          <p:nvPr/>
        </p:nvSpPr>
        <p:spPr>
          <a:xfrm>
            <a:off x="9390888" y="1554480"/>
            <a:ext cx="0" cy="2048256"/>
          </a:xfrm>
          <a:prstGeom prst="line">
            <a:avLst/>
          </a:prstGeom>
          <a:noFill/>
          <a:ln w="12700">
            <a:solidFill>
              <a:srgbClr val="D1E5F5"/>
            </a:solidFill>
            <a:prstDash val="solid"/>
          </a:ln>
        </p:spPr>
      </p:sp>
      <p:sp>
        <p:nvSpPr>
          <p:cNvPr id="31" name="Text 29"/>
          <p:cNvSpPr/>
          <p:nvPr/>
        </p:nvSpPr>
        <p:spPr>
          <a:xfrm>
            <a:off x="9528048" y="1481328"/>
            <a:ext cx="2240280" cy="347472"/>
          </a:xfrm>
          <a:prstGeom prst="rect">
            <a:avLst/>
          </a:prstGeom>
          <a:noFill/>
          <a:ln/>
        </p:spPr>
        <p:txBody>
          <a:bodyPr wrap="square" rtlCol="0" anchor="ctr"/>
          <a:lstStyle/>
          <a:p>
            <a:pPr indent="0" marL="0">
              <a:buNone/>
            </a:pPr>
            <a:r>
              <a:rPr lang="en-US" sz="1400" b="1" dirty="0">
                <a:solidFill>
                  <a:srgbClr val="0A0F1E"/>
                </a:solidFill>
                <a:latin typeface="Calibri" pitchFamily="34" charset="0"/>
                <a:ea typeface="Calibri" pitchFamily="34" charset="-122"/>
                <a:cs typeface="Calibri" pitchFamily="34" charset="-120"/>
              </a:rPr>
              <a:t>Healthcare</a:t>
            </a:r>
            <a:endParaRPr lang="en-US" sz="1400" dirty="0"/>
          </a:p>
        </p:txBody>
      </p:sp>
      <p:sp>
        <p:nvSpPr>
          <p:cNvPr id="32" name="Text 30"/>
          <p:cNvSpPr/>
          <p:nvPr/>
        </p:nvSpPr>
        <p:spPr>
          <a:xfrm>
            <a:off x="9528048" y="1828800"/>
            <a:ext cx="2240280" cy="256032"/>
          </a:xfrm>
          <a:prstGeom prst="rect">
            <a:avLst/>
          </a:prstGeom>
          <a:noFill/>
          <a:ln/>
        </p:spPr>
        <p:txBody>
          <a:bodyPr wrap="square" rtlCol="0" anchor="ctr"/>
          <a:lstStyle/>
          <a:p>
            <a:pPr indent="0" marL="0">
              <a:buNone/>
            </a:pPr>
            <a:r>
              <a:rPr lang="en-US" sz="1100" i="1" dirty="0">
                <a:solidFill>
                  <a:srgbClr val="FF6B6B"/>
                </a:solidFill>
                <a:latin typeface="Calibri" pitchFamily="34" charset="0"/>
                <a:ea typeface="Calibri" pitchFamily="34" charset="-122"/>
                <a:cs typeface="Calibri" pitchFamily="34" charset="-120"/>
              </a:rPr>
              <a:t>AIIMS / Hospitals</a:t>
            </a:r>
            <a:endParaRPr lang="en-US" sz="1100" dirty="0"/>
          </a:p>
        </p:txBody>
      </p:sp>
      <p:sp>
        <p:nvSpPr>
          <p:cNvPr id="33" name="Text 31"/>
          <p:cNvSpPr/>
          <p:nvPr/>
        </p:nvSpPr>
        <p:spPr>
          <a:xfrm>
            <a:off x="9528048" y="2139696"/>
            <a:ext cx="2240280" cy="137160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A doctor needs your allergy history before prescribing. A paper system can't cross-reference 10 years of records instantly.</a:t>
            </a:r>
            <a:endParaRPr lang="en-US" sz="1150" dirty="0"/>
          </a:p>
        </p:txBody>
      </p:sp>
      <p:sp>
        <p:nvSpPr>
          <p:cNvPr id="34" name="Shape 32"/>
          <p:cNvSpPr/>
          <p:nvPr/>
        </p:nvSpPr>
        <p:spPr>
          <a:xfrm>
            <a:off x="384048" y="3968496"/>
            <a:ext cx="3657600"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35" name="Shape 33"/>
          <p:cNvSpPr/>
          <p:nvPr/>
        </p:nvSpPr>
        <p:spPr>
          <a:xfrm>
            <a:off x="384048" y="3968496"/>
            <a:ext cx="3657600" cy="54864"/>
          </a:xfrm>
          <a:prstGeom prst="rect">
            <a:avLst/>
          </a:prstGeom>
          <a:solidFill>
            <a:srgbClr val="38B2F0"/>
          </a:solidFill>
          <a:ln w="12700">
            <a:solidFill>
              <a:srgbClr val="38B2F0"/>
            </a:solidFill>
            <a:prstDash val="solid"/>
          </a:ln>
        </p:spPr>
      </p:sp>
      <p:sp>
        <p:nvSpPr>
          <p:cNvPr id="36" name="Text 34"/>
          <p:cNvSpPr/>
          <p:nvPr/>
        </p:nvSpPr>
        <p:spPr>
          <a:xfrm>
            <a:off x="384048" y="4059936"/>
            <a:ext cx="1097280" cy="59436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37" name="Text 35"/>
          <p:cNvSpPr/>
          <p:nvPr/>
        </p:nvSpPr>
        <p:spPr>
          <a:xfrm>
            <a:off x="384048" y="4654296"/>
            <a:ext cx="1097280" cy="548640"/>
          </a:xfrm>
          <a:prstGeom prst="rect">
            <a:avLst/>
          </a:prstGeom>
          <a:noFill/>
          <a:ln/>
        </p:spPr>
        <p:txBody>
          <a:bodyPr wrap="square" rtlCol="0" anchor="ctr"/>
          <a:lstStyle/>
          <a:p>
            <a:pPr algn="ctr" indent="0" marL="0">
              <a:buNone/>
            </a:pPr>
            <a:r>
              <a:rPr lang="en-US" sz="2200" b="1" dirty="0">
                <a:solidFill>
                  <a:srgbClr val="38B2F0"/>
                </a:solidFill>
                <a:latin typeface="Calibri" pitchFamily="34" charset="0"/>
                <a:ea typeface="Calibri" pitchFamily="34" charset="-122"/>
                <a:cs typeface="Calibri" pitchFamily="34" charset="-120"/>
              </a:rPr>
              <a:t>1 B+</a:t>
            </a:r>
            <a:endParaRPr lang="en-US" sz="2200" dirty="0"/>
          </a:p>
        </p:txBody>
      </p:sp>
      <p:sp>
        <p:nvSpPr>
          <p:cNvPr id="38" name="Text 36"/>
          <p:cNvSpPr/>
          <p:nvPr/>
        </p:nvSpPr>
        <p:spPr>
          <a:xfrm>
            <a:off x="384048" y="5175504"/>
            <a:ext cx="1097280" cy="347472"/>
          </a:xfrm>
          <a:prstGeom prst="rect">
            <a:avLst/>
          </a:prstGeom>
          <a:noFill/>
          <a:ln/>
        </p:spPr>
        <p:txBody>
          <a:bodyPr wrap="square" rtlCol="0" anchor="ctr"/>
          <a:lstStyle/>
          <a:p>
            <a:pPr algn="ctr" indent="0" marL="0">
              <a:buNone/>
            </a:pPr>
            <a:r>
              <a:rPr lang="en-US" sz="1000" dirty="0">
                <a:solidFill>
                  <a:srgbClr val="7B93B3"/>
                </a:solidFill>
                <a:latin typeface="Calibri" pitchFamily="34" charset="0"/>
                <a:ea typeface="Calibri" pitchFamily="34" charset="-122"/>
                <a:cs typeface="Calibri" pitchFamily="34" charset="-120"/>
              </a:rPr>
              <a:t>daily active users</a:t>
            </a:r>
            <a:endParaRPr lang="en-US" sz="1000" dirty="0"/>
          </a:p>
        </p:txBody>
      </p:sp>
      <p:sp>
        <p:nvSpPr>
          <p:cNvPr id="39" name="Shape 37"/>
          <p:cNvSpPr/>
          <p:nvPr/>
        </p:nvSpPr>
        <p:spPr>
          <a:xfrm>
            <a:off x="1527048" y="4133088"/>
            <a:ext cx="0" cy="2048256"/>
          </a:xfrm>
          <a:prstGeom prst="line">
            <a:avLst/>
          </a:prstGeom>
          <a:noFill/>
          <a:ln w="12700">
            <a:solidFill>
              <a:srgbClr val="D1E5F5"/>
            </a:solidFill>
            <a:prstDash val="solid"/>
          </a:ln>
        </p:spPr>
      </p:sp>
      <p:sp>
        <p:nvSpPr>
          <p:cNvPr id="40" name="Text 38"/>
          <p:cNvSpPr/>
          <p:nvPr/>
        </p:nvSpPr>
        <p:spPr>
          <a:xfrm>
            <a:off x="1664208" y="4059936"/>
            <a:ext cx="2240280" cy="347472"/>
          </a:xfrm>
          <a:prstGeom prst="rect">
            <a:avLst/>
          </a:prstGeom>
          <a:noFill/>
          <a:ln/>
        </p:spPr>
        <p:txBody>
          <a:bodyPr wrap="square" rtlCol="0" anchor="ctr"/>
          <a:lstStyle/>
          <a:p>
            <a:pPr indent="0" marL="0">
              <a:buNone/>
            </a:pPr>
            <a:r>
              <a:rPr lang="en-US" sz="1400" b="1" dirty="0">
                <a:solidFill>
                  <a:srgbClr val="0A0F1E"/>
                </a:solidFill>
                <a:latin typeface="Calibri" pitchFamily="34" charset="0"/>
                <a:ea typeface="Calibri" pitchFamily="34" charset="-122"/>
                <a:cs typeface="Calibri" pitchFamily="34" charset="-120"/>
              </a:rPr>
              <a:t>Social Media</a:t>
            </a:r>
            <a:endParaRPr lang="en-US" sz="1400" dirty="0"/>
          </a:p>
        </p:txBody>
      </p:sp>
      <p:sp>
        <p:nvSpPr>
          <p:cNvPr id="41" name="Text 39"/>
          <p:cNvSpPr/>
          <p:nvPr/>
        </p:nvSpPr>
        <p:spPr>
          <a:xfrm>
            <a:off x="1664208" y="4407408"/>
            <a:ext cx="2240280" cy="256032"/>
          </a:xfrm>
          <a:prstGeom prst="rect">
            <a:avLst/>
          </a:prstGeom>
          <a:noFill/>
          <a:ln/>
        </p:spPr>
        <p:txBody>
          <a:bodyPr wrap="square" rtlCol="0" anchor="ctr"/>
          <a:lstStyle/>
          <a:p>
            <a:pPr indent="0" marL="0">
              <a:buNone/>
            </a:pPr>
            <a:r>
              <a:rPr lang="en-US" sz="1100" i="1" dirty="0">
                <a:solidFill>
                  <a:srgbClr val="38B2F0"/>
                </a:solidFill>
                <a:latin typeface="Calibri" pitchFamily="34" charset="0"/>
                <a:ea typeface="Calibri" pitchFamily="34" charset="-122"/>
                <a:cs typeface="Calibri" pitchFamily="34" charset="-120"/>
              </a:rPr>
              <a:t>Instagram / YouTube</a:t>
            </a:r>
            <a:endParaRPr lang="en-US" sz="1100" dirty="0"/>
          </a:p>
        </p:txBody>
      </p:sp>
      <p:sp>
        <p:nvSpPr>
          <p:cNvPr id="42" name="Text 40"/>
          <p:cNvSpPr/>
          <p:nvPr/>
        </p:nvSpPr>
        <p:spPr>
          <a:xfrm>
            <a:off x="1664208" y="4718304"/>
            <a:ext cx="2240280" cy="137160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Every like is an INSERT. Every feed refresh is a SELECT. Every follow is an UPDATE. Billions of queries every minute.</a:t>
            </a:r>
            <a:endParaRPr lang="en-US" sz="1150" dirty="0"/>
          </a:p>
        </p:txBody>
      </p:sp>
      <p:sp>
        <p:nvSpPr>
          <p:cNvPr id="43" name="Shape 41"/>
          <p:cNvSpPr/>
          <p:nvPr/>
        </p:nvSpPr>
        <p:spPr>
          <a:xfrm>
            <a:off x="4315968" y="3968496"/>
            <a:ext cx="3657600"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44" name="Shape 42"/>
          <p:cNvSpPr/>
          <p:nvPr/>
        </p:nvSpPr>
        <p:spPr>
          <a:xfrm>
            <a:off x="4315968" y="3968496"/>
            <a:ext cx="3657600" cy="54864"/>
          </a:xfrm>
          <a:prstGeom prst="rect">
            <a:avLst/>
          </a:prstGeom>
          <a:solidFill>
            <a:srgbClr val="52E3A3"/>
          </a:solidFill>
          <a:ln w="12700">
            <a:solidFill>
              <a:srgbClr val="52E3A3"/>
            </a:solidFill>
            <a:prstDash val="solid"/>
          </a:ln>
        </p:spPr>
      </p:sp>
      <p:sp>
        <p:nvSpPr>
          <p:cNvPr id="45" name="Text 43"/>
          <p:cNvSpPr/>
          <p:nvPr/>
        </p:nvSpPr>
        <p:spPr>
          <a:xfrm>
            <a:off x="4315968" y="4059936"/>
            <a:ext cx="1097280" cy="59436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46" name="Text 44"/>
          <p:cNvSpPr/>
          <p:nvPr/>
        </p:nvSpPr>
        <p:spPr>
          <a:xfrm>
            <a:off x="4315968" y="4654296"/>
            <a:ext cx="1097280" cy="548640"/>
          </a:xfrm>
          <a:prstGeom prst="rect">
            <a:avLst/>
          </a:prstGeom>
          <a:noFill/>
          <a:ln/>
        </p:spPr>
        <p:txBody>
          <a:bodyPr wrap="square" rtlCol="0" anchor="ctr"/>
          <a:lstStyle/>
          <a:p>
            <a:pPr algn="ctr" indent="0" marL="0">
              <a:buNone/>
            </a:pPr>
            <a:r>
              <a:rPr lang="en-US" sz="2200" b="1" dirty="0">
                <a:solidFill>
                  <a:srgbClr val="52E3A3"/>
                </a:solidFill>
                <a:latin typeface="Calibri" pitchFamily="34" charset="0"/>
                <a:ea typeface="Calibri" pitchFamily="34" charset="-122"/>
                <a:cs typeface="Calibri" pitchFamily="34" charset="-120"/>
              </a:rPr>
              <a:t>500k</a:t>
            </a:r>
            <a:endParaRPr lang="en-US" sz="2200" dirty="0"/>
          </a:p>
        </p:txBody>
      </p:sp>
      <p:sp>
        <p:nvSpPr>
          <p:cNvPr id="47" name="Text 45"/>
          <p:cNvSpPr/>
          <p:nvPr/>
        </p:nvSpPr>
        <p:spPr>
          <a:xfrm>
            <a:off x="4315968" y="5175504"/>
            <a:ext cx="1097280" cy="347472"/>
          </a:xfrm>
          <a:prstGeom prst="rect">
            <a:avLst/>
          </a:prstGeom>
          <a:noFill/>
          <a:ln/>
        </p:spPr>
        <p:txBody>
          <a:bodyPr wrap="square" rtlCol="0" anchor="ctr"/>
          <a:lstStyle/>
          <a:p>
            <a:pPr algn="ctr" indent="0" marL="0">
              <a:buNone/>
            </a:pPr>
            <a:r>
              <a:rPr lang="en-US" sz="1000" dirty="0">
                <a:solidFill>
                  <a:srgbClr val="7B93B3"/>
                </a:solidFill>
                <a:latin typeface="Calibri" pitchFamily="34" charset="0"/>
                <a:ea typeface="Calibri" pitchFamily="34" charset="-122"/>
                <a:cs typeface="Calibri" pitchFamily="34" charset="-120"/>
              </a:rPr>
              <a:t>booking attempts/min</a:t>
            </a:r>
            <a:endParaRPr lang="en-US" sz="1000" dirty="0"/>
          </a:p>
        </p:txBody>
      </p:sp>
      <p:sp>
        <p:nvSpPr>
          <p:cNvPr id="48" name="Shape 46"/>
          <p:cNvSpPr/>
          <p:nvPr/>
        </p:nvSpPr>
        <p:spPr>
          <a:xfrm>
            <a:off x="5458968" y="4133088"/>
            <a:ext cx="0" cy="2048256"/>
          </a:xfrm>
          <a:prstGeom prst="line">
            <a:avLst/>
          </a:prstGeom>
          <a:noFill/>
          <a:ln w="12700">
            <a:solidFill>
              <a:srgbClr val="D1E5F5"/>
            </a:solidFill>
            <a:prstDash val="solid"/>
          </a:ln>
        </p:spPr>
      </p:sp>
      <p:sp>
        <p:nvSpPr>
          <p:cNvPr id="49" name="Text 47"/>
          <p:cNvSpPr/>
          <p:nvPr/>
        </p:nvSpPr>
        <p:spPr>
          <a:xfrm>
            <a:off x="5596128" y="4059936"/>
            <a:ext cx="2240280" cy="347472"/>
          </a:xfrm>
          <a:prstGeom prst="rect">
            <a:avLst/>
          </a:prstGeom>
          <a:noFill/>
          <a:ln/>
        </p:spPr>
        <p:txBody>
          <a:bodyPr wrap="square" rtlCol="0" anchor="ctr"/>
          <a:lstStyle/>
          <a:p>
            <a:pPr indent="0" marL="0">
              <a:buNone/>
            </a:pPr>
            <a:r>
              <a:rPr lang="en-US" sz="1400" b="1" dirty="0">
                <a:solidFill>
                  <a:srgbClr val="0A0F1E"/>
                </a:solidFill>
                <a:latin typeface="Calibri" pitchFamily="34" charset="0"/>
                <a:ea typeface="Calibri" pitchFamily="34" charset="-122"/>
                <a:cs typeface="Calibri" pitchFamily="34" charset="-120"/>
              </a:rPr>
              <a:t>Travel</a:t>
            </a:r>
            <a:endParaRPr lang="en-US" sz="1400" dirty="0"/>
          </a:p>
        </p:txBody>
      </p:sp>
      <p:sp>
        <p:nvSpPr>
          <p:cNvPr id="50" name="Text 48"/>
          <p:cNvSpPr/>
          <p:nvPr/>
        </p:nvSpPr>
        <p:spPr>
          <a:xfrm>
            <a:off x="5596128" y="4407408"/>
            <a:ext cx="2240280" cy="256032"/>
          </a:xfrm>
          <a:prstGeom prst="rect">
            <a:avLst/>
          </a:prstGeom>
          <a:noFill/>
          <a:ln/>
        </p:spPr>
        <p:txBody>
          <a:bodyPr wrap="square" rtlCol="0" anchor="ctr"/>
          <a:lstStyle/>
          <a:p>
            <a:pPr indent="0" marL="0">
              <a:buNone/>
            </a:pPr>
            <a:r>
              <a:rPr lang="en-US" sz="1100" i="1" dirty="0">
                <a:solidFill>
                  <a:srgbClr val="52E3A3"/>
                </a:solidFill>
                <a:latin typeface="Calibri" pitchFamily="34" charset="0"/>
                <a:ea typeface="Calibri" pitchFamily="34" charset="-122"/>
                <a:cs typeface="Calibri" pitchFamily="34" charset="-120"/>
              </a:rPr>
              <a:t>IRCTC / Airlines</a:t>
            </a:r>
            <a:endParaRPr lang="en-US" sz="1100" dirty="0"/>
          </a:p>
        </p:txBody>
      </p:sp>
      <p:sp>
        <p:nvSpPr>
          <p:cNvPr id="51" name="Text 49"/>
          <p:cNvSpPr/>
          <p:nvPr/>
        </p:nvSpPr>
        <p:spPr>
          <a:xfrm>
            <a:off x="5596128" y="4718304"/>
            <a:ext cx="2240280" cy="137160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Tatkal rush: half a million people trying to book simultaneously. Databases prevent double-booking with row-level locks.</a:t>
            </a:r>
            <a:endParaRPr lang="en-US" sz="1150" dirty="0"/>
          </a:p>
        </p:txBody>
      </p:sp>
      <p:sp>
        <p:nvSpPr>
          <p:cNvPr id="52" name="Shape 50"/>
          <p:cNvSpPr/>
          <p:nvPr/>
        </p:nvSpPr>
        <p:spPr>
          <a:xfrm>
            <a:off x="8247888" y="3968496"/>
            <a:ext cx="3657600"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53" name="Shape 51"/>
          <p:cNvSpPr/>
          <p:nvPr/>
        </p:nvSpPr>
        <p:spPr>
          <a:xfrm>
            <a:off x="8247888" y="3968496"/>
            <a:ext cx="3657600" cy="54864"/>
          </a:xfrm>
          <a:prstGeom prst="rect">
            <a:avLst/>
          </a:prstGeom>
          <a:solidFill>
            <a:srgbClr val="FFB347"/>
          </a:solidFill>
          <a:ln w="12700">
            <a:solidFill>
              <a:srgbClr val="FFB347"/>
            </a:solidFill>
            <a:prstDash val="solid"/>
          </a:ln>
        </p:spPr>
      </p:sp>
      <p:sp>
        <p:nvSpPr>
          <p:cNvPr id="54" name="Text 52"/>
          <p:cNvSpPr/>
          <p:nvPr/>
        </p:nvSpPr>
        <p:spPr>
          <a:xfrm>
            <a:off x="8247888" y="4059936"/>
            <a:ext cx="1097280" cy="59436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55" name="Text 53"/>
          <p:cNvSpPr/>
          <p:nvPr/>
        </p:nvSpPr>
        <p:spPr>
          <a:xfrm>
            <a:off x="8247888" y="4654296"/>
            <a:ext cx="1097280" cy="548640"/>
          </a:xfrm>
          <a:prstGeom prst="rect">
            <a:avLst/>
          </a:prstGeom>
          <a:noFill/>
          <a:ln/>
        </p:spPr>
        <p:txBody>
          <a:bodyPr wrap="square" rtlCol="0" anchor="ctr"/>
          <a:lstStyle/>
          <a:p>
            <a:pPr algn="ctr" indent="0" marL="0">
              <a:buNone/>
            </a:pPr>
            <a:r>
              <a:rPr lang="en-US" sz="2200" b="1" dirty="0">
                <a:solidFill>
                  <a:srgbClr val="FFB347"/>
                </a:solidFill>
                <a:latin typeface="Calibri" pitchFamily="34" charset="0"/>
                <a:ea typeface="Calibri" pitchFamily="34" charset="-122"/>
                <a:cs typeface="Calibri" pitchFamily="34" charset="-120"/>
              </a:rPr>
              <a:t>14 M</a:t>
            </a:r>
            <a:endParaRPr lang="en-US" sz="2200" dirty="0"/>
          </a:p>
        </p:txBody>
      </p:sp>
      <p:sp>
        <p:nvSpPr>
          <p:cNvPr id="56" name="Text 54"/>
          <p:cNvSpPr/>
          <p:nvPr/>
        </p:nvSpPr>
        <p:spPr>
          <a:xfrm>
            <a:off x="8247888" y="5175504"/>
            <a:ext cx="1097280" cy="347472"/>
          </a:xfrm>
          <a:prstGeom prst="rect">
            <a:avLst/>
          </a:prstGeom>
          <a:noFill/>
          <a:ln/>
        </p:spPr>
        <p:txBody>
          <a:bodyPr wrap="square" rtlCol="0" anchor="ctr"/>
          <a:lstStyle/>
          <a:p>
            <a:pPr algn="ctr" indent="0" marL="0">
              <a:buNone/>
            </a:pPr>
            <a:r>
              <a:rPr lang="en-US" sz="1000" dirty="0">
                <a:solidFill>
                  <a:srgbClr val="7B93B3"/>
                </a:solidFill>
                <a:latin typeface="Calibri" pitchFamily="34" charset="0"/>
                <a:ea typeface="Calibri" pitchFamily="34" charset="-122"/>
                <a:cs typeface="Calibri" pitchFamily="34" charset="-120"/>
              </a:rPr>
              <a:t>trips matched/day</a:t>
            </a:r>
            <a:endParaRPr lang="en-US" sz="1000" dirty="0"/>
          </a:p>
        </p:txBody>
      </p:sp>
      <p:sp>
        <p:nvSpPr>
          <p:cNvPr id="57" name="Shape 55"/>
          <p:cNvSpPr/>
          <p:nvPr/>
        </p:nvSpPr>
        <p:spPr>
          <a:xfrm>
            <a:off x="9390888" y="4133088"/>
            <a:ext cx="0" cy="2048256"/>
          </a:xfrm>
          <a:prstGeom prst="line">
            <a:avLst/>
          </a:prstGeom>
          <a:noFill/>
          <a:ln w="12700">
            <a:solidFill>
              <a:srgbClr val="D1E5F5"/>
            </a:solidFill>
            <a:prstDash val="solid"/>
          </a:ln>
        </p:spPr>
      </p:sp>
      <p:sp>
        <p:nvSpPr>
          <p:cNvPr id="58" name="Text 56"/>
          <p:cNvSpPr/>
          <p:nvPr/>
        </p:nvSpPr>
        <p:spPr>
          <a:xfrm>
            <a:off x="9528048" y="4059936"/>
            <a:ext cx="2240280" cy="347472"/>
          </a:xfrm>
          <a:prstGeom prst="rect">
            <a:avLst/>
          </a:prstGeom>
          <a:noFill/>
          <a:ln/>
        </p:spPr>
        <p:txBody>
          <a:bodyPr wrap="square" rtlCol="0" anchor="ctr"/>
          <a:lstStyle/>
          <a:p>
            <a:pPr indent="0" marL="0">
              <a:buNone/>
            </a:pPr>
            <a:r>
              <a:rPr lang="en-US" sz="1400" b="1" dirty="0">
                <a:solidFill>
                  <a:srgbClr val="0A0F1E"/>
                </a:solidFill>
                <a:latin typeface="Calibri" pitchFamily="34" charset="0"/>
                <a:ea typeface="Calibri" pitchFamily="34" charset="-122"/>
                <a:cs typeface="Calibri" pitchFamily="34" charset="-120"/>
              </a:rPr>
              <a:t>Ride-Hailing</a:t>
            </a:r>
            <a:endParaRPr lang="en-US" sz="1400" dirty="0"/>
          </a:p>
        </p:txBody>
      </p:sp>
      <p:sp>
        <p:nvSpPr>
          <p:cNvPr id="59" name="Text 57"/>
          <p:cNvSpPr/>
          <p:nvPr/>
        </p:nvSpPr>
        <p:spPr>
          <a:xfrm>
            <a:off x="9528048" y="4407408"/>
            <a:ext cx="2240280" cy="256032"/>
          </a:xfrm>
          <a:prstGeom prst="rect">
            <a:avLst/>
          </a:prstGeom>
          <a:noFill/>
          <a:ln/>
        </p:spPr>
        <p:txBody>
          <a:bodyPr wrap="square" rtlCol="0" anchor="ctr"/>
          <a:lstStyle/>
          <a:p>
            <a:pPr indent="0" marL="0">
              <a:buNone/>
            </a:pPr>
            <a:r>
              <a:rPr lang="en-US" sz="1100" i="1" dirty="0">
                <a:solidFill>
                  <a:srgbClr val="FFB347"/>
                </a:solidFill>
                <a:latin typeface="Calibri" pitchFamily="34" charset="0"/>
                <a:ea typeface="Calibri" pitchFamily="34" charset="-122"/>
                <a:cs typeface="Calibri" pitchFamily="34" charset="-120"/>
              </a:rPr>
              <a:t>Uber / Ola</a:t>
            </a:r>
            <a:endParaRPr lang="en-US" sz="1100" dirty="0"/>
          </a:p>
        </p:txBody>
      </p:sp>
      <p:sp>
        <p:nvSpPr>
          <p:cNvPr id="60" name="Text 58"/>
          <p:cNvSpPr/>
          <p:nvPr/>
        </p:nvSpPr>
        <p:spPr>
          <a:xfrm>
            <a:off x="9528048" y="4718304"/>
            <a:ext cx="2240280" cy="137160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Your GPS location, driver availability, surge multiplier — all live database queries firing every 4 seconds.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00C2CB"/>
          </a:solidFill>
          <a:ln w="12700">
            <a:solidFill>
              <a:srgbClr val="00C2CB"/>
            </a:solidFill>
            <a:prstDash val="solid"/>
          </a:ln>
        </p:spPr>
      </p:sp>
      <p:sp>
        <p:nvSpPr>
          <p:cNvPr id="4" name="Shape 2"/>
          <p:cNvSpPr/>
          <p:nvPr/>
        </p:nvSpPr>
        <p:spPr>
          <a:xfrm>
            <a:off x="0" y="1188720"/>
            <a:ext cx="12161520" cy="36576"/>
          </a:xfrm>
          <a:prstGeom prst="rect">
            <a:avLst/>
          </a:prstGeom>
          <a:solidFill>
            <a:srgbClr val="00C2CB"/>
          </a:solidFill>
          <a:ln w="12700">
            <a:solidFill>
              <a:srgbClr val="00C2C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SQL in Action — Real Queries, Real Results</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00C2CB"/>
                </a:solidFill>
                <a:latin typeface="Calibri" pitchFamily="34" charset="0"/>
                <a:ea typeface="Calibri" pitchFamily="34" charset="-122"/>
                <a:cs typeface="Calibri" pitchFamily="34" charset="-120"/>
              </a:rPr>
              <a:t>These exact patterns run in every app you use daily</a:t>
            </a:r>
            <a:endParaRPr lang="en-US" sz="1400" dirty="0"/>
          </a:p>
        </p:txBody>
      </p:sp>
      <p:sp>
        <p:nvSpPr>
          <p:cNvPr id="7" name="Shape 5"/>
          <p:cNvSpPr/>
          <p:nvPr/>
        </p:nvSpPr>
        <p:spPr>
          <a:xfrm>
            <a:off x="384048" y="1389888"/>
            <a:ext cx="11393424" cy="384048"/>
          </a:xfrm>
          <a:prstGeom prst="rect">
            <a:avLst/>
          </a:prstGeom>
          <a:solidFill>
            <a:srgbClr val="132F56"/>
          </a:solidFill>
          <a:ln w="12700">
            <a:solidFill>
              <a:srgbClr val="FFB347"/>
            </a:solidFill>
            <a:prstDash val="solid"/>
          </a:ln>
        </p:spPr>
      </p:sp>
      <p:sp>
        <p:nvSpPr>
          <p:cNvPr id="8" name="Text 6"/>
          <p:cNvSpPr/>
          <p:nvPr/>
        </p:nvSpPr>
        <p:spPr>
          <a:xfrm>
            <a:off x="502920" y="1389888"/>
            <a:ext cx="11155680" cy="384048"/>
          </a:xfrm>
          <a:prstGeom prst="rect">
            <a:avLst/>
          </a:prstGeom>
          <a:noFill/>
          <a:ln/>
        </p:spPr>
        <p:txBody>
          <a:bodyPr wrap="square" rtlCol="0" anchor="ctr"/>
          <a:lstStyle/>
          <a:p>
            <a:pPr indent="0" marL="0">
              <a:buNone/>
            </a:pPr>
            <a:r>
              <a:rPr lang="en-US" sz="1350" b="1" dirty="0">
                <a:solidFill>
                  <a:srgbClr val="FFB347"/>
                </a:solidFill>
                <a:latin typeface="Calibri" pitchFamily="34" charset="0"/>
                <a:ea typeface="Calibri" pitchFamily="34" charset="-122"/>
                <a:cs typeface="Calibri" pitchFamily="34" charset="-120"/>
              </a:rPr>
              <a:t>🍕  Zomato — You search 'Best Pizza in Bandra'</a:t>
            </a:r>
            <a:endParaRPr lang="en-US" sz="1350" dirty="0"/>
          </a:p>
        </p:txBody>
      </p:sp>
      <p:sp>
        <p:nvSpPr>
          <p:cNvPr id="9" name="Shape 7"/>
          <p:cNvSpPr/>
          <p:nvPr/>
        </p:nvSpPr>
        <p:spPr>
          <a:xfrm>
            <a:off x="384048" y="1773936"/>
            <a:ext cx="7178040" cy="1298448"/>
          </a:xfrm>
          <a:prstGeom prst="rect">
            <a:avLst/>
          </a:prstGeom>
          <a:solidFill>
            <a:srgbClr val="040D18"/>
          </a:solidFill>
          <a:ln w="12700">
            <a:solidFill>
              <a:srgbClr val="1E3A5F"/>
            </a:solidFill>
            <a:prstDash val="solid"/>
          </a:ln>
        </p:spPr>
      </p:sp>
      <p:sp>
        <p:nvSpPr>
          <p:cNvPr id="10" name="Text 8"/>
          <p:cNvSpPr/>
          <p:nvPr/>
        </p:nvSpPr>
        <p:spPr>
          <a:xfrm>
            <a:off x="530352" y="1847088"/>
            <a:ext cx="6949440" cy="1188720"/>
          </a:xfrm>
          <a:prstGeom prst="rect">
            <a:avLst/>
          </a:prstGeom>
          <a:noFill/>
          <a:ln/>
        </p:spPr>
        <p:txBody>
          <a:bodyPr wrap="square" rtlCol="0" anchor="t"/>
          <a:lstStyle/>
          <a:p>
            <a:pPr indent="0" marL="0">
              <a:buNone/>
            </a:pPr>
            <a:r>
              <a:rPr lang="en-US" sz="1150" dirty="0">
                <a:solidFill>
                  <a:srgbClr val="86EFAC"/>
                </a:solidFill>
                <a:latin typeface="Courier New" pitchFamily="34" charset="0"/>
                <a:ea typeface="Courier New" pitchFamily="34" charset="-122"/>
                <a:cs typeface="Courier New" pitchFamily="34" charset="-120"/>
              </a:rPr>
              <a:t>SELECT restaurant_name, rating, delivery_time</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FROM restaurants</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WHERE city = 'Mumbai'  AND  area = 'Bandra'</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  AND cuisine LIKE '%Pizza%'</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ORDER BY rating DESC</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LIMIT 10;</a:t>
            </a:r>
            <a:endParaRPr lang="en-US" sz="1150" dirty="0"/>
          </a:p>
        </p:txBody>
      </p:sp>
      <p:sp>
        <p:nvSpPr>
          <p:cNvPr id="11" name="Shape 9"/>
          <p:cNvSpPr/>
          <p:nvPr/>
        </p:nvSpPr>
        <p:spPr>
          <a:xfrm>
            <a:off x="7726680" y="1773936"/>
            <a:ext cx="4050792" cy="1298448"/>
          </a:xfrm>
          <a:prstGeom prst="rect">
            <a:avLst/>
          </a:prstGeom>
          <a:solidFill>
            <a:srgbClr val="102A4C"/>
          </a:solidFill>
          <a:ln w="12700">
            <a:solidFill>
              <a:srgbClr val="FFB347"/>
            </a:solidFill>
            <a:prstDash val="solid"/>
          </a:ln>
        </p:spPr>
      </p:sp>
      <p:sp>
        <p:nvSpPr>
          <p:cNvPr id="12" name="Shape 10"/>
          <p:cNvSpPr/>
          <p:nvPr/>
        </p:nvSpPr>
        <p:spPr>
          <a:xfrm>
            <a:off x="7726680" y="1773936"/>
            <a:ext cx="73152" cy="1298448"/>
          </a:xfrm>
          <a:prstGeom prst="rect">
            <a:avLst/>
          </a:prstGeom>
          <a:solidFill>
            <a:srgbClr val="FFB347"/>
          </a:solidFill>
          <a:ln w="12700">
            <a:solidFill>
              <a:srgbClr val="FFB347"/>
            </a:solidFill>
            <a:prstDash val="solid"/>
          </a:ln>
        </p:spPr>
      </p:sp>
      <p:sp>
        <p:nvSpPr>
          <p:cNvPr id="13" name="Text 11"/>
          <p:cNvSpPr/>
          <p:nvPr/>
        </p:nvSpPr>
        <p:spPr>
          <a:xfrm>
            <a:off x="7882128" y="1865376"/>
            <a:ext cx="3749040" cy="1097280"/>
          </a:xfrm>
          <a:prstGeom prst="rect">
            <a:avLst/>
          </a:prstGeom>
          <a:noFill/>
          <a:ln/>
        </p:spPr>
        <p:txBody>
          <a:bodyPr wrap="square" rtlCol="0" anchor="ctr"/>
          <a:lstStyle/>
          <a:p>
            <a:pPr indent="0" marL="0">
              <a:buNone/>
            </a:pPr>
            <a:r>
              <a:rPr lang="en-US" sz="1250" dirty="0">
                <a:solidFill>
                  <a:srgbClr val="CBD5E1"/>
                </a:solidFill>
                <a:latin typeface="Calibri" pitchFamily="34" charset="0"/>
                <a:ea typeface="Calibri" pitchFamily="34" charset="-122"/>
                <a:cs typeface="Calibri" pitchFamily="34" charset="-120"/>
              </a:rPr>
              <a:t>SELECT + WHERE filters + ORDER BY sorts + LIMIT returns top 10 — all in one line of intent.</a:t>
            </a:r>
            <a:endParaRPr lang="en-US" sz="1250" dirty="0"/>
          </a:p>
        </p:txBody>
      </p:sp>
      <p:sp>
        <p:nvSpPr>
          <p:cNvPr id="14" name="Shape 12"/>
          <p:cNvSpPr/>
          <p:nvPr/>
        </p:nvSpPr>
        <p:spPr>
          <a:xfrm>
            <a:off x="384048" y="3172968"/>
            <a:ext cx="11393424" cy="384048"/>
          </a:xfrm>
          <a:prstGeom prst="rect">
            <a:avLst/>
          </a:prstGeom>
          <a:solidFill>
            <a:srgbClr val="132F56"/>
          </a:solidFill>
          <a:ln w="12700">
            <a:solidFill>
              <a:srgbClr val="00C2CB"/>
            </a:solidFill>
            <a:prstDash val="solid"/>
          </a:ln>
        </p:spPr>
      </p:sp>
      <p:sp>
        <p:nvSpPr>
          <p:cNvPr id="15" name="Text 13"/>
          <p:cNvSpPr/>
          <p:nvPr/>
        </p:nvSpPr>
        <p:spPr>
          <a:xfrm>
            <a:off x="502920" y="3172968"/>
            <a:ext cx="11155680" cy="384048"/>
          </a:xfrm>
          <a:prstGeom prst="rect">
            <a:avLst/>
          </a:prstGeom>
          <a:noFill/>
          <a:ln/>
        </p:spPr>
        <p:txBody>
          <a:bodyPr wrap="square" rtlCol="0" anchor="ctr"/>
          <a:lstStyle/>
          <a:p>
            <a:pPr indent="0" marL="0">
              <a:buNone/>
            </a:pPr>
            <a:r>
              <a:rPr lang="en-US" sz="1350" b="1" dirty="0">
                <a:solidFill>
                  <a:srgbClr val="00C2CB"/>
                </a:solidFill>
                <a:latin typeface="Calibri" pitchFamily="34" charset="0"/>
                <a:ea typeface="Calibri" pitchFamily="34" charset="-122"/>
                <a:cs typeface="Calibri" pitchFamily="34" charset="-120"/>
              </a:rPr>
              <a:t>💳  PhonePe — You send ₹500 to a friend</a:t>
            </a:r>
            <a:endParaRPr lang="en-US" sz="1350" dirty="0"/>
          </a:p>
        </p:txBody>
      </p:sp>
      <p:sp>
        <p:nvSpPr>
          <p:cNvPr id="16" name="Shape 14"/>
          <p:cNvSpPr/>
          <p:nvPr/>
        </p:nvSpPr>
        <p:spPr>
          <a:xfrm>
            <a:off x="384048" y="3557016"/>
            <a:ext cx="7178040" cy="1298448"/>
          </a:xfrm>
          <a:prstGeom prst="rect">
            <a:avLst/>
          </a:prstGeom>
          <a:solidFill>
            <a:srgbClr val="040D18"/>
          </a:solidFill>
          <a:ln w="12700">
            <a:solidFill>
              <a:srgbClr val="1E3A5F"/>
            </a:solidFill>
            <a:prstDash val="solid"/>
          </a:ln>
        </p:spPr>
      </p:sp>
      <p:sp>
        <p:nvSpPr>
          <p:cNvPr id="17" name="Text 15"/>
          <p:cNvSpPr/>
          <p:nvPr/>
        </p:nvSpPr>
        <p:spPr>
          <a:xfrm>
            <a:off x="530352" y="3630168"/>
            <a:ext cx="6949440" cy="1188720"/>
          </a:xfrm>
          <a:prstGeom prst="rect">
            <a:avLst/>
          </a:prstGeom>
          <a:noFill/>
          <a:ln/>
        </p:spPr>
        <p:txBody>
          <a:bodyPr wrap="square" rtlCol="0" anchor="t"/>
          <a:lstStyle/>
          <a:p>
            <a:pPr indent="0" marL="0">
              <a:buNone/>
            </a:pPr>
            <a:r>
              <a:rPr lang="en-US" sz="1150" dirty="0">
                <a:solidFill>
                  <a:srgbClr val="86EFAC"/>
                </a:solidFill>
                <a:latin typeface="Courier New" pitchFamily="34" charset="0"/>
                <a:ea typeface="Courier New" pitchFamily="34" charset="-122"/>
                <a:cs typeface="Courier New" pitchFamily="34" charset="-120"/>
              </a:rPr>
              <a:t>BEGIN;</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  UPDATE accounts SET balance = balance - 500</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    WHERE account_id = 'YOUR_UPI_ID';</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  UPDATE accounts SET balance = balance + 500</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    WHERE account_id = 'FRIEND_UPI_ID';</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COMMIT;</a:t>
            </a:r>
            <a:endParaRPr lang="en-US" sz="1150" dirty="0"/>
          </a:p>
        </p:txBody>
      </p:sp>
      <p:sp>
        <p:nvSpPr>
          <p:cNvPr id="18" name="Shape 16"/>
          <p:cNvSpPr/>
          <p:nvPr/>
        </p:nvSpPr>
        <p:spPr>
          <a:xfrm>
            <a:off x="7726680" y="3557016"/>
            <a:ext cx="4050792" cy="1298448"/>
          </a:xfrm>
          <a:prstGeom prst="rect">
            <a:avLst/>
          </a:prstGeom>
          <a:solidFill>
            <a:srgbClr val="102A4C"/>
          </a:solidFill>
          <a:ln w="12700">
            <a:solidFill>
              <a:srgbClr val="00C2CB"/>
            </a:solidFill>
            <a:prstDash val="solid"/>
          </a:ln>
        </p:spPr>
      </p:sp>
      <p:sp>
        <p:nvSpPr>
          <p:cNvPr id="19" name="Shape 17"/>
          <p:cNvSpPr/>
          <p:nvPr/>
        </p:nvSpPr>
        <p:spPr>
          <a:xfrm>
            <a:off x="7726680" y="3557016"/>
            <a:ext cx="73152" cy="1298448"/>
          </a:xfrm>
          <a:prstGeom prst="rect">
            <a:avLst/>
          </a:prstGeom>
          <a:solidFill>
            <a:srgbClr val="00C2CB"/>
          </a:solidFill>
          <a:ln w="12700">
            <a:solidFill>
              <a:srgbClr val="00C2CB"/>
            </a:solidFill>
            <a:prstDash val="solid"/>
          </a:ln>
        </p:spPr>
      </p:sp>
      <p:sp>
        <p:nvSpPr>
          <p:cNvPr id="20" name="Text 18"/>
          <p:cNvSpPr/>
          <p:nvPr/>
        </p:nvSpPr>
        <p:spPr>
          <a:xfrm>
            <a:off x="7882128" y="3648456"/>
            <a:ext cx="3749040" cy="1097280"/>
          </a:xfrm>
          <a:prstGeom prst="rect">
            <a:avLst/>
          </a:prstGeom>
          <a:noFill/>
          <a:ln/>
        </p:spPr>
        <p:txBody>
          <a:bodyPr wrap="square" rtlCol="0" anchor="ctr"/>
          <a:lstStyle/>
          <a:p>
            <a:pPr indent="0" marL="0">
              <a:buNone/>
            </a:pPr>
            <a:r>
              <a:rPr lang="en-US" sz="1250" dirty="0">
                <a:solidFill>
                  <a:srgbClr val="CBD5E1"/>
                </a:solidFill>
                <a:latin typeface="Calibri" pitchFamily="34" charset="0"/>
                <a:ea typeface="Calibri" pitchFamily="34" charset="-122"/>
                <a:cs typeface="Calibri" pitchFamily="34" charset="-120"/>
              </a:rPr>
              <a:t>Transaction: if either UPDATE fails (network drop, fraud flag) — ROLLBACK undoes everything. No partial transfers.</a:t>
            </a:r>
            <a:endParaRPr lang="en-US" sz="1250" dirty="0"/>
          </a:p>
        </p:txBody>
      </p:sp>
      <p:sp>
        <p:nvSpPr>
          <p:cNvPr id="21" name="Shape 19"/>
          <p:cNvSpPr/>
          <p:nvPr/>
        </p:nvSpPr>
        <p:spPr>
          <a:xfrm>
            <a:off x="384048" y="4956048"/>
            <a:ext cx="11393424" cy="384048"/>
          </a:xfrm>
          <a:prstGeom prst="rect">
            <a:avLst/>
          </a:prstGeom>
          <a:solidFill>
            <a:srgbClr val="132F56"/>
          </a:solidFill>
          <a:ln w="12700">
            <a:solidFill>
              <a:srgbClr val="52E3A3"/>
            </a:solidFill>
            <a:prstDash val="solid"/>
          </a:ln>
        </p:spPr>
      </p:sp>
      <p:sp>
        <p:nvSpPr>
          <p:cNvPr id="22" name="Text 20"/>
          <p:cNvSpPr/>
          <p:nvPr/>
        </p:nvSpPr>
        <p:spPr>
          <a:xfrm>
            <a:off x="502920" y="4956048"/>
            <a:ext cx="11155680" cy="384048"/>
          </a:xfrm>
          <a:prstGeom prst="rect">
            <a:avLst/>
          </a:prstGeom>
          <a:noFill/>
          <a:ln/>
        </p:spPr>
        <p:txBody>
          <a:bodyPr wrap="square" rtlCol="0" anchor="ctr"/>
          <a:lstStyle/>
          <a:p>
            <a:pPr indent="0" marL="0">
              <a:buNone/>
            </a:pPr>
            <a:r>
              <a:rPr lang="en-US" sz="1350" b="1" dirty="0">
                <a:solidFill>
                  <a:srgbClr val="52E3A3"/>
                </a:solidFill>
                <a:latin typeface="Calibri" pitchFamily="34" charset="0"/>
                <a:ea typeface="Calibri" pitchFamily="34" charset="-122"/>
                <a:cs typeface="Calibri" pitchFamily="34" charset="-120"/>
              </a:rPr>
              <a:t>🛒  Flipkart — You place an order</a:t>
            </a:r>
            <a:endParaRPr lang="en-US" sz="1350" dirty="0"/>
          </a:p>
        </p:txBody>
      </p:sp>
      <p:sp>
        <p:nvSpPr>
          <p:cNvPr id="23" name="Shape 21"/>
          <p:cNvSpPr/>
          <p:nvPr/>
        </p:nvSpPr>
        <p:spPr>
          <a:xfrm>
            <a:off x="384048" y="5340096"/>
            <a:ext cx="7178040" cy="1298448"/>
          </a:xfrm>
          <a:prstGeom prst="rect">
            <a:avLst/>
          </a:prstGeom>
          <a:solidFill>
            <a:srgbClr val="040D18"/>
          </a:solidFill>
          <a:ln w="12700">
            <a:solidFill>
              <a:srgbClr val="1E3A5F"/>
            </a:solidFill>
            <a:prstDash val="solid"/>
          </a:ln>
        </p:spPr>
      </p:sp>
      <p:sp>
        <p:nvSpPr>
          <p:cNvPr id="24" name="Text 22"/>
          <p:cNvSpPr/>
          <p:nvPr/>
        </p:nvSpPr>
        <p:spPr>
          <a:xfrm>
            <a:off x="530352" y="5413248"/>
            <a:ext cx="6949440" cy="1188720"/>
          </a:xfrm>
          <a:prstGeom prst="rect">
            <a:avLst/>
          </a:prstGeom>
          <a:noFill/>
          <a:ln/>
        </p:spPr>
        <p:txBody>
          <a:bodyPr wrap="square" rtlCol="0" anchor="t"/>
          <a:lstStyle/>
          <a:p>
            <a:pPr indent="0" marL="0">
              <a:buNone/>
            </a:pPr>
            <a:r>
              <a:rPr lang="en-US" sz="1150" dirty="0">
                <a:solidFill>
                  <a:srgbClr val="86EFAC"/>
                </a:solidFill>
                <a:latin typeface="Courier New" pitchFamily="34" charset="0"/>
                <a:ea typeface="Courier New" pitchFamily="34" charset="-122"/>
                <a:cs typeface="Courier New" pitchFamily="34" charset="-120"/>
              </a:rPr>
              <a:t>INSERT INTO orders (user_id, product_id, qty, order_date, status)</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VALUES (982341, 'FL-LAPTOP-X5', 1, NOW(), 'CONFIRMED');</a:t>
            </a:r>
            <a:endParaRPr lang="en-US" sz="1150" dirty="0"/>
          </a:p>
          <a:p>
            <a:pPr indent="0" marL="0">
              <a:buNone/>
            </a:pP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UPDATE inventory SET stock = stock - 1</a:t>
            </a:r>
            <a:endParaRPr lang="en-US" sz="1150" dirty="0"/>
          </a:p>
          <a:p>
            <a:pPr indent="0" marL="0">
              <a:buNone/>
            </a:pPr>
            <a:r>
              <a:rPr lang="en-US" sz="1150" dirty="0">
                <a:solidFill>
                  <a:srgbClr val="86EFAC"/>
                </a:solidFill>
                <a:latin typeface="Courier New" pitchFamily="34" charset="0"/>
                <a:ea typeface="Courier New" pitchFamily="34" charset="-122"/>
                <a:cs typeface="Courier New" pitchFamily="34" charset="-120"/>
              </a:rPr>
              <a:t>  WHERE product_id = 'FL-LAPTOP-X5';</a:t>
            </a:r>
            <a:endParaRPr lang="en-US" sz="1150" dirty="0"/>
          </a:p>
        </p:txBody>
      </p:sp>
      <p:sp>
        <p:nvSpPr>
          <p:cNvPr id="25" name="Shape 23"/>
          <p:cNvSpPr/>
          <p:nvPr/>
        </p:nvSpPr>
        <p:spPr>
          <a:xfrm>
            <a:off x="7726680" y="5340096"/>
            <a:ext cx="4050792" cy="1298448"/>
          </a:xfrm>
          <a:prstGeom prst="rect">
            <a:avLst/>
          </a:prstGeom>
          <a:solidFill>
            <a:srgbClr val="102A4C"/>
          </a:solidFill>
          <a:ln w="12700">
            <a:solidFill>
              <a:srgbClr val="52E3A3"/>
            </a:solidFill>
            <a:prstDash val="solid"/>
          </a:ln>
        </p:spPr>
      </p:sp>
      <p:sp>
        <p:nvSpPr>
          <p:cNvPr id="26" name="Shape 24"/>
          <p:cNvSpPr/>
          <p:nvPr/>
        </p:nvSpPr>
        <p:spPr>
          <a:xfrm>
            <a:off x="7726680" y="5340096"/>
            <a:ext cx="73152" cy="1298448"/>
          </a:xfrm>
          <a:prstGeom prst="rect">
            <a:avLst/>
          </a:prstGeom>
          <a:solidFill>
            <a:srgbClr val="52E3A3"/>
          </a:solidFill>
          <a:ln w="12700">
            <a:solidFill>
              <a:srgbClr val="52E3A3"/>
            </a:solidFill>
            <a:prstDash val="solid"/>
          </a:ln>
        </p:spPr>
      </p:sp>
      <p:sp>
        <p:nvSpPr>
          <p:cNvPr id="27" name="Text 25"/>
          <p:cNvSpPr/>
          <p:nvPr/>
        </p:nvSpPr>
        <p:spPr>
          <a:xfrm>
            <a:off x="7882128" y="5431536"/>
            <a:ext cx="3749040" cy="1097280"/>
          </a:xfrm>
          <a:prstGeom prst="rect">
            <a:avLst/>
          </a:prstGeom>
          <a:noFill/>
          <a:ln/>
        </p:spPr>
        <p:txBody>
          <a:bodyPr wrap="square" rtlCol="0" anchor="ctr"/>
          <a:lstStyle/>
          <a:p>
            <a:pPr indent="0" marL="0">
              <a:buNone/>
            </a:pPr>
            <a:r>
              <a:rPr lang="en-US" sz="1250" dirty="0">
                <a:solidFill>
                  <a:srgbClr val="CBD5E1"/>
                </a:solidFill>
                <a:latin typeface="Calibri" pitchFamily="34" charset="0"/>
                <a:ea typeface="Calibri" pitchFamily="34" charset="-122"/>
                <a:cs typeface="Calibri" pitchFamily="34" charset="-120"/>
              </a:rPr>
              <a:t>INSERT adds the order row. UPDATE decrements stock. One action on your screen = multiple SQL statements running together.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00C2CB"/>
          </a:solidFill>
          <a:ln w="12700">
            <a:solidFill>
              <a:srgbClr val="00C2CB"/>
            </a:solidFill>
            <a:prstDash val="solid"/>
          </a:ln>
        </p:spPr>
      </p:sp>
      <p:sp>
        <p:nvSpPr>
          <p:cNvPr id="4" name="Shape 2"/>
          <p:cNvSpPr/>
          <p:nvPr/>
        </p:nvSpPr>
        <p:spPr>
          <a:xfrm>
            <a:off x="0" y="1188720"/>
            <a:ext cx="12161520" cy="36576"/>
          </a:xfrm>
          <a:prstGeom prst="rect">
            <a:avLst/>
          </a:prstGeom>
          <a:solidFill>
            <a:srgbClr val="00C2CB"/>
          </a:solidFill>
          <a:ln w="12700">
            <a:solidFill>
              <a:srgbClr val="00C2C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What SQL Solves — Four Superpowers</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00C2CB"/>
                </a:solidFill>
                <a:latin typeface="Calibri" pitchFamily="34" charset="0"/>
                <a:ea typeface="Calibri" pitchFamily="34" charset="-122"/>
                <a:cs typeface="Calibri" pitchFamily="34" charset="-120"/>
              </a:rPr>
              <a:t>The four things SQL gives you that nothing else can match</a:t>
            </a:r>
            <a:endParaRPr lang="en-US" sz="1400" dirty="0"/>
          </a:p>
        </p:txBody>
      </p:sp>
      <p:sp>
        <p:nvSpPr>
          <p:cNvPr id="7" name="Shape 5"/>
          <p:cNvSpPr/>
          <p:nvPr/>
        </p:nvSpPr>
        <p:spPr>
          <a:xfrm>
            <a:off x="384048" y="1389888"/>
            <a:ext cx="5559552"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8" name="Shape 6"/>
          <p:cNvSpPr/>
          <p:nvPr/>
        </p:nvSpPr>
        <p:spPr>
          <a:xfrm>
            <a:off x="384048" y="1389888"/>
            <a:ext cx="5559552" cy="54864"/>
          </a:xfrm>
          <a:prstGeom prst="rect">
            <a:avLst/>
          </a:prstGeom>
          <a:solidFill>
            <a:srgbClr val="00C2CB"/>
          </a:solidFill>
          <a:ln w="12700">
            <a:solidFill>
              <a:srgbClr val="00C2CB"/>
            </a:solidFill>
            <a:prstDash val="solid"/>
          </a:ln>
        </p:spPr>
      </p:sp>
      <p:sp>
        <p:nvSpPr>
          <p:cNvPr id="9" name="Shape 7"/>
          <p:cNvSpPr/>
          <p:nvPr/>
        </p:nvSpPr>
        <p:spPr>
          <a:xfrm>
            <a:off x="384048" y="1389888"/>
            <a:ext cx="749808" cy="2395728"/>
          </a:xfrm>
          <a:prstGeom prst="rect">
            <a:avLst/>
          </a:prstGeom>
          <a:solidFill>
            <a:srgbClr val="00C2CB"/>
          </a:solidFill>
          <a:ln w="12700">
            <a:solidFill>
              <a:srgbClr val="00C2CB"/>
            </a:solidFill>
            <a:prstDash val="solid"/>
          </a:ln>
        </p:spPr>
      </p:sp>
      <p:sp>
        <p:nvSpPr>
          <p:cNvPr id="10" name="Text 8"/>
          <p:cNvSpPr/>
          <p:nvPr/>
        </p:nvSpPr>
        <p:spPr>
          <a:xfrm>
            <a:off x="384048" y="1389888"/>
            <a:ext cx="749808" cy="23957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11" name="Text 9"/>
          <p:cNvSpPr/>
          <p:nvPr/>
        </p:nvSpPr>
        <p:spPr>
          <a:xfrm>
            <a:off x="1298448" y="1536192"/>
            <a:ext cx="4480560" cy="475488"/>
          </a:xfrm>
          <a:prstGeom prst="rect">
            <a:avLst/>
          </a:prstGeom>
          <a:noFill/>
          <a:ln/>
        </p:spPr>
        <p:txBody>
          <a:bodyPr wrap="square" rtlCol="0" anchor="ctr"/>
          <a:lstStyle/>
          <a:p>
            <a:pPr indent="0" marL="0">
              <a:buNone/>
            </a:pPr>
            <a:r>
              <a:rPr lang="en-US" sz="1600" b="1" dirty="0">
                <a:solidFill>
                  <a:srgbClr val="0A0F1E"/>
                </a:solidFill>
                <a:latin typeface="Calibri" pitchFamily="34" charset="0"/>
                <a:ea typeface="Calibri" pitchFamily="34" charset="-122"/>
                <a:cs typeface="Calibri" pitchFamily="34" charset="-120"/>
              </a:rPr>
              <a:t>🎯  Ask questions in plain language</a:t>
            </a:r>
            <a:endParaRPr lang="en-US" sz="1600" dirty="0"/>
          </a:p>
        </p:txBody>
      </p:sp>
      <p:sp>
        <p:nvSpPr>
          <p:cNvPr id="12" name="Text 10"/>
          <p:cNvSpPr/>
          <p:nvPr/>
        </p:nvSpPr>
        <p:spPr>
          <a:xfrm>
            <a:off x="1298448" y="2048256"/>
            <a:ext cx="4480560" cy="914400"/>
          </a:xfrm>
          <a:prstGeom prst="rect">
            <a:avLst/>
          </a:prstGeom>
          <a:noFill/>
          <a:ln/>
        </p:spPr>
        <p:txBody>
          <a:bodyPr wrap="square" rtlCol="0" anchor="ctr"/>
          <a:lstStyle/>
          <a:p>
            <a:pPr indent="0" marL="0">
              <a:buNone/>
            </a:pPr>
            <a:r>
              <a:rPr lang="en-US" sz="1250" dirty="0">
                <a:solidFill>
                  <a:srgbClr val="374151"/>
                </a:solidFill>
                <a:latin typeface="Calibri" pitchFamily="34" charset="0"/>
                <a:ea typeface="Calibri" pitchFamily="34" charset="-122"/>
                <a:cs typeface="Calibri" pitchFamily="34" charset="-120"/>
              </a:rPr>
              <a:t>SELECT * FROM customers WHERE city = 'Chennai' doesn't require a loop, an array, or an algorithm. You state the goal — the optimizer figures out the path.</a:t>
            </a:r>
            <a:endParaRPr lang="en-US" sz="1250" dirty="0"/>
          </a:p>
        </p:txBody>
      </p:sp>
      <p:sp>
        <p:nvSpPr>
          <p:cNvPr id="13" name="Shape 11"/>
          <p:cNvSpPr/>
          <p:nvPr/>
        </p:nvSpPr>
        <p:spPr>
          <a:xfrm>
            <a:off x="1298448" y="3017520"/>
            <a:ext cx="4462272" cy="0"/>
          </a:xfrm>
          <a:prstGeom prst="line">
            <a:avLst/>
          </a:prstGeom>
          <a:noFill/>
          <a:ln w="12700">
            <a:solidFill>
              <a:srgbClr val="D1E5F5"/>
            </a:solidFill>
            <a:prstDash val="solid"/>
          </a:ln>
        </p:spPr>
      </p:sp>
      <p:sp>
        <p:nvSpPr>
          <p:cNvPr id="14" name="Text 12"/>
          <p:cNvSpPr/>
          <p:nvPr/>
        </p:nvSpPr>
        <p:spPr>
          <a:xfrm>
            <a:off x="1298448" y="3081528"/>
            <a:ext cx="4462272" cy="594360"/>
          </a:xfrm>
          <a:prstGeom prst="rect">
            <a:avLst/>
          </a:prstGeom>
          <a:noFill/>
          <a:ln/>
        </p:spPr>
        <p:txBody>
          <a:bodyPr wrap="square" rtlCol="0" anchor="ctr"/>
          <a:lstStyle/>
          <a:p>
            <a:pPr indent="0" marL="0">
              <a:buNone/>
            </a:pPr>
            <a:r>
              <a:rPr lang="en-US" sz="1100" i="1" dirty="0">
                <a:solidFill>
                  <a:srgbClr val="00C2CB"/>
                </a:solidFill>
                <a:latin typeface="Calibri" pitchFamily="34" charset="0"/>
                <a:ea typeface="Calibri" pitchFamily="34" charset="-122"/>
                <a:cs typeface="Calibri" pitchFamily="34" charset="-120"/>
              </a:rPr>
              <a:t>💡  Zomato engineers don't re-code the search algorithm every time. They change the WHERE clause.</a:t>
            </a:r>
            <a:endParaRPr lang="en-US" sz="1100" dirty="0"/>
          </a:p>
        </p:txBody>
      </p:sp>
      <p:sp>
        <p:nvSpPr>
          <p:cNvPr id="15" name="Shape 13"/>
          <p:cNvSpPr/>
          <p:nvPr/>
        </p:nvSpPr>
        <p:spPr>
          <a:xfrm>
            <a:off x="6281928" y="1389888"/>
            <a:ext cx="5559552"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16" name="Shape 14"/>
          <p:cNvSpPr/>
          <p:nvPr/>
        </p:nvSpPr>
        <p:spPr>
          <a:xfrm>
            <a:off x="6281928" y="1389888"/>
            <a:ext cx="5559552" cy="54864"/>
          </a:xfrm>
          <a:prstGeom prst="rect">
            <a:avLst/>
          </a:prstGeom>
          <a:solidFill>
            <a:srgbClr val="38B2F0"/>
          </a:solidFill>
          <a:ln w="12700">
            <a:solidFill>
              <a:srgbClr val="38B2F0"/>
            </a:solidFill>
            <a:prstDash val="solid"/>
          </a:ln>
        </p:spPr>
      </p:sp>
      <p:sp>
        <p:nvSpPr>
          <p:cNvPr id="17" name="Shape 15"/>
          <p:cNvSpPr/>
          <p:nvPr/>
        </p:nvSpPr>
        <p:spPr>
          <a:xfrm>
            <a:off x="6281928" y="1389888"/>
            <a:ext cx="749808" cy="2395728"/>
          </a:xfrm>
          <a:prstGeom prst="rect">
            <a:avLst/>
          </a:prstGeom>
          <a:solidFill>
            <a:srgbClr val="38B2F0"/>
          </a:solidFill>
          <a:ln w="12700">
            <a:solidFill>
              <a:srgbClr val="38B2F0"/>
            </a:solidFill>
            <a:prstDash val="solid"/>
          </a:ln>
        </p:spPr>
      </p:sp>
      <p:sp>
        <p:nvSpPr>
          <p:cNvPr id="18" name="Text 16"/>
          <p:cNvSpPr/>
          <p:nvPr/>
        </p:nvSpPr>
        <p:spPr>
          <a:xfrm>
            <a:off x="6281928" y="1389888"/>
            <a:ext cx="749808" cy="23957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9" name="Text 17"/>
          <p:cNvSpPr/>
          <p:nvPr/>
        </p:nvSpPr>
        <p:spPr>
          <a:xfrm>
            <a:off x="7196328" y="1536192"/>
            <a:ext cx="4480560" cy="475488"/>
          </a:xfrm>
          <a:prstGeom prst="rect">
            <a:avLst/>
          </a:prstGeom>
          <a:noFill/>
          <a:ln/>
        </p:spPr>
        <p:txBody>
          <a:bodyPr wrap="square" rtlCol="0" anchor="ctr"/>
          <a:lstStyle/>
          <a:p>
            <a:pPr indent="0" marL="0">
              <a:buNone/>
            </a:pPr>
            <a:r>
              <a:rPr lang="en-US" sz="1600" b="1" dirty="0">
                <a:solidFill>
                  <a:srgbClr val="0A0F1E"/>
                </a:solidFill>
                <a:latin typeface="Calibri" pitchFamily="34" charset="0"/>
                <a:ea typeface="Calibri" pitchFamily="34" charset="-122"/>
                <a:cs typeface="Calibri" pitchFamily="34" charset="-120"/>
              </a:rPr>
              <a:t>🔗  Link data across multiple tables</a:t>
            </a:r>
            <a:endParaRPr lang="en-US" sz="1600" dirty="0"/>
          </a:p>
        </p:txBody>
      </p:sp>
      <p:sp>
        <p:nvSpPr>
          <p:cNvPr id="20" name="Text 18"/>
          <p:cNvSpPr/>
          <p:nvPr/>
        </p:nvSpPr>
        <p:spPr>
          <a:xfrm>
            <a:off x="7196328" y="2048256"/>
            <a:ext cx="4480560" cy="914400"/>
          </a:xfrm>
          <a:prstGeom prst="rect">
            <a:avLst/>
          </a:prstGeom>
          <a:noFill/>
          <a:ln/>
        </p:spPr>
        <p:txBody>
          <a:bodyPr wrap="square" rtlCol="0" anchor="ctr"/>
          <a:lstStyle/>
          <a:p>
            <a:pPr indent="0" marL="0">
              <a:buNone/>
            </a:pPr>
            <a:r>
              <a:rPr lang="en-US" sz="1250" dirty="0">
                <a:solidFill>
                  <a:srgbClr val="374151"/>
                </a:solidFill>
                <a:latin typeface="Calibri" pitchFamily="34" charset="0"/>
                <a:ea typeface="Calibri" pitchFamily="34" charset="-122"/>
                <a:cs typeface="Calibri" pitchFamily="34" charset="-120"/>
              </a:rPr>
              <a:t>JOIN connects customers, orders, products and payments in one query. No more VLOOKUP failures, no more copy-pasting columns between sheets.</a:t>
            </a:r>
            <a:endParaRPr lang="en-US" sz="1250" dirty="0"/>
          </a:p>
        </p:txBody>
      </p:sp>
      <p:sp>
        <p:nvSpPr>
          <p:cNvPr id="21" name="Shape 19"/>
          <p:cNvSpPr/>
          <p:nvPr/>
        </p:nvSpPr>
        <p:spPr>
          <a:xfrm>
            <a:off x="7196328" y="3017520"/>
            <a:ext cx="4462272" cy="0"/>
          </a:xfrm>
          <a:prstGeom prst="line">
            <a:avLst/>
          </a:prstGeom>
          <a:noFill/>
          <a:ln w="12700">
            <a:solidFill>
              <a:srgbClr val="D1E5F5"/>
            </a:solidFill>
            <a:prstDash val="solid"/>
          </a:ln>
        </p:spPr>
      </p:sp>
      <p:sp>
        <p:nvSpPr>
          <p:cNvPr id="22" name="Text 20"/>
          <p:cNvSpPr/>
          <p:nvPr/>
        </p:nvSpPr>
        <p:spPr>
          <a:xfrm>
            <a:off x="7196328" y="3081528"/>
            <a:ext cx="4462272" cy="594360"/>
          </a:xfrm>
          <a:prstGeom prst="rect">
            <a:avLst/>
          </a:prstGeom>
          <a:noFill/>
          <a:ln/>
        </p:spPr>
        <p:txBody>
          <a:bodyPr wrap="square" rtlCol="0" anchor="ctr"/>
          <a:lstStyle/>
          <a:p>
            <a:pPr indent="0" marL="0">
              <a:buNone/>
            </a:pPr>
            <a:r>
              <a:rPr lang="en-US" sz="1100" i="1" dirty="0">
                <a:solidFill>
                  <a:srgbClr val="38B2F0"/>
                </a:solidFill>
                <a:latin typeface="Calibri" pitchFamily="34" charset="0"/>
                <a:ea typeface="Calibri" pitchFamily="34" charset="-122"/>
                <a:cs typeface="Calibri" pitchFamily="34" charset="-120"/>
              </a:rPr>
              <a:t>💡  An Amazon order page shows your name, address, item and delivery ETA — that's 4+ tables JOINed.</a:t>
            </a:r>
            <a:endParaRPr lang="en-US" sz="1100" dirty="0"/>
          </a:p>
        </p:txBody>
      </p:sp>
      <p:sp>
        <p:nvSpPr>
          <p:cNvPr id="23" name="Shape 21"/>
          <p:cNvSpPr/>
          <p:nvPr/>
        </p:nvSpPr>
        <p:spPr>
          <a:xfrm>
            <a:off x="384048" y="3968496"/>
            <a:ext cx="5559552"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24" name="Shape 22"/>
          <p:cNvSpPr/>
          <p:nvPr/>
        </p:nvSpPr>
        <p:spPr>
          <a:xfrm>
            <a:off x="384048" y="3968496"/>
            <a:ext cx="5559552" cy="54864"/>
          </a:xfrm>
          <a:prstGeom prst="rect">
            <a:avLst/>
          </a:prstGeom>
          <a:solidFill>
            <a:srgbClr val="FFB347"/>
          </a:solidFill>
          <a:ln w="12700">
            <a:solidFill>
              <a:srgbClr val="FFB347"/>
            </a:solidFill>
            <a:prstDash val="solid"/>
          </a:ln>
        </p:spPr>
      </p:sp>
      <p:sp>
        <p:nvSpPr>
          <p:cNvPr id="25" name="Shape 23"/>
          <p:cNvSpPr/>
          <p:nvPr/>
        </p:nvSpPr>
        <p:spPr>
          <a:xfrm>
            <a:off x="384048" y="3968496"/>
            <a:ext cx="749808" cy="2395728"/>
          </a:xfrm>
          <a:prstGeom prst="rect">
            <a:avLst/>
          </a:prstGeom>
          <a:solidFill>
            <a:srgbClr val="FFB347"/>
          </a:solidFill>
          <a:ln w="12700">
            <a:solidFill>
              <a:srgbClr val="FFB347"/>
            </a:solidFill>
            <a:prstDash val="solid"/>
          </a:ln>
        </p:spPr>
      </p:sp>
      <p:sp>
        <p:nvSpPr>
          <p:cNvPr id="26" name="Text 24"/>
          <p:cNvSpPr/>
          <p:nvPr/>
        </p:nvSpPr>
        <p:spPr>
          <a:xfrm>
            <a:off x="384048" y="3968496"/>
            <a:ext cx="749808" cy="23957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27" name="Text 25"/>
          <p:cNvSpPr/>
          <p:nvPr/>
        </p:nvSpPr>
        <p:spPr>
          <a:xfrm>
            <a:off x="1298448" y="4114800"/>
            <a:ext cx="4480560" cy="475488"/>
          </a:xfrm>
          <a:prstGeom prst="rect">
            <a:avLst/>
          </a:prstGeom>
          <a:noFill/>
          <a:ln/>
        </p:spPr>
        <p:txBody>
          <a:bodyPr wrap="square" rtlCol="0" anchor="ctr"/>
          <a:lstStyle/>
          <a:p>
            <a:pPr indent="0" marL="0">
              <a:buNone/>
            </a:pPr>
            <a:r>
              <a:rPr lang="en-US" sz="1600" b="1" dirty="0">
                <a:solidFill>
                  <a:srgbClr val="0A0F1E"/>
                </a:solidFill>
                <a:latin typeface="Calibri" pitchFamily="34" charset="0"/>
                <a:ea typeface="Calibri" pitchFamily="34" charset="-122"/>
                <a:cs typeface="Calibri" pitchFamily="34" charset="-120"/>
              </a:rPr>
              <a:t>🛡️  Enforce rules automatically</a:t>
            </a:r>
            <a:endParaRPr lang="en-US" sz="1600" dirty="0"/>
          </a:p>
        </p:txBody>
      </p:sp>
      <p:sp>
        <p:nvSpPr>
          <p:cNvPr id="28" name="Text 26"/>
          <p:cNvSpPr/>
          <p:nvPr/>
        </p:nvSpPr>
        <p:spPr>
          <a:xfrm>
            <a:off x="1298448" y="4626864"/>
            <a:ext cx="4480560" cy="914400"/>
          </a:xfrm>
          <a:prstGeom prst="rect">
            <a:avLst/>
          </a:prstGeom>
          <a:noFill/>
          <a:ln/>
        </p:spPr>
        <p:txBody>
          <a:bodyPr wrap="square" rtlCol="0" anchor="ctr"/>
          <a:lstStyle/>
          <a:p>
            <a:pPr indent="0" marL="0">
              <a:buNone/>
            </a:pPr>
            <a:r>
              <a:rPr lang="en-US" sz="1250" dirty="0">
                <a:solidFill>
                  <a:srgbClr val="374151"/>
                </a:solidFill>
                <a:latin typeface="Calibri" pitchFamily="34" charset="0"/>
                <a:ea typeface="Calibri" pitchFamily="34" charset="-122"/>
                <a:cs typeface="Calibri" pitchFamily="34" charset="-120"/>
              </a:rPr>
              <a:t>Constraints built into the schema. Can't enter a negative price, can't delete a customer with active orders, can't add duplicate email addresses.</a:t>
            </a:r>
            <a:endParaRPr lang="en-US" sz="1250" dirty="0"/>
          </a:p>
        </p:txBody>
      </p:sp>
      <p:sp>
        <p:nvSpPr>
          <p:cNvPr id="29" name="Shape 27"/>
          <p:cNvSpPr/>
          <p:nvPr/>
        </p:nvSpPr>
        <p:spPr>
          <a:xfrm>
            <a:off x="1298448" y="5596128"/>
            <a:ext cx="4462272" cy="0"/>
          </a:xfrm>
          <a:prstGeom prst="line">
            <a:avLst/>
          </a:prstGeom>
          <a:noFill/>
          <a:ln w="12700">
            <a:solidFill>
              <a:srgbClr val="D1E5F5"/>
            </a:solidFill>
            <a:prstDash val="solid"/>
          </a:ln>
        </p:spPr>
      </p:sp>
      <p:sp>
        <p:nvSpPr>
          <p:cNvPr id="30" name="Text 28"/>
          <p:cNvSpPr/>
          <p:nvPr/>
        </p:nvSpPr>
        <p:spPr>
          <a:xfrm>
            <a:off x="1298448" y="5660136"/>
            <a:ext cx="4462272" cy="594360"/>
          </a:xfrm>
          <a:prstGeom prst="rect">
            <a:avLst/>
          </a:prstGeom>
          <a:noFill/>
          <a:ln/>
        </p:spPr>
        <p:txBody>
          <a:bodyPr wrap="square" rtlCol="0" anchor="ctr"/>
          <a:lstStyle/>
          <a:p>
            <a:pPr indent="0" marL="0">
              <a:buNone/>
            </a:pPr>
            <a:r>
              <a:rPr lang="en-US" sz="1100" i="1" dirty="0">
                <a:solidFill>
                  <a:srgbClr val="FFB347"/>
                </a:solidFill>
                <a:latin typeface="Calibri" pitchFamily="34" charset="0"/>
                <a:ea typeface="Calibri" pitchFamily="34" charset="-122"/>
                <a:cs typeface="Calibri" pitchFamily="34" charset="-120"/>
              </a:rPr>
              <a:t>💡  IRCTC can't sell the same seat twice — a UNIQUE constraint on (train_id, seat_no, date) enforces this.</a:t>
            </a:r>
            <a:endParaRPr lang="en-US" sz="1100" dirty="0"/>
          </a:p>
        </p:txBody>
      </p:sp>
      <p:sp>
        <p:nvSpPr>
          <p:cNvPr id="31" name="Shape 29"/>
          <p:cNvSpPr/>
          <p:nvPr/>
        </p:nvSpPr>
        <p:spPr>
          <a:xfrm>
            <a:off x="6281928" y="3968496"/>
            <a:ext cx="5559552" cy="2395728"/>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32" name="Shape 30"/>
          <p:cNvSpPr/>
          <p:nvPr/>
        </p:nvSpPr>
        <p:spPr>
          <a:xfrm>
            <a:off x="6281928" y="3968496"/>
            <a:ext cx="5559552" cy="54864"/>
          </a:xfrm>
          <a:prstGeom prst="rect">
            <a:avLst/>
          </a:prstGeom>
          <a:solidFill>
            <a:srgbClr val="52E3A3"/>
          </a:solidFill>
          <a:ln w="12700">
            <a:solidFill>
              <a:srgbClr val="52E3A3"/>
            </a:solidFill>
            <a:prstDash val="solid"/>
          </a:ln>
        </p:spPr>
      </p:sp>
      <p:sp>
        <p:nvSpPr>
          <p:cNvPr id="33" name="Shape 31"/>
          <p:cNvSpPr/>
          <p:nvPr/>
        </p:nvSpPr>
        <p:spPr>
          <a:xfrm>
            <a:off x="6281928" y="3968496"/>
            <a:ext cx="749808" cy="2395728"/>
          </a:xfrm>
          <a:prstGeom prst="rect">
            <a:avLst/>
          </a:prstGeom>
          <a:solidFill>
            <a:srgbClr val="52E3A3"/>
          </a:solidFill>
          <a:ln w="12700">
            <a:solidFill>
              <a:srgbClr val="52E3A3"/>
            </a:solidFill>
            <a:prstDash val="solid"/>
          </a:ln>
        </p:spPr>
      </p:sp>
      <p:sp>
        <p:nvSpPr>
          <p:cNvPr id="34" name="Text 32"/>
          <p:cNvSpPr/>
          <p:nvPr/>
        </p:nvSpPr>
        <p:spPr>
          <a:xfrm>
            <a:off x="6281928" y="3968496"/>
            <a:ext cx="749808" cy="239572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35" name="Text 33"/>
          <p:cNvSpPr/>
          <p:nvPr/>
        </p:nvSpPr>
        <p:spPr>
          <a:xfrm>
            <a:off x="7196328" y="4114800"/>
            <a:ext cx="4480560" cy="475488"/>
          </a:xfrm>
          <a:prstGeom prst="rect">
            <a:avLst/>
          </a:prstGeom>
          <a:noFill/>
          <a:ln/>
        </p:spPr>
        <p:txBody>
          <a:bodyPr wrap="square" rtlCol="0" anchor="ctr"/>
          <a:lstStyle/>
          <a:p>
            <a:pPr indent="0" marL="0">
              <a:buNone/>
            </a:pPr>
            <a:r>
              <a:rPr lang="en-US" sz="1600" b="1" dirty="0">
                <a:solidFill>
                  <a:srgbClr val="0A0F1E"/>
                </a:solidFill>
                <a:latin typeface="Calibri" pitchFamily="34" charset="0"/>
                <a:ea typeface="Calibri" pitchFamily="34" charset="-122"/>
                <a:cs typeface="Calibri" pitchFamily="34" charset="-120"/>
              </a:rPr>
              <a:t>⚡  Power any application at any scale</a:t>
            </a:r>
            <a:endParaRPr lang="en-US" sz="1600" dirty="0"/>
          </a:p>
        </p:txBody>
      </p:sp>
      <p:sp>
        <p:nvSpPr>
          <p:cNvPr id="36" name="Text 34"/>
          <p:cNvSpPr/>
          <p:nvPr/>
        </p:nvSpPr>
        <p:spPr>
          <a:xfrm>
            <a:off x="7196328" y="4626864"/>
            <a:ext cx="4480560" cy="914400"/>
          </a:xfrm>
          <a:prstGeom prst="rect">
            <a:avLst/>
          </a:prstGeom>
          <a:noFill/>
          <a:ln/>
        </p:spPr>
        <p:txBody>
          <a:bodyPr wrap="square" rtlCol="0" anchor="ctr"/>
          <a:lstStyle/>
          <a:p>
            <a:pPr indent="0" marL="0">
              <a:buNone/>
            </a:pPr>
            <a:r>
              <a:rPr lang="en-US" sz="1250" dirty="0">
                <a:solidFill>
                  <a:srgbClr val="374151"/>
                </a:solidFill>
                <a:latin typeface="Calibri" pitchFamily="34" charset="0"/>
                <a:ea typeface="Calibri" pitchFamily="34" charset="-122"/>
                <a:cs typeface="Calibri" pitchFamily="34" charset="-120"/>
              </a:rPr>
              <a:t>SQL databases power tiny hobby apps and trillion-dollar companies. Same language, same concepts — scale up with hardware and configuration, not new code.</a:t>
            </a:r>
            <a:endParaRPr lang="en-US" sz="1250" dirty="0"/>
          </a:p>
        </p:txBody>
      </p:sp>
      <p:sp>
        <p:nvSpPr>
          <p:cNvPr id="37" name="Shape 35"/>
          <p:cNvSpPr/>
          <p:nvPr/>
        </p:nvSpPr>
        <p:spPr>
          <a:xfrm>
            <a:off x="7196328" y="5596128"/>
            <a:ext cx="4462272" cy="0"/>
          </a:xfrm>
          <a:prstGeom prst="line">
            <a:avLst/>
          </a:prstGeom>
          <a:noFill/>
          <a:ln w="12700">
            <a:solidFill>
              <a:srgbClr val="D1E5F5"/>
            </a:solidFill>
            <a:prstDash val="solid"/>
          </a:ln>
        </p:spPr>
      </p:sp>
      <p:sp>
        <p:nvSpPr>
          <p:cNvPr id="38" name="Text 36"/>
          <p:cNvSpPr/>
          <p:nvPr/>
        </p:nvSpPr>
        <p:spPr>
          <a:xfrm>
            <a:off x="7196328" y="5660136"/>
            <a:ext cx="4462272" cy="594360"/>
          </a:xfrm>
          <a:prstGeom prst="rect">
            <a:avLst/>
          </a:prstGeom>
          <a:noFill/>
          <a:ln/>
        </p:spPr>
        <p:txBody>
          <a:bodyPr wrap="square" rtlCol="0" anchor="ctr"/>
          <a:lstStyle/>
          <a:p>
            <a:pPr indent="0" marL="0">
              <a:buNone/>
            </a:pPr>
            <a:r>
              <a:rPr lang="en-US" sz="1100" i="1" dirty="0">
                <a:solidFill>
                  <a:srgbClr val="52E3A3"/>
                </a:solidFill>
                <a:latin typeface="Calibri" pitchFamily="34" charset="0"/>
                <a:ea typeface="Calibri" pitchFamily="34" charset="-122"/>
                <a:cs typeface="Calibri" pitchFamily="34" charset="-120"/>
              </a:rPr>
              <a:t>💡  Instagram started on PostgreSQL. It still runs on PostgreSQL — now at 2 billion users.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FFB347"/>
          </a:solidFill>
          <a:ln w="12700">
            <a:solidFill>
              <a:srgbClr val="FFB347"/>
            </a:solidFill>
            <a:prstDash val="solid"/>
          </a:ln>
        </p:spPr>
      </p:sp>
      <p:sp>
        <p:nvSpPr>
          <p:cNvPr id="4" name="Shape 2"/>
          <p:cNvSpPr/>
          <p:nvPr/>
        </p:nvSpPr>
        <p:spPr>
          <a:xfrm>
            <a:off x="0" y="1188720"/>
            <a:ext cx="12161520" cy="36576"/>
          </a:xfrm>
          <a:prstGeom prst="rect">
            <a:avLst/>
          </a:prstGeom>
          <a:solidFill>
            <a:srgbClr val="FFB347"/>
          </a:solidFill>
          <a:ln w="12700">
            <a:solidFill>
              <a:srgbClr val="FFB347"/>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Key Terms — Chapter 1 Glossary</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FFB347"/>
                </a:solidFill>
                <a:latin typeface="Calibri" pitchFamily="34" charset="0"/>
                <a:ea typeface="Calibri" pitchFamily="34" charset="-122"/>
                <a:cs typeface="Calibri" pitchFamily="34" charset="-120"/>
              </a:rPr>
              <a:t>Words that will appear in every SQL lesson from here on</a:t>
            </a:r>
            <a:endParaRPr lang="en-US" sz="1400" dirty="0"/>
          </a:p>
        </p:txBody>
      </p:sp>
      <p:sp>
        <p:nvSpPr>
          <p:cNvPr id="7" name="Shape 5"/>
          <p:cNvSpPr/>
          <p:nvPr/>
        </p:nvSpPr>
        <p:spPr>
          <a:xfrm>
            <a:off x="384048" y="1389888"/>
            <a:ext cx="5559552" cy="566928"/>
          </a:xfrm>
          <a:prstGeom prst="rect">
            <a:avLst/>
          </a:prstGeom>
          <a:solidFill>
            <a:srgbClr val="102A4C"/>
          </a:solidFill>
          <a:ln w="12700">
            <a:solidFill>
              <a:srgbClr val="1E3A5F"/>
            </a:solidFill>
            <a:prstDash val="solid"/>
          </a:ln>
        </p:spPr>
      </p:sp>
      <p:sp>
        <p:nvSpPr>
          <p:cNvPr id="8" name="Shape 6"/>
          <p:cNvSpPr/>
          <p:nvPr/>
        </p:nvSpPr>
        <p:spPr>
          <a:xfrm>
            <a:off x="384048" y="1389888"/>
            <a:ext cx="64008" cy="566928"/>
          </a:xfrm>
          <a:prstGeom prst="rect">
            <a:avLst/>
          </a:prstGeom>
          <a:solidFill>
            <a:srgbClr val="FFB347"/>
          </a:solidFill>
          <a:ln w="12700">
            <a:solidFill>
              <a:srgbClr val="FFB347"/>
            </a:solidFill>
            <a:prstDash val="solid"/>
          </a:ln>
        </p:spPr>
      </p:sp>
      <p:sp>
        <p:nvSpPr>
          <p:cNvPr id="9" name="Text 7"/>
          <p:cNvSpPr/>
          <p:nvPr/>
        </p:nvSpPr>
        <p:spPr>
          <a:xfrm>
            <a:off x="566928" y="1389888"/>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Entity</a:t>
            </a:r>
            <a:endParaRPr lang="en-US" sz="1300" dirty="0"/>
          </a:p>
        </p:txBody>
      </p:sp>
      <p:sp>
        <p:nvSpPr>
          <p:cNvPr id="10" name="Shape 8"/>
          <p:cNvSpPr/>
          <p:nvPr/>
        </p:nvSpPr>
        <p:spPr>
          <a:xfrm>
            <a:off x="2304288" y="1499616"/>
            <a:ext cx="0" cy="347472"/>
          </a:xfrm>
          <a:prstGeom prst="line">
            <a:avLst/>
          </a:prstGeom>
          <a:noFill/>
          <a:ln w="12700">
            <a:solidFill>
              <a:srgbClr val="1E3A5F"/>
            </a:solidFill>
            <a:prstDash val="solid"/>
          </a:ln>
        </p:spPr>
      </p:sp>
      <p:sp>
        <p:nvSpPr>
          <p:cNvPr id="11" name="Text 9"/>
          <p:cNvSpPr/>
          <p:nvPr/>
        </p:nvSpPr>
        <p:spPr>
          <a:xfrm>
            <a:off x="2441448" y="1389888"/>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A real-world thing the database tracks — customer, product, order, transaction.</a:t>
            </a:r>
            <a:endParaRPr lang="en-US" sz="1150" dirty="0"/>
          </a:p>
        </p:txBody>
      </p:sp>
      <p:sp>
        <p:nvSpPr>
          <p:cNvPr id="12" name="Shape 10"/>
          <p:cNvSpPr/>
          <p:nvPr/>
        </p:nvSpPr>
        <p:spPr>
          <a:xfrm>
            <a:off x="384048" y="2048256"/>
            <a:ext cx="5559552" cy="566928"/>
          </a:xfrm>
          <a:prstGeom prst="rect">
            <a:avLst/>
          </a:prstGeom>
          <a:solidFill>
            <a:srgbClr val="132F56"/>
          </a:solidFill>
          <a:ln w="12700">
            <a:solidFill>
              <a:srgbClr val="1E3A5F"/>
            </a:solidFill>
            <a:prstDash val="solid"/>
          </a:ln>
        </p:spPr>
      </p:sp>
      <p:sp>
        <p:nvSpPr>
          <p:cNvPr id="13" name="Shape 11"/>
          <p:cNvSpPr/>
          <p:nvPr/>
        </p:nvSpPr>
        <p:spPr>
          <a:xfrm>
            <a:off x="384048" y="2048256"/>
            <a:ext cx="64008" cy="566928"/>
          </a:xfrm>
          <a:prstGeom prst="rect">
            <a:avLst/>
          </a:prstGeom>
          <a:solidFill>
            <a:srgbClr val="FFB347"/>
          </a:solidFill>
          <a:ln w="12700">
            <a:solidFill>
              <a:srgbClr val="FFB347"/>
            </a:solidFill>
            <a:prstDash val="solid"/>
          </a:ln>
        </p:spPr>
      </p:sp>
      <p:sp>
        <p:nvSpPr>
          <p:cNvPr id="14" name="Text 12"/>
          <p:cNvSpPr/>
          <p:nvPr/>
        </p:nvSpPr>
        <p:spPr>
          <a:xfrm>
            <a:off x="566928" y="2048256"/>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Table</a:t>
            </a:r>
            <a:endParaRPr lang="en-US" sz="1300" dirty="0"/>
          </a:p>
        </p:txBody>
      </p:sp>
      <p:sp>
        <p:nvSpPr>
          <p:cNvPr id="15" name="Shape 13"/>
          <p:cNvSpPr/>
          <p:nvPr/>
        </p:nvSpPr>
        <p:spPr>
          <a:xfrm>
            <a:off x="2304288" y="2157984"/>
            <a:ext cx="0" cy="347472"/>
          </a:xfrm>
          <a:prstGeom prst="line">
            <a:avLst/>
          </a:prstGeom>
          <a:noFill/>
          <a:ln w="12700">
            <a:solidFill>
              <a:srgbClr val="1E3A5F"/>
            </a:solidFill>
            <a:prstDash val="solid"/>
          </a:ln>
        </p:spPr>
      </p:sp>
      <p:sp>
        <p:nvSpPr>
          <p:cNvPr id="16" name="Text 14"/>
          <p:cNvSpPr/>
          <p:nvPr/>
        </p:nvSpPr>
        <p:spPr>
          <a:xfrm>
            <a:off x="2441448" y="2048256"/>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A set of rows stored in memory or on disk. One table = one entity type.</a:t>
            </a:r>
            <a:endParaRPr lang="en-US" sz="1150" dirty="0"/>
          </a:p>
        </p:txBody>
      </p:sp>
      <p:sp>
        <p:nvSpPr>
          <p:cNvPr id="17" name="Shape 15"/>
          <p:cNvSpPr/>
          <p:nvPr/>
        </p:nvSpPr>
        <p:spPr>
          <a:xfrm>
            <a:off x="384048" y="2706624"/>
            <a:ext cx="5559552" cy="566928"/>
          </a:xfrm>
          <a:prstGeom prst="rect">
            <a:avLst/>
          </a:prstGeom>
          <a:solidFill>
            <a:srgbClr val="102A4C"/>
          </a:solidFill>
          <a:ln w="12700">
            <a:solidFill>
              <a:srgbClr val="1E3A5F"/>
            </a:solidFill>
            <a:prstDash val="solid"/>
          </a:ln>
        </p:spPr>
      </p:sp>
      <p:sp>
        <p:nvSpPr>
          <p:cNvPr id="18" name="Shape 16"/>
          <p:cNvSpPr/>
          <p:nvPr/>
        </p:nvSpPr>
        <p:spPr>
          <a:xfrm>
            <a:off x="384048" y="2706624"/>
            <a:ext cx="64008" cy="566928"/>
          </a:xfrm>
          <a:prstGeom prst="rect">
            <a:avLst/>
          </a:prstGeom>
          <a:solidFill>
            <a:srgbClr val="FFB347"/>
          </a:solidFill>
          <a:ln w="12700">
            <a:solidFill>
              <a:srgbClr val="FFB347"/>
            </a:solidFill>
            <a:prstDash val="solid"/>
          </a:ln>
        </p:spPr>
      </p:sp>
      <p:sp>
        <p:nvSpPr>
          <p:cNvPr id="19" name="Text 17"/>
          <p:cNvSpPr/>
          <p:nvPr/>
        </p:nvSpPr>
        <p:spPr>
          <a:xfrm>
            <a:off x="566928" y="2706624"/>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Row / Record</a:t>
            </a:r>
            <a:endParaRPr lang="en-US" sz="1300" dirty="0"/>
          </a:p>
        </p:txBody>
      </p:sp>
      <p:sp>
        <p:nvSpPr>
          <p:cNvPr id="20" name="Shape 18"/>
          <p:cNvSpPr/>
          <p:nvPr/>
        </p:nvSpPr>
        <p:spPr>
          <a:xfrm>
            <a:off x="2304288" y="2816352"/>
            <a:ext cx="0" cy="347472"/>
          </a:xfrm>
          <a:prstGeom prst="line">
            <a:avLst/>
          </a:prstGeom>
          <a:noFill/>
          <a:ln w="12700">
            <a:solidFill>
              <a:srgbClr val="1E3A5F"/>
            </a:solidFill>
            <a:prstDash val="solid"/>
          </a:ln>
        </p:spPr>
      </p:sp>
      <p:sp>
        <p:nvSpPr>
          <p:cNvPr id="21" name="Text 19"/>
          <p:cNvSpPr/>
          <p:nvPr/>
        </p:nvSpPr>
        <p:spPr>
          <a:xfrm>
            <a:off x="2441448" y="2706624"/>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A single instance of an entity. One customer, one order, one transaction.</a:t>
            </a:r>
            <a:endParaRPr lang="en-US" sz="1150" dirty="0"/>
          </a:p>
        </p:txBody>
      </p:sp>
      <p:sp>
        <p:nvSpPr>
          <p:cNvPr id="22" name="Shape 20"/>
          <p:cNvSpPr/>
          <p:nvPr/>
        </p:nvSpPr>
        <p:spPr>
          <a:xfrm>
            <a:off x="384048" y="3364992"/>
            <a:ext cx="5559552" cy="566928"/>
          </a:xfrm>
          <a:prstGeom prst="rect">
            <a:avLst/>
          </a:prstGeom>
          <a:solidFill>
            <a:srgbClr val="132F56"/>
          </a:solidFill>
          <a:ln w="12700">
            <a:solidFill>
              <a:srgbClr val="1E3A5F"/>
            </a:solidFill>
            <a:prstDash val="solid"/>
          </a:ln>
        </p:spPr>
      </p:sp>
      <p:sp>
        <p:nvSpPr>
          <p:cNvPr id="23" name="Shape 21"/>
          <p:cNvSpPr/>
          <p:nvPr/>
        </p:nvSpPr>
        <p:spPr>
          <a:xfrm>
            <a:off x="384048" y="3364992"/>
            <a:ext cx="64008" cy="566928"/>
          </a:xfrm>
          <a:prstGeom prst="rect">
            <a:avLst/>
          </a:prstGeom>
          <a:solidFill>
            <a:srgbClr val="FFB347"/>
          </a:solidFill>
          <a:ln w="12700">
            <a:solidFill>
              <a:srgbClr val="FFB347"/>
            </a:solidFill>
            <a:prstDash val="solid"/>
          </a:ln>
        </p:spPr>
      </p:sp>
      <p:sp>
        <p:nvSpPr>
          <p:cNvPr id="24" name="Text 22"/>
          <p:cNvSpPr/>
          <p:nvPr/>
        </p:nvSpPr>
        <p:spPr>
          <a:xfrm>
            <a:off x="566928" y="3364992"/>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Column / Field</a:t>
            </a:r>
            <a:endParaRPr lang="en-US" sz="1300" dirty="0"/>
          </a:p>
        </p:txBody>
      </p:sp>
      <p:sp>
        <p:nvSpPr>
          <p:cNvPr id="25" name="Shape 23"/>
          <p:cNvSpPr/>
          <p:nvPr/>
        </p:nvSpPr>
        <p:spPr>
          <a:xfrm>
            <a:off x="2304288" y="3474720"/>
            <a:ext cx="0" cy="347472"/>
          </a:xfrm>
          <a:prstGeom prst="line">
            <a:avLst/>
          </a:prstGeom>
          <a:noFill/>
          <a:ln w="12700">
            <a:solidFill>
              <a:srgbClr val="1E3A5F"/>
            </a:solidFill>
            <a:prstDash val="solid"/>
          </a:ln>
        </p:spPr>
      </p:sp>
      <p:sp>
        <p:nvSpPr>
          <p:cNvPr id="26" name="Text 24"/>
          <p:cNvSpPr/>
          <p:nvPr/>
        </p:nvSpPr>
        <p:spPr>
          <a:xfrm>
            <a:off x="2441448" y="3364992"/>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A single attribute of that entity. cust_id, fname, balance.</a:t>
            </a:r>
            <a:endParaRPr lang="en-US" sz="1150" dirty="0"/>
          </a:p>
        </p:txBody>
      </p:sp>
      <p:sp>
        <p:nvSpPr>
          <p:cNvPr id="27" name="Shape 25"/>
          <p:cNvSpPr/>
          <p:nvPr/>
        </p:nvSpPr>
        <p:spPr>
          <a:xfrm>
            <a:off x="384048" y="4023360"/>
            <a:ext cx="5559552" cy="566928"/>
          </a:xfrm>
          <a:prstGeom prst="rect">
            <a:avLst/>
          </a:prstGeom>
          <a:solidFill>
            <a:srgbClr val="102A4C"/>
          </a:solidFill>
          <a:ln w="12700">
            <a:solidFill>
              <a:srgbClr val="1E3A5F"/>
            </a:solidFill>
            <a:prstDash val="solid"/>
          </a:ln>
        </p:spPr>
      </p:sp>
      <p:sp>
        <p:nvSpPr>
          <p:cNvPr id="28" name="Shape 26"/>
          <p:cNvSpPr/>
          <p:nvPr/>
        </p:nvSpPr>
        <p:spPr>
          <a:xfrm>
            <a:off x="384048" y="4023360"/>
            <a:ext cx="64008" cy="566928"/>
          </a:xfrm>
          <a:prstGeom prst="rect">
            <a:avLst/>
          </a:prstGeom>
          <a:solidFill>
            <a:srgbClr val="FFB347"/>
          </a:solidFill>
          <a:ln w="12700">
            <a:solidFill>
              <a:srgbClr val="FFB347"/>
            </a:solidFill>
            <a:prstDash val="solid"/>
          </a:ln>
        </p:spPr>
      </p:sp>
      <p:sp>
        <p:nvSpPr>
          <p:cNvPr id="29" name="Text 27"/>
          <p:cNvSpPr/>
          <p:nvPr/>
        </p:nvSpPr>
        <p:spPr>
          <a:xfrm>
            <a:off x="566928" y="4023360"/>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Primary Key</a:t>
            </a:r>
            <a:endParaRPr lang="en-US" sz="1300" dirty="0"/>
          </a:p>
        </p:txBody>
      </p:sp>
      <p:sp>
        <p:nvSpPr>
          <p:cNvPr id="30" name="Shape 28"/>
          <p:cNvSpPr/>
          <p:nvPr/>
        </p:nvSpPr>
        <p:spPr>
          <a:xfrm>
            <a:off x="2304288" y="4133088"/>
            <a:ext cx="0" cy="347472"/>
          </a:xfrm>
          <a:prstGeom prst="line">
            <a:avLst/>
          </a:prstGeom>
          <a:noFill/>
          <a:ln w="12700">
            <a:solidFill>
              <a:srgbClr val="1E3A5F"/>
            </a:solidFill>
            <a:prstDash val="solid"/>
          </a:ln>
        </p:spPr>
      </p:sp>
      <p:sp>
        <p:nvSpPr>
          <p:cNvPr id="31" name="Text 29"/>
          <p:cNvSpPr/>
          <p:nvPr/>
        </p:nvSpPr>
        <p:spPr>
          <a:xfrm>
            <a:off x="2441448" y="4023360"/>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One or more columns that uniquely identify every row in a table. Never null, never duplicated.</a:t>
            </a:r>
            <a:endParaRPr lang="en-US" sz="1150" dirty="0"/>
          </a:p>
        </p:txBody>
      </p:sp>
      <p:sp>
        <p:nvSpPr>
          <p:cNvPr id="32" name="Shape 30"/>
          <p:cNvSpPr/>
          <p:nvPr/>
        </p:nvSpPr>
        <p:spPr>
          <a:xfrm>
            <a:off x="6327648" y="1389888"/>
            <a:ext cx="5559552" cy="566928"/>
          </a:xfrm>
          <a:prstGeom prst="rect">
            <a:avLst/>
          </a:prstGeom>
          <a:solidFill>
            <a:srgbClr val="132F56"/>
          </a:solidFill>
          <a:ln w="12700">
            <a:solidFill>
              <a:srgbClr val="1E3A5F"/>
            </a:solidFill>
            <a:prstDash val="solid"/>
          </a:ln>
        </p:spPr>
      </p:sp>
      <p:sp>
        <p:nvSpPr>
          <p:cNvPr id="33" name="Shape 31"/>
          <p:cNvSpPr/>
          <p:nvPr/>
        </p:nvSpPr>
        <p:spPr>
          <a:xfrm>
            <a:off x="6327648" y="1389888"/>
            <a:ext cx="64008" cy="566928"/>
          </a:xfrm>
          <a:prstGeom prst="rect">
            <a:avLst/>
          </a:prstGeom>
          <a:solidFill>
            <a:srgbClr val="FFB347"/>
          </a:solidFill>
          <a:ln w="12700">
            <a:solidFill>
              <a:srgbClr val="FFB347"/>
            </a:solidFill>
            <a:prstDash val="solid"/>
          </a:ln>
        </p:spPr>
      </p:sp>
      <p:sp>
        <p:nvSpPr>
          <p:cNvPr id="34" name="Text 32"/>
          <p:cNvSpPr/>
          <p:nvPr/>
        </p:nvSpPr>
        <p:spPr>
          <a:xfrm>
            <a:off x="6510528" y="1389888"/>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Foreign Key</a:t>
            </a:r>
            <a:endParaRPr lang="en-US" sz="1300" dirty="0"/>
          </a:p>
        </p:txBody>
      </p:sp>
      <p:sp>
        <p:nvSpPr>
          <p:cNvPr id="35" name="Shape 33"/>
          <p:cNvSpPr/>
          <p:nvPr/>
        </p:nvSpPr>
        <p:spPr>
          <a:xfrm>
            <a:off x="8247888" y="1499616"/>
            <a:ext cx="0" cy="347472"/>
          </a:xfrm>
          <a:prstGeom prst="line">
            <a:avLst/>
          </a:prstGeom>
          <a:noFill/>
          <a:ln w="12700">
            <a:solidFill>
              <a:srgbClr val="1E3A5F"/>
            </a:solidFill>
            <a:prstDash val="solid"/>
          </a:ln>
        </p:spPr>
      </p:sp>
      <p:sp>
        <p:nvSpPr>
          <p:cNvPr id="36" name="Text 34"/>
          <p:cNvSpPr/>
          <p:nvPr/>
        </p:nvSpPr>
        <p:spPr>
          <a:xfrm>
            <a:off x="8385048" y="1389888"/>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A column that holds the primary key value from another table — creating a link between tables.</a:t>
            </a:r>
            <a:endParaRPr lang="en-US" sz="1150" dirty="0"/>
          </a:p>
        </p:txBody>
      </p:sp>
      <p:sp>
        <p:nvSpPr>
          <p:cNvPr id="37" name="Shape 35"/>
          <p:cNvSpPr/>
          <p:nvPr/>
        </p:nvSpPr>
        <p:spPr>
          <a:xfrm>
            <a:off x="6327648" y="2048256"/>
            <a:ext cx="5559552" cy="566928"/>
          </a:xfrm>
          <a:prstGeom prst="rect">
            <a:avLst/>
          </a:prstGeom>
          <a:solidFill>
            <a:srgbClr val="102A4C"/>
          </a:solidFill>
          <a:ln w="12700">
            <a:solidFill>
              <a:srgbClr val="1E3A5F"/>
            </a:solidFill>
            <a:prstDash val="solid"/>
          </a:ln>
        </p:spPr>
      </p:sp>
      <p:sp>
        <p:nvSpPr>
          <p:cNvPr id="38" name="Shape 36"/>
          <p:cNvSpPr/>
          <p:nvPr/>
        </p:nvSpPr>
        <p:spPr>
          <a:xfrm>
            <a:off x="6327648" y="2048256"/>
            <a:ext cx="64008" cy="566928"/>
          </a:xfrm>
          <a:prstGeom prst="rect">
            <a:avLst/>
          </a:prstGeom>
          <a:solidFill>
            <a:srgbClr val="FFB347"/>
          </a:solidFill>
          <a:ln w="12700">
            <a:solidFill>
              <a:srgbClr val="FFB347"/>
            </a:solidFill>
            <a:prstDash val="solid"/>
          </a:ln>
        </p:spPr>
      </p:sp>
      <p:sp>
        <p:nvSpPr>
          <p:cNvPr id="39" name="Text 37"/>
          <p:cNvSpPr/>
          <p:nvPr/>
        </p:nvSpPr>
        <p:spPr>
          <a:xfrm>
            <a:off x="6510528" y="2048256"/>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Result Set</a:t>
            </a:r>
            <a:endParaRPr lang="en-US" sz="1300" dirty="0"/>
          </a:p>
        </p:txBody>
      </p:sp>
      <p:sp>
        <p:nvSpPr>
          <p:cNvPr id="40" name="Shape 38"/>
          <p:cNvSpPr/>
          <p:nvPr/>
        </p:nvSpPr>
        <p:spPr>
          <a:xfrm>
            <a:off x="8247888" y="2157984"/>
            <a:ext cx="0" cy="347472"/>
          </a:xfrm>
          <a:prstGeom prst="line">
            <a:avLst/>
          </a:prstGeom>
          <a:noFill/>
          <a:ln w="12700">
            <a:solidFill>
              <a:srgbClr val="1E3A5F"/>
            </a:solidFill>
            <a:prstDash val="solid"/>
          </a:ln>
        </p:spPr>
      </p:sp>
      <p:sp>
        <p:nvSpPr>
          <p:cNvPr id="41" name="Text 39"/>
          <p:cNvSpPr/>
          <p:nvPr/>
        </p:nvSpPr>
        <p:spPr>
          <a:xfrm>
            <a:off x="8385048" y="2048256"/>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The output of a SELECT query. A temporary, non-persistent table of matching rows.</a:t>
            </a:r>
            <a:endParaRPr lang="en-US" sz="1150" dirty="0"/>
          </a:p>
        </p:txBody>
      </p:sp>
      <p:sp>
        <p:nvSpPr>
          <p:cNvPr id="42" name="Shape 40"/>
          <p:cNvSpPr/>
          <p:nvPr/>
        </p:nvSpPr>
        <p:spPr>
          <a:xfrm>
            <a:off x="6327648" y="2706624"/>
            <a:ext cx="5559552" cy="566928"/>
          </a:xfrm>
          <a:prstGeom prst="rect">
            <a:avLst/>
          </a:prstGeom>
          <a:solidFill>
            <a:srgbClr val="132F56"/>
          </a:solidFill>
          <a:ln w="12700">
            <a:solidFill>
              <a:srgbClr val="1E3A5F"/>
            </a:solidFill>
            <a:prstDash val="solid"/>
          </a:ln>
        </p:spPr>
      </p:sp>
      <p:sp>
        <p:nvSpPr>
          <p:cNvPr id="43" name="Shape 41"/>
          <p:cNvSpPr/>
          <p:nvPr/>
        </p:nvSpPr>
        <p:spPr>
          <a:xfrm>
            <a:off x="6327648" y="2706624"/>
            <a:ext cx="64008" cy="566928"/>
          </a:xfrm>
          <a:prstGeom prst="rect">
            <a:avLst/>
          </a:prstGeom>
          <a:solidFill>
            <a:srgbClr val="FFB347"/>
          </a:solidFill>
          <a:ln w="12700">
            <a:solidFill>
              <a:srgbClr val="FFB347"/>
            </a:solidFill>
            <a:prstDash val="solid"/>
          </a:ln>
        </p:spPr>
      </p:sp>
      <p:sp>
        <p:nvSpPr>
          <p:cNvPr id="44" name="Text 42"/>
          <p:cNvSpPr/>
          <p:nvPr/>
        </p:nvSpPr>
        <p:spPr>
          <a:xfrm>
            <a:off x="6510528" y="2706624"/>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Normalization</a:t>
            </a:r>
            <a:endParaRPr lang="en-US" sz="1300" dirty="0"/>
          </a:p>
        </p:txBody>
      </p:sp>
      <p:sp>
        <p:nvSpPr>
          <p:cNvPr id="45" name="Shape 43"/>
          <p:cNvSpPr/>
          <p:nvPr/>
        </p:nvSpPr>
        <p:spPr>
          <a:xfrm>
            <a:off x="8247888" y="2816352"/>
            <a:ext cx="0" cy="347472"/>
          </a:xfrm>
          <a:prstGeom prst="line">
            <a:avLst/>
          </a:prstGeom>
          <a:noFill/>
          <a:ln w="12700">
            <a:solidFill>
              <a:srgbClr val="1E3A5F"/>
            </a:solidFill>
            <a:prstDash val="solid"/>
          </a:ln>
        </p:spPr>
      </p:sp>
      <p:sp>
        <p:nvSpPr>
          <p:cNvPr id="46" name="Text 44"/>
          <p:cNvSpPr/>
          <p:nvPr/>
        </p:nvSpPr>
        <p:spPr>
          <a:xfrm>
            <a:off x="8385048" y="2706624"/>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Refining table design so each independent fact is stored in exactly one place.</a:t>
            </a:r>
            <a:endParaRPr lang="en-US" sz="1150" dirty="0"/>
          </a:p>
        </p:txBody>
      </p:sp>
      <p:sp>
        <p:nvSpPr>
          <p:cNvPr id="47" name="Shape 45"/>
          <p:cNvSpPr/>
          <p:nvPr/>
        </p:nvSpPr>
        <p:spPr>
          <a:xfrm>
            <a:off x="6327648" y="3364992"/>
            <a:ext cx="5559552" cy="566928"/>
          </a:xfrm>
          <a:prstGeom prst="rect">
            <a:avLst/>
          </a:prstGeom>
          <a:solidFill>
            <a:srgbClr val="102A4C"/>
          </a:solidFill>
          <a:ln w="12700">
            <a:solidFill>
              <a:srgbClr val="1E3A5F"/>
            </a:solidFill>
            <a:prstDash val="solid"/>
          </a:ln>
        </p:spPr>
      </p:sp>
      <p:sp>
        <p:nvSpPr>
          <p:cNvPr id="48" name="Shape 46"/>
          <p:cNvSpPr/>
          <p:nvPr/>
        </p:nvSpPr>
        <p:spPr>
          <a:xfrm>
            <a:off x="6327648" y="3364992"/>
            <a:ext cx="64008" cy="566928"/>
          </a:xfrm>
          <a:prstGeom prst="rect">
            <a:avLst/>
          </a:prstGeom>
          <a:solidFill>
            <a:srgbClr val="FFB347"/>
          </a:solidFill>
          <a:ln w="12700">
            <a:solidFill>
              <a:srgbClr val="FFB347"/>
            </a:solidFill>
            <a:prstDash val="solid"/>
          </a:ln>
        </p:spPr>
      </p:sp>
      <p:sp>
        <p:nvSpPr>
          <p:cNvPr id="49" name="Text 47"/>
          <p:cNvSpPr/>
          <p:nvPr/>
        </p:nvSpPr>
        <p:spPr>
          <a:xfrm>
            <a:off x="6510528" y="3364992"/>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Data Dictionary</a:t>
            </a:r>
            <a:endParaRPr lang="en-US" sz="1300" dirty="0"/>
          </a:p>
        </p:txBody>
      </p:sp>
      <p:sp>
        <p:nvSpPr>
          <p:cNvPr id="50" name="Shape 48"/>
          <p:cNvSpPr/>
          <p:nvPr/>
        </p:nvSpPr>
        <p:spPr>
          <a:xfrm>
            <a:off x="8247888" y="3474720"/>
            <a:ext cx="0" cy="347472"/>
          </a:xfrm>
          <a:prstGeom prst="line">
            <a:avLst/>
          </a:prstGeom>
          <a:noFill/>
          <a:ln w="12700">
            <a:solidFill>
              <a:srgbClr val="1E3A5F"/>
            </a:solidFill>
            <a:prstDash val="solid"/>
          </a:ln>
        </p:spPr>
      </p:sp>
      <p:sp>
        <p:nvSpPr>
          <p:cNvPr id="51" name="Text 49"/>
          <p:cNvSpPr/>
          <p:nvPr/>
        </p:nvSpPr>
        <p:spPr>
          <a:xfrm>
            <a:off x="8385048" y="3364992"/>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Special system tables that store metadata — the structure of your own database.</a:t>
            </a:r>
            <a:endParaRPr lang="en-US" sz="1150" dirty="0"/>
          </a:p>
        </p:txBody>
      </p:sp>
      <p:sp>
        <p:nvSpPr>
          <p:cNvPr id="52" name="Shape 50"/>
          <p:cNvSpPr/>
          <p:nvPr/>
        </p:nvSpPr>
        <p:spPr>
          <a:xfrm>
            <a:off x="6327648" y="4023360"/>
            <a:ext cx="5559552" cy="566928"/>
          </a:xfrm>
          <a:prstGeom prst="rect">
            <a:avLst/>
          </a:prstGeom>
          <a:solidFill>
            <a:srgbClr val="132F56"/>
          </a:solidFill>
          <a:ln w="12700">
            <a:solidFill>
              <a:srgbClr val="1E3A5F"/>
            </a:solidFill>
            <a:prstDash val="solid"/>
          </a:ln>
        </p:spPr>
      </p:sp>
      <p:sp>
        <p:nvSpPr>
          <p:cNvPr id="53" name="Shape 51"/>
          <p:cNvSpPr/>
          <p:nvPr/>
        </p:nvSpPr>
        <p:spPr>
          <a:xfrm>
            <a:off x="6327648" y="4023360"/>
            <a:ext cx="64008" cy="566928"/>
          </a:xfrm>
          <a:prstGeom prst="rect">
            <a:avLst/>
          </a:prstGeom>
          <a:solidFill>
            <a:srgbClr val="FFB347"/>
          </a:solidFill>
          <a:ln w="12700">
            <a:solidFill>
              <a:srgbClr val="FFB347"/>
            </a:solidFill>
            <a:prstDash val="solid"/>
          </a:ln>
        </p:spPr>
      </p:sp>
      <p:sp>
        <p:nvSpPr>
          <p:cNvPr id="54" name="Text 52"/>
          <p:cNvSpPr/>
          <p:nvPr/>
        </p:nvSpPr>
        <p:spPr>
          <a:xfrm>
            <a:off x="6510528" y="4023360"/>
            <a:ext cx="1691640" cy="566928"/>
          </a:xfrm>
          <a:prstGeom prst="rect">
            <a:avLst/>
          </a:prstGeom>
          <a:noFill/>
          <a:ln/>
        </p:spPr>
        <p:txBody>
          <a:bodyPr wrap="square" rtlCol="0" anchor="ctr"/>
          <a:lstStyle/>
          <a:p>
            <a:pPr indent="0" marL="0">
              <a:buNone/>
            </a:pPr>
            <a:r>
              <a:rPr lang="en-US" sz="1300" b="1" dirty="0">
                <a:solidFill>
                  <a:srgbClr val="FFB347"/>
                </a:solidFill>
                <a:latin typeface="Calibri" pitchFamily="34" charset="0"/>
                <a:ea typeface="Calibri" pitchFamily="34" charset="-122"/>
                <a:cs typeface="Calibri" pitchFamily="34" charset="-120"/>
              </a:rPr>
              <a:t>SQL Optimizer</a:t>
            </a:r>
            <a:endParaRPr lang="en-US" sz="1300" dirty="0"/>
          </a:p>
        </p:txBody>
      </p:sp>
      <p:sp>
        <p:nvSpPr>
          <p:cNvPr id="55" name="Shape 53"/>
          <p:cNvSpPr/>
          <p:nvPr/>
        </p:nvSpPr>
        <p:spPr>
          <a:xfrm>
            <a:off x="8247888" y="4133088"/>
            <a:ext cx="0" cy="347472"/>
          </a:xfrm>
          <a:prstGeom prst="line">
            <a:avLst/>
          </a:prstGeom>
          <a:noFill/>
          <a:ln w="12700">
            <a:solidFill>
              <a:srgbClr val="1E3A5F"/>
            </a:solidFill>
            <a:prstDash val="solid"/>
          </a:ln>
        </p:spPr>
      </p:sp>
      <p:sp>
        <p:nvSpPr>
          <p:cNvPr id="56" name="Text 54"/>
          <p:cNvSpPr/>
          <p:nvPr/>
        </p:nvSpPr>
        <p:spPr>
          <a:xfrm>
            <a:off x="8385048" y="4023360"/>
            <a:ext cx="3429000" cy="566928"/>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The database component that reads your query and decides the most efficient execution path.</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A0F1E"/>
          </a:solidFill>
          <a:ln w="12700">
            <a:solidFill>
              <a:srgbClr val="0A0F1E"/>
            </a:solidFill>
            <a:prstDash val="solid"/>
          </a:ln>
        </p:spPr>
      </p:sp>
      <p:sp>
        <p:nvSpPr>
          <p:cNvPr id="3" name="Shape 1"/>
          <p:cNvSpPr/>
          <p:nvPr/>
        </p:nvSpPr>
        <p:spPr>
          <a:xfrm>
            <a:off x="0" y="0"/>
            <a:ext cx="109728" cy="1188720"/>
          </a:xfrm>
          <a:prstGeom prst="rect">
            <a:avLst/>
          </a:prstGeom>
          <a:solidFill>
            <a:srgbClr val="00C2CB"/>
          </a:solidFill>
          <a:ln w="12700">
            <a:solidFill>
              <a:srgbClr val="00C2CB"/>
            </a:solidFill>
            <a:prstDash val="solid"/>
          </a:ln>
        </p:spPr>
      </p:sp>
      <p:sp>
        <p:nvSpPr>
          <p:cNvPr id="4" name="Shape 2"/>
          <p:cNvSpPr/>
          <p:nvPr/>
        </p:nvSpPr>
        <p:spPr>
          <a:xfrm>
            <a:off x="0" y="1188720"/>
            <a:ext cx="12161520" cy="36576"/>
          </a:xfrm>
          <a:prstGeom prst="rect">
            <a:avLst/>
          </a:prstGeom>
          <a:solidFill>
            <a:srgbClr val="00C2CB"/>
          </a:solidFill>
          <a:ln w="12700">
            <a:solidFill>
              <a:srgbClr val="00C2CB"/>
            </a:solidFill>
            <a:prstDash val="solid"/>
          </a:ln>
        </p:spPr>
      </p:sp>
      <p:sp>
        <p:nvSpPr>
          <p:cNvPr id="5" name="Text 3"/>
          <p:cNvSpPr/>
          <p:nvPr/>
        </p:nvSpPr>
        <p:spPr>
          <a:xfrm>
            <a:off x="320040" y="82296"/>
            <a:ext cx="11430000" cy="658368"/>
          </a:xfrm>
          <a:prstGeom prst="rect">
            <a:avLst/>
          </a:prstGeom>
          <a:noFill/>
          <a:ln/>
        </p:spPr>
        <p:txBody>
          <a:bodyPr wrap="square" rtlCol="0" anchor="b"/>
          <a:lstStyle/>
          <a:p>
            <a:pPr indent="0" marL="0">
              <a:buNone/>
            </a:pPr>
            <a:r>
              <a:rPr lang="en-US" sz="2800" b="1" dirty="0">
                <a:solidFill>
                  <a:srgbClr val="FFFFFF"/>
                </a:solidFill>
                <a:latin typeface="Calibri" pitchFamily="34" charset="0"/>
                <a:ea typeface="Calibri" pitchFamily="34" charset="-122"/>
                <a:cs typeface="Calibri" pitchFamily="34" charset="-120"/>
              </a:rPr>
              <a:t>The Full Picture — Video 1 Recap</a:t>
            </a:r>
            <a:endParaRPr lang="en-US" sz="2800" dirty="0"/>
          </a:p>
        </p:txBody>
      </p:sp>
      <p:sp>
        <p:nvSpPr>
          <p:cNvPr id="6" name="Text 4"/>
          <p:cNvSpPr/>
          <p:nvPr/>
        </p:nvSpPr>
        <p:spPr>
          <a:xfrm>
            <a:off x="320040" y="749808"/>
            <a:ext cx="11430000" cy="347472"/>
          </a:xfrm>
          <a:prstGeom prst="rect">
            <a:avLst/>
          </a:prstGeom>
          <a:noFill/>
          <a:ln/>
        </p:spPr>
        <p:txBody>
          <a:bodyPr wrap="square" rtlCol="0" anchor="t"/>
          <a:lstStyle/>
          <a:p>
            <a:pPr indent="0" marL="0">
              <a:buNone/>
            </a:pPr>
            <a:r>
              <a:rPr lang="en-US" sz="1400" i="1" dirty="0">
                <a:solidFill>
                  <a:srgbClr val="00C2CB"/>
                </a:solidFill>
                <a:latin typeface="Calibri" pitchFamily="34" charset="0"/>
                <a:ea typeface="Calibri" pitchFamily="34" charset="-122"/>
                <a:cs typeface="Calibri" pitchFamily="34" charset="-120"/>
              </a:rPr>
              <a:t>Everything you just learned, in one view</a:t>
            </a:r>
            <a:endParaRPr lang="en-US" sz="1400" dirty="0"/>
          </a:p>
        </p:txBody>
      </p:sp>
      <p:sp>
        <p:nvSpPr>
          <p:cNvPr id="7" name="Shape 5"/>
          <p:cNvSpPr/>
          <p:nvPr/>
        </p:nvSpPr>
        <p:spPr>
          <a:xfrm>
            <a:off x="6080760" y="1417320"/>
            <a:ext cx="0" cy="5193792"/>
          </a:xfrm>
          <a:prstGeom prst="line">
            <a:avLst/>
          </a:prstGeom>
          <a:noFill/>
          <a:ln w="25400">
            <a:solidFill>
              <a:srgbClr val="00C2CB"/>
            </a:solidFill>
            <a:prstDash val="solid"/>
          </a:ln>
        </p:spPr>
      </p:sp>
      <p:sp>
        <p:nvSpPr>
          <p:cNvPr id="8" name="Shape 6"/>
          <p:cNvSpPr/>
          <p:nvPr/>
        </p:nvSpPr>
        <p:spPr>
          <a:xfrm>
            <a:off x="384048" y="1463040"/>
            <a:ext cx="5349240" cy="135331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9" name="Shape 7"/>
          <p:cNvSpPr/>
          <p:nvPr/>
        </p:nvSpPr>
        <p:spPr>
          <a:xfrm>
            <a:off x="384048" y="1463040"/>
            <a:ext cx="5349240" cy="54864"/>
          </a:xfrm>
          <a:prstGeom prst="rect">
            <a:avLst/>
          </a:prstGeom>
          <a:solidFill>
            <a:srgbClr val="FF6B6B"/>
          </a:solidFill>
          <a:ln w="12700">
            <a:solidFill>
              <a:srgbClr val="FF6B6B"/>
            </a:solidFill>
            <a:prstDash val="solid"/>
          </a:ln>
        </p:spPr>
      </p:sp>
      <p:sp>
        <p:nvSpPr>
          <p:cNvPr id="10" name="Text 8"/>
          <p:cNvSpPr/>
          <p:nvPr/>
        </p:nvSpPr>
        <p:spPr>
          <a:xfrm>
            <a:off x="548640" y="1572768"/>
            <a:ext cx="5074920" cy="384048"/>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  Problem</a:t>
            </a:r>
            <a:endParaRPr lang="en-US" sz="1500" dirty="0"/>
          </a:p>
        </p:txBody>
      </p:sp>
      <p:sp>
        <p:nvSpPr>
          <p:cNvPr id="11" name="Text 9"/>
          <p:cNvSpPr/>
          <p:nvPr/>
        </p:nvSpPr>
        <p:spPr>
          <a:xfrm>
            <a:off x="548640" y="1975104"/>
            <a:ext cx="5074920" cy="749808"/>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Paper &amp; manual systems fail at scale — slow search, fixed indexing, instant obsolescence.</a:t>
            </a:r>
            <a:endParaRPr lang="en-US" sz="1200" dirty="0"/>
          </a:p>
        </p:txBody>
      </p:sp>
      <p:sp>
        <p:nvSpPr>
          <p:cNvPr id="12" name="Shape 10"/>
          <p:cNvSpPr/>
          <p:nvPr/>
        </p:nvSpPr>
        <p:spPr>
          <a:xfrm>
            <a:off x="5806440" y="1975104"/>
            <a:ext cx="256032" cy="256032"/>
          </a:xfrm>
          <a:prstGeom prst="ellipse">
            <a:avLst/>
          </a:prstGeom>
          <a:solidFill>
            <a:srgbClr val="FF6B6B"/>
          </a:solidFill>
          <a:ln w="12700">
            <a:solidFill>
              <a:srgbClr val="FF6B6B"/>
            </a:solidFill>
            <a:prstDash val="solid"/>
          </a:ln>
        </p:spPr>
      </p:sp>
      <p:sp>
        <p:nvSpPr>
          <p:cNvPr id="13" name="Shape 11"/>
          <p:cNvSpPr/>
          <p:nvPr/>
        </p:nvSpPr>
        <p:spPr>
          <a:xfrm>
            <a:off x="384048" y="3017520"/>
            <a:ext cx="5349240" cy="135331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14" name="Shape 12"/>
          <p:cNvSpPr/>
          <p:nvPr/>
        </p:nvSpPr>
        <p:spPr>
          <a:xfrm>
            <a:off x="384048" y="3017520"/>
            <a:ext cx="5349240" cy="54864"/>
          </a:xfrm>
          <a:prstGeom prst="rect">
            <a:avLst/>
          </a:prstGeom>
          <a:solidFill>
            <a:srgbClr val="FFB347"/>
          </a:solidFill>
          <a:ln w="12700">
            <a:solidFill>
              <a:srgbClr val="FFB347"/>
            </a:solidFill>
            <a:prstDash val="solid"/>
          </a:ln>
        </p:spPr>
      </p:sp>
      <p:sp>
        <p:nvSpPr>
          <p:cNvPr id="15" name="Text 13"/>
          <p:cNvSpPr/>
          <p:nvPr/>
        </p:nvSpPr>
        <p:spPr>
          <a:xfrm>
            <a:off x="548640" y="3127248"/>
            <a:ext cx="5074920" cy="384048"/>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  Early Solutions</a:t>
            </a:r>
            <a:endParaRPr lang="en-US" sz="1500" dirty="0"/>
          </a:p>
        </p:txBody>
      </p:sp>
      <p:sp>
        <p:nvSpPr>
          <p:cNvPr id="16" name="Text 14"/>
          <p:cNvSpPr/>
          <p:nvPr/>
        </p:nvSpPr>
        <p:spPr>
          <a:xfrm>
            <a:off x="548640" y="3529584"/>
            <a:ext cx="5074920" cy="749808"/>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Hierarchical (trees) and Network (web) databases worked — but only for experts who knew the structure by heart.</a:t>
            </a:r>
            <a:endParaRPr lang="en-US" sz="1200" dirty="0"/>
          </a:p>
        </p:txBody>
      </p:sp>
      <p:sp>
        <p:nvSpPr>
          <p:cNvPr id="17" name="Shape 15"/>
          <p:cNvSpPr/>
          <p:nvPr/>
        </p:nvSpPr>
        <p:spPr>
          <a:xfrm>
            <a:off x="5806440" y="3529584"/>
            <a:ext cx="256032" cy="256032"/>
          </a:xfrm>
          <a:prstGeom prst="ellipse">
            <a:avLst/>
          </a:prstGeom>
          <a:solidFill>
            <a:srgbClr val="FFB347"/>
          </a:solidFill>
          <a:ln w="12700">
            <a:solidFill>
              <a:srgbClr val="FFB347"/>
            </a:solidFill>
            <a:prstDash val="solid"/>
          </a:ln>
        </p:spPr>
      </p:sp>
      <p:sp>
        <p:nvSpPr>
          <p:cNvPr id="18" name="Shape 16"/>
          <p:cNvSpPr/>
          <p:nvPr/>
        </p:nvSpPr>
        <p:spPr>
          <a:xfrm>
            <a:off x="384048" y="4572000"/>
            <a:ext cx="5349240" cy="135331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19" name="Shape 17"/>
          <p:cNvSpPr/>
          <p:nvPr/>
        </p:nvSpPr>
        <p:spPr>
          <a:xfrm>
            <a:off x="384048" y="4572000"/>
            <a:ext cx="5349240" cy="54864"/>
          </a:xfrm>
          <a:prstGeom prst="rect">
            <a:avLst/>
          </a:prstGeom>
          <a:solidFill>
            <a:srgbClr val="38B2F0"/>
          </a:solidFill>
          <a:ln w="12700">
            <a:solidFill>
              <a:srgbClr val="38B2F0"/>
            </a:solidFill>
            <a:prstDash val="solid"/>
          </a:ln>
        </p:spPr>
      </p:sp>
      <p:sp>
        <p:nvSpPr>
          <p:cNvPr id="20" name="Text 18"/>
          <p:cNvSpPr/>
          <p:nvPr/>
        </p:nvSpPr>
        <p:spPr>
          <a:xfrm>
            <a:off x="548640" y="4681728"/>
            <a:ext cx="5074920" cy="384048"/>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  Excel Exists Too</a:t>
            </a:r>
            <a:endParaRPr lang="en-US" sz="1500" dirty="0"/>
          </a:p>
        </p:txBody>
      </p:sp>
      <p:sp>
        <p:nvSpPr>
          <p:cNvPr id="21" name="Text 19"/>
          <p:cNvSpPr/>
          <p:nvPr/>
        </p:nvSpPr>
        <p:spPr>
          <a:xfrm>
            <a:off x="548640" y="5084064"/>
            <a:ext cx="5074920" cy="749808"/>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Great for small-team analysis. Breaks when you need concurrent users, huge scale, or live applications.</a:t>
            </a:r>
            <a:endParaRPr lang="en-US" sz="1200" dirty="0"/>
          </a:p>
        </p:txBody>
      </p:sp>
      <p:sp>
        <p:nvSpPr>
          <p:cNvPr id="22" name="Shape 20"/>
          <p:cNvSpPr/>
          <p:nvPr/>
        </p:nvSpPr>
        <p:spPr>
          <a:xfrm>
            <a:off x="5806440" y="5084064"/>
            <a:ext cx="256032" cy="256032"/>
          </a:xfrm>
          <a:prstGeom prst="ellipse">
            <a:avLst/>
          </a:prstGeom>
          <a:solidFill>
            <a:srgbClr val="38B2F0"/>
          </a:solidFill>
          <a:ln w="12700">
            <a:solidFill>
              <a:srgbClr val="38B2F0"/>
            </a:solidFill>
            <a:prstDash val="solid"/>
          </a:ln>
        </p:spPr>
      </p:sp>
      <p:sp>
        <p:nvSpPr>
          <p:cNvPr id="23" name="Shape 21"/>
          <p:cNvSpPr/>
          <p:nvPr/>
        </p:nvSpPr>
        <p:spPr>
          <a:xfrm>
            <a:off x="6400800" y="1463040"/>
            <a:ext cx="5349240" cy="135331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24" name="Shape 22"/>
          <p:cNvSpPr/>
          <p:nvPr/>
        </p:nvSpPr>
        <p:spPr>
          <a:xfrm>
            <a:off x="6400800" y="1463040"/>
            <a:ext cx="5349240" cy="54864"/>
          </a:xfrm>
          <a:prstGeom prst="rect">
            <a:avLst/>
          </a:prstGeom>
          <a:solidFill>
            <a:srgbClr val="52E3A3"/>
          </a:solidFill>
          <a:ln w="12700">
            <a:solidFill>
              <a:srgbClr val="52E3A3"/>
            </a:solidFill>
            <a:prstDash val="solid"/>
          </a:ln>
        </p:spPr>
      </p:sp>
      <p:sp>
        <p:nvSpPr>
          <p:cNvPr id="25" name="Text 23"/>
          <p:cNvSpPr/>
          <p:nvPr/>
        </p:nvSpPr>
        <p:spPr>
          <a:xfrm>
            <a:off x="6565392" y="1572768"/>
            <a:ext cx="5074920" cy="384048"/>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  Relational Model (1970)</a:t>
            </a:r>
            <a:endParaRPr lang="en-US" sz="1500" dirty="0"/>
          </a:p>
        </p:txBody>
      </p:sp>
      <p:sp>
        <p:nvSpPr>
          <p:cNvPr id="26" name="Text 24"/>
          <p:cNvSpPr/>
          <p:nvPr/>
        </p:nvSpPr>
        <p:spPr>
          <a:xfrm>
            <a:off x="6565392" y="1975104"/>
            <a:ext cx="5074920" cy="749808"/>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Dr. Codd's breakthrough: simple tables linked by shared values. Still the dominant model 50+ years on.</a:t>
            </a:r>
            <a:endParaRPr lang="en-US" sz="1200" dirty="0"/>
          </a:p>
        </p:txBody>
      </p:sp>
      <p:sp>
        <p:nvSpPr>
          <p:cNvPr id="27" name="Shape 25"/>
          <p:cNvSpPr/>
          <p:nvPr/>
        </p:nvSpPr>
        <p:spPr>
          <a:xfrm>
            <a:off x="5989320" y="1975104"/>
            <a:ext cx="256032" cy="256032"/>
          </a:xfrm>
          <a:prstGeom prst="ellipse">
            <a:avLst/>
          </a:prstGeom>
          <a:solidFill>
            <a:srgbClr val="52E3A3"/>
          </a:solidFill>
          <a:ln w="12700">
            <a:solidFill>
              <a:srgbClr val="52E3A3"/>
            </a:solidFill>
            <a:prstDash val="solid"/>
          </a:ln>
        </p:spPr>
      </p:sp>
      <p:sp>
        <p:nvSpPr>
          <p:cNvPr id="28" name="Shape 26"/>
          <p:cNvSpPr/>
          <p:nvPr/>
        </p:nvSpPr>
        <p:spPr>
          <a:xfrm>
            <a:off x="6400800" y="3017520"/>
            <a:ext cx="5349240" cy="135331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29" name="Shape 27"/>
          <p:cNvSpPr/>
          <p:nvPr/>
        </p:nvSpPr>
        <p:spPr>
          <a:xfrm>
            <a:off x="6400800" y="3017520"/>
            <a:ext cx="5349240" cy="54864"/>
          </a:xfrm>
          <a:prstGeom prst="rect">
            <a:avLst/>
          </a:prstGeom>
          <a:solidFill>
            <a:srgbClr val="00C2CB"/>
          </a:solidFill>
          <a:ln w="12700">
            <a:solidFill>
              <a:srgbClr val="00C2CB"/>
            </a:solidFill>
            <a:prstDash val="solid"/>
          </a:ln>
        </p:spPr>
      </p:sp>
      <p:sp>
        <p:nvSpPr>
          <p:cNvPr id="30" name="Text 28"/>
          <p:cNvSpPr/>
          <p:nvPr/>
        </p:nvSpPr>
        <p:spPr>
          <a:xfrm>
            <a:off x="6565392" y="3127248"/>
            <a:ext cx="5074920" cy="384048"/>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  SQL Born</a:t>
            </a:r>
            <a:endParaRPr lang="en-US" sz="1500" dirty="0"/>
          </a:p>
        </p:txBody>
      </p:sp>
      <p:sp>
        <p:nvSpPr>
          <p:cNvPr id="31" name="Text 29"/>
          <p:cNvSpPr/>
          <p:nvPr/>
        </p:nvSpPr>
        <p:spPr>
          <a:xfrm>
            <a:off x="6565392" y="3529584"/>
            <a:ext cx="5074920" cy="749808"/>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A nonprocedural language: you say WHAT you want, the optimizer decides HOW. Standardized in 1986.</a:t>
            </a:r>
            <a:endParaRPr lang="en-US" sz="1200" dirty="0"/>
          </a:p>
        </p:txBody>
      </p:sp>
      <p:sp>
        <p:nvSpPr>
          <p:cNvPr id="32" name="Shape 30"/>
          <p:cNvSpPr/>
          <p:nvPr/>
        </p:nvSpPr>
        <p:spPr>
          <a:xfrm>
            <a:off x="5989320" y="3529584"/>
            <a:ext cx="256032" cy="256032"/>
          </a:xfrm>
          <a:prstGeom prst="ellipse">
            <a:avLst/>
          </a:prstGeom>
          <a:solidFill>
            <a:srgbClr val="00C2CB"/>
          </a:solidFill>
          <a:ln w="12700">
            <a:solidFill>
              <a:srgbClr val="00C2CB"/>
            </a:solidFill>
            <a:prstDash val="solid"/>
          </a:ln>
        </p:spPr>
      </p:sp>
      <p:sp>
        <p:nvSpPr>
          <p:cNvPr id="33" name="Shape 31"/>
          <p:cNvSpPr/>
          <p:nvPr/>
        </p:nvSpPr>
        <p:spPr>
          <a:xfrm>
            <a:off x="6400800" y="4572000"/>
            <a:ext cx="5349240" cy="1353312"/>
          </a:xfrm>
          <a:prstGeom prst="rect">
            <a:avLst/>
          </a:prstGeom>
          <a:solidFill>
            <a:srgbClr val="FFFFFF"/>
          </a:solidFill>
          <a:ln w="12700">
            <a:solidFill>
              <a:srgbClr val="D1E5F5"/>
            </a:solidFill>
            <a:prstDash val="solid"/>
          </a:ln>
          <a:effectLst>
            <a:outerShdw sx="100000" sy="100000" kx="0" ky="0" algn="bl" rotWithShape="0" blurRad="101600" dist="38100" dir="8100000">
              <a:srgbClr val="000000">
                <a:alpha val="14000"/>
              </a:srgbClr>
            </a:outerShdw>
          </a:effectLst>
        </p:spPr>
      </p:sp>
      <p:sp>
        <p:nvSpPr>
          <p:cNvPr id="34" name="Shape 32"/>
          <p:cNvSpPr/>
          <p:nvPr/>
        </p:nvSpPr>
        <p:spPr>
          <a:xfrm>
            <a:off x="6400800" y="4572000"/>
            <a:ext cx="5349240" cy="54864"/>
          </a:xfrm>
          <a:prstGeom prst="rect">
            <a:avLst/>
          </a:prstGeom>
          <a:solidFill>
            <a:srgbClr val="FFB347"/>
          </a:solidFill>
          <a:ln w="12700">
            <a:solidFill>
              <a:srgbClr val="FFB347"/>
            </a:solidFill>
            <a:prstDash val="solid"/>
          </a:ln>
        </p:spPr>
      </p:sp>
      <p:sp>
        <p:nvSpPr>
          <p:cNvPr id="35" name="Text 33"/>
          <p:cNvSpPr/>
          <p:nvPr/>
        </p:nvSpPr>
        <p:spPr>
          <a:xfrm>
            <a:off x="6565392" y="4681728"/>
            <a:ext cx="5074920" cy="384048"/>
          </a:xfrm>
          <a:prstGeom prst="rect">
            <a:avLst/>
          </a:prstGeom>
          <a:noFill/>
          <a:ln/>
        </p:spPr>
        <p:txBody>
          <a:bodyPr wrap="square" rtlCol="0" anchor="ctr"/>
          <a:lstStyle/>
          <a:p>
            <a:pPr indent="0" marL="0">
              <a:buNone/>
            </a:pPr>
            <a:r>
              <a:rPr lang="en-US" sz="1500" b="1" dirty="0">
                <a:solidFill>
                  <a:srgbClr val="0A0F1E"/>
                </a:solidFill>
                <a:latin typeface="Calibri" pitchFamily="34" charset="0"/>
                <a:ea typeface="Calibri" pitchFamily="34" charset="-122"/>
                <a:cs typeface="Calibri" pitchFamily="34" charset="-120"/>
              </a:rPr>
              <a:t>🏢  Every Company Uses It</a:t>
            </a:r>
            <a:endParaRPr lang="en-US" sz="1500" dirty="0"/>
          </a:p>
        </p:txBody>
      </p:sp>
      <p:sp>
        <p:nvSpPr>
          <p:cNvPr id="36" name="Text 34"/>
          <p:cNvSpPr/>
          <p:nvPr/>
        </p:nvSpPr>
        <p:spPr>
          <a:xfrm>
            <a:off x="6565392" y="5084064"/>
            <a:ext cx="5074920" cy="749808"/>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Flipkart orders, PhonePe payments, IRCTC bookings, Instagram likes — all powered by SQL databases.</a:t>
            </a:r>
            <a:endParaRPr lang="en-US" sz="1200" dirty="0"/>
          </a:p>
        </p:txBody>
      </p:sp>
      <p:sp>
        <p:nvSpPr>
          <p:cNvPr id="37" name="Shape 35"/>
          <p:cNvSpPr/>
          <p:nvPr/>
        </p:nvSpPr>
        <p:spPr>
          <a:xfrm>
            <a:off x="5989320" y="5084064"/>
            <a:ext cx="256032" cy="256032"/>
          </a:xfrm>
          <a:prstGeom prst="ellipse">
            <a:avLst/>
          </a:prstGeom>
          <a:solidFill>
            <a:srgbClr val="FFB347"/>
          </a:solidFill>
          <a:ln w="12700">
            <a:solidFill>
              <a:srgbClr val="FFB347"/>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0C2CB"/>
          </a:solidFill>
          <a:ln w="12700">
            <a:solidFill>
              <a:srgbClr val="00C2CB"/>
            </a:solidFill>
            <a:prstDash val="solid"/>
          </a:ln>
        </p:spPr>
      </p:sp>
      <p:sp>
        <p:nvSpPr>
          <p:cNvPr id="3" name="Text 1"/>
          <p:cNvSpPr/>
          <p:nvPr/>
        </p:nvSpPr>
        <p:spPr>
          <a:xfrm>
            <a:off x="384048" y="320040"/>
            <a:ext cx="7315200" cy="658368"/>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Key Takeaways</a:t>
            </a:r>
            <a:endParaRPr lang="en-US" sz="3600" dirty="0"/>
          </a:p>
        </p:txBody>
      </p:sp>
      <p:sp>
        <p:nvSpPr>
          <p:cNvPr id="4" name="Text 2"/>
          <p:cNvSpPr/>
          <p:nvPr/>
        </p:nvSpPr>
        <p:spPr>
          <a:xfrm>
            <a:off x="384048" y="960120"/>
            <a:ext cx="7315200" cy="347472"/>
          </a:xfrm>
          <a:prstGeom prst="rect">
            <a:avLst/>
          </a:prstGeom>
          <a:noFill/>
          <a:ln/>
        </p:spPr>
        <p:txBody>
          <a:bodyPr wrap="square" rtlCol="0" anchor="ctr"/>
          <a:lstStyle/>
          <a:p>
            <a:pPr indent="0" marL="0">
              <a:buNone/>
            </a:pPr>
            <a:r>
              <a:rPr lang="en-US" sz="1600" i="1" dirty="0">
                <a:solidFill>
                  <a:srgbClr val="00C2CB"/>
                </a:solidFill>
                <a:latin typeface="Calibri" pitchFamily="34" charset="0"/>
                <a:ea typeface="Calibri" pitchFamily="34" charset="-122"/>
                <a:cs typeface="Calibri" pitchFamily="34" charset="-120"/>
              </a:rPr>
              <a:t>Video 1 — Why SQL Exists</a:t>
            </a:r>
            <a:endParaRPr lang="en-US" sz="1600" dirty="0"/>
          </a:p>
        </p:txBody>
      </p:sp>
      <p:sp>
        <p:nvSpPr>
          <p:cNvPr id="5" name="Shape 3"/>
          <p:cNvSpPr/>
          <p:nvPr/>
        </p:nvSpPr>
        <p:spPr>
          <a:xfrm>
            <a:off x="384048" y="1444752"/>
            <a:ext cx="7178040" cy="896112"/>
          </a:xfrm>
          <a:prstGeom prst="rect">
            <a:avLst/>
          </a:prstGeom>
          <a:solidFill>
            <a:srgbClr val="102A4C"/>
          </a:solidFill>
          <a:ln w="12700">
            <a:solidFill>
              <a:srgbClr val="00C2CB"/>
            </a:solidFill>
            <a:prstDash val="solid"/>
          </a:ln>
          <a:effectLst>
            <a:outerShdw sx="100000" sy="100000" kx="0" ky="0" algn="bl" rotWithShape="0" blurRad="101600" dist="38100" dir="8100000">
              <a:srgbClr val="000000">
                <a:alpha val="14000"/>
              </a:srgbClr>
            </a:outerShdw>
          </a:effectLst>
        </p:spPr>
      </p:sp>
      <p:sp>
        <p:nvSpPr>
          <p:cNvPr id="6" name="Shape 4"/>
          <p:cNvSpPr/>
          <p:nvPr/>
        </p:nvSpPr>
        <p:spPr>
          <a:xfrm>
            <a:off x="384048" y="1444752"/>
            <a:ext cx="73152" cy="896112"/>
          </a:xfrm>
          <a:prstGeom prst="rect">
            <a:avLst/>
          </a:prstGeom>
          <a:solidFill>
            <a:srgbClr val="00C2CB"/>
          </a:solidFill>
          <a:ln w="12700">
            <a:solidFill>
              <a:srgbClr val="00C2CB"/>
            </a:solidFill>
            <a:prstDash val="solid"/>
          </a:ln>
        </p:spPr>
      </p:sp>
      <p:sp>
        <p:nvSpPr>
          <p:cNvPr id="7" name="Shape 5"/>
          <p:cNvSpPr/>
          <p:nvPr/>
        </p:nvSpPr>
        <p:spPr>
          <a:xfrm>
            <a:off x="530352" y="1673352"/>
            <a:ext cx="438912" cy="438912"/>
          </a:xfrm>
          <a:prstGeom prst="ellipse">
            <a:avLst/>
          </a:prstGeom>
          <a:solidFill>
            <a:srgbClr val="00C2CB"/>
          </a:solidFill>
          <a:ln w="12700">
            <a:solidFill>
              <a:srgbClr val="00C2CB"/>
            </a:solidFill>
            <a:prstDash val="solid"/>
          </a:ln>
        </p:spPr>
      </p:sp>
      <p:sp>
        <p:nvSpPr>
          <p:cNvPr id="8" name="Text 6"/>
          <p:cNvSpPr/>
          <p:nvPr/>
        </p:nvSpPr>
        <p:spPr>
          <a:xfrm>
            <a:off x="530352" y="1673352"/>
            <a:ext cx="438912" cy="438912"/>
          </a:xfrm>
          <a:prstGeom prst="rect">
            <a:avLst/>
          </a:prstGeom>
          <a:noFill/>
          <a:ln/>
        </p:spPr>
        <p:txBody>
          <a:bodyPr wrap="square" rtlCol="0" anchor="ctr"/>
          <a:lstStyle/>
          <a:p>
            <a:pPr algn="ctr" indent="0" marL="0">
              <a:buNone/>
            </a:pPr>
            <a:r>
              <a:rPr lang="en-US" sz="1500" b="1" dirty="0">
                <a:solidFill>
                  <a:srgbClr val="0A0F1E"/>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115568" y="1499616"/>
            <a:ext cx="6309360" cy="347472"/>
          </a:xfrm>
          <a:prstGeom prst="rect">
            <a:avLst/>
          </a:prstGeom>
          <a:noFill/>
          <a:ln/>
        </p:spPr>
        <p:txBody>
          <a:bodyPr wrap="square" rtlCol="0" anchor="ctr"/>
          <a:lstStyle/>
          <a:p>
            <a:pPr indent="0" marL="0">
              <a:buNone/>
            </a:pPr>
            <a:r>
              <a:rPr lang="en-US" sz="1400" b="1" dirty="0">
                <a:solidFill>
                  <a:srgbClr val="00C2CB"/>
                </a:solidFill>
                <a:latin typeface="Calibri" pitchFamily="34" charset="0"/>
                <a:ea typeface="Calibri" pitchFamily="34" charset="-122"/>
                <a:cs typeface="Calibri" pitchFamily="34" charset="-120"/>
              </a:rPr>
              <a:t>A database is just organised information</a:t>
            </a:r>
            <a:endParaRPr lang="en-US" sz="1400" dirty="0"/>
          </a:p>
        </p:txBody>
      </p:sp>
      <p:sp>
        <p:nvSpPr>
          <p:cNvPr id="10" name="Text 8"/>
          <p:cNvSpPr/>
          <p:nvPr/>
        </p:nvSpPr>
        <p:spPr>
          <a:xfrm>
            <a:off x="1115568" y="1883664"/>
            <a:ext cx="6309360" cy="402336"/>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Phone books, filing cabinets, library catalogues — all databases. Computers make them fast, multi-indexed, and always up-to-date.</a:t>
            </a:r>
            <a:endParaRPr lang="en-US" sz="1150" dirty="0"/>
          </a:p>
        </p:txBody>
      </p:sp>
      <p:sp>
        <p:nvSpPr>
          <p:cNvPr id="11" name="Shape 9"/>
          <p:cNvSpPr/>
          <p:nvPr/>
        </p:nvSpPr>
        <p:spPr>
          <a:xfrm>
            <a:off x="384048" y="2450592"/>
            <a:ext cx="7178040" cy="896112"/>
          </a:xfrm>
          <a:prstGeom prst="rect">
            <a:avLst/>
          </a:prstGeom>
          <a:solidFill>
            <a:srgbClr val="102A4C"/>
          </a:solidFill>
          <a:ln w="12700">
            <a:solidFill>
              <a:srgbClr val="38B2F0"/>
            </a:solidFill>
            <a:prstDash val="solid"/>
          </a:ln>
          <a:effectLst>
            <a:outerShdw sx="100000" sy="100000" kx="0" ky="0" algn="bl" rotWithShape="0" blurRad="101600" dist="38100" dir="8100000">
              <a:srgbClr val="000000">
                <a:alpha val="14000"/>
              </a:srgbClr>
            </a:outerShdw>
          </a:effectLst>
        </p:spPr>
      </p:sp>
      <p:sp>
        <p:nvSpPr>
          <p:cNvPr id="12" name="Shape 10"/>
          <p:cNvSpPr/>
          <p:nvPr/>
        </p:nvSpPr>
        <p:spPr>
          <a:xfrm>
            <a:off x="384048" y="2450592"/>
            <a:ext cx="73152" cy="896112"/>
          </a:xfrm>
          <a:prstGeom prst="rect">
            <a:avLst/>
          </a:prstGeom>
          <a:solidFill>
            <a:srgbClr val="38B2F0"/>
          </a:solidFill>
          <a:ln w="12700">
            <a:solidFill>
              <a:srgbClr val="38B2F0"/>
            </a:solidFill>
            <a:prstDash val="solid"/>
          </a:ln>
        </p:spPr>
      </p:sp>
      <p:sp>
        <p:nvSpPr>
          <p:cNvPr id="13" name="Shape 11"/>
          <p:cNvSpPr/>
          <p:nvPr/>
        </p:nvSpPr>
        <p:spPr>
          <a:xfrm>
            <a:off x="530352" y="2679192"/>
            <a:ext cx="438912" cy="438912"/>
          </a:xfrm>
          <a:prstGeom prst="ellipse">
            <a:avLst/>
          </a:prstGeom>
          <a:solidFill>
            <a:srgbClr val="38B2F0"/>
          </a:solidFill>
          <a:ln w="12700">
            <a:solidFill>
              <a:srgbClr val="38B2F0"/>
            </a:solidFill>
            <a:prstDash val="solid"/>
          </a:ln>
        </p:spPr>
      </p:sp>
      <p:sp>
        <p:nvSpPr>
          <p:cNvPr id="14" name="Text 12"/>
          <p:cNvSpPr/>
          <p:nvPr/>
        </p:nvSpPr>
        <p:spPr>
          <a:xfrm>
            <a:off x="530352" y="2679192"/>
            <a:ext cx="438912" cy="438912"/>
          </a:xfrm>
          <a:prstGeom prst="rect">
            <a:avLst/>
          </a:prstGeom>
          <a:noFill/>
          <a:ln/>
        </p:spPr>
        <p:txBody>
          <a:bodyPr wrap="square" rtlCol="0" anchor="ctr"/>
          <a:lstStyle/>
          <a:p>
            <a:pPr algn="ctr" indent="0" marL="0">
              <a:buNone/>
            </a:pPr>
            <a:r>
              <a:rPr lang="en-US" sz="1500" b="1" dirty="0">
                <a:solidFill>
                  <a:srgbClr val="0A0F1E"/>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1115568" y="2505456"/>
            <a:ext cx="6309360" cy="347472"/>
          </a:xfrm>
          <a:prstGeom prst="rect">
            <a:avLst/>
          </a:prstGeom>
          <a:noFill/>
          <a:ln/>
        </p:spPr>
        <p:txBody>
          <a:bodyPr wrap="square" rtlCol="0" anchor="ctr"/>
          <a:lstStyle/>
          <a:p>
            <a:pPr indent="0" marL="0">
              <a:buNone/>
            </a:pPr>
            <a:r>
              <a:rPr lang="en-US" sz="1400" b="1" dirty="0">
                <a:solidFill>
                  <a:srgbClr val="38B2F0"/>
                </a:solidFill>
                <a:latin typeface="Calibri" pitchFamily="34" charset="0"/>
                <a:ea typeface="Calibri" pitchFamily="34" charset="-122"/>
                <a:cs typeface="Calibri" pitchFamily="34" charset="-120"/>
              </a:rPr>
              <a:t>Manual systems break at 3 points</a:t>
            </a:r>
            <a:endParaRPr lang="en-US" sz="1400" dirty="0"/>
          </a:p>
        </p:txBody>
      </p:sp>
      <p:sp>
        <p:nvSpPr>
          <p:cNvPr id="16" name="Text 14"/>
          <p:cNvSpPr/>
          <p:nvPr/>
        </p:nvSpPr>
        <p:spPr>
          <a:xfrm>
            <a:off x="1115568" y="2889504"/>
            <a:ext cx="6309360" cy="402336"/>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Search speed, single-axis indexing, and instant staleness. Every computerised database system was built to fix exactly these three problems.</a:t>
            </a:r>
            <a:endParaRPr lang="en-US" sz="1150" dirty="0"/>
          </a:p>
        </p:txBody>
      </p:sp>
      <p:sp>
        <p:nvSpPr>
          <p:cNvPr id="17" name="Shape 15"/>
          <p:cNvSpPr/>
          <p:nvPr/>
        </p:nvSpPr>
        <p:spPr>
          <a:xfrm>
            <a:off x="384048" y="3456432"/>
            <a:ext cx="7178040" cy="896112"/>
          </a:xfrm>
          <a:prstGeom prst="rect">
            <a:avLst/>
          </a:prstGeom>
          <a:solidFill>
            <a:srgbClr val="102A4C"/>
          </a:solidFill>
          <a:ln w="12700">
            <a:solidFill>
              <a:srgbClr val="FFB347"/>
            </a:solidFill>
            <a:prstDash val="solid"/>
          </a:ln>
          <a:effectLst>
            <a:outerShdw sx="100000" sy="100000" kx="0" ky="0" algn="bl" rotWithShape="0" blurRad="101600" dist="38100" dir="8100000">
              <a:srgbClr val="000000">
                <a:alpha val="14000"/>
              </a:srgbClr>
            </a:outerShdw>
          </a:effectLst>
        </p:spPr>
      </p:sp>
      <p:sp>
        <p:nvSpPr>
          <p:cNvPr id="18" name="Shape 16"/>
          <p:cNvSpPr/>
          <p:nvPr/>
        </p:nvSpPr>
        <p:spPr>
          <a:xfrm>
            <a:off x="384048" y="3456432"/>
            <a:ext cx="73152" cy="896112"/>
          </a:xfrm>
          <a:prstGeom prst="rect">
            <a:avLst/>
          </a:prstGeom>
          <a:solidFill>
            <a:srgbClr val="FFB347"/>
          </a:solidFill>
          <a:ln w="12700">
            <a:solidFill>
              <a:srgbClr val="FFB347"/>
            </a:solidFill>
            <a:prstDash val="solid"/>
          </a:ln>
        </p:spPr>
      </p:sp>
      <p:sp>
        <p:nvSpPr>
          <p:cNvPr id="19" name="Shape 17"/>
          <p:cNvSpPr/>
          <p:nvPr/>
        </p:nvSpPr>
        <p:spPr>
          <a:xfrm>
            <a:off x="530352" y="3685032"/>
            <a:ext cx="438912" cy="438912"/>
          </a:xfrm>
          <a:prstGeom prst="ellipse">
            <a:avLst/>
          </a:prstGeom>
          <a:solidFill>
            <a:srgbClr val="FFB347"/>
          </a:solidFill>
          <a:ln w="12700">
            <a:solidFill>
              <a:srgbClr val="FFB347"/>
            </a:solidFill>
            <a:prstDash val="solid"/>
          </a:ln>
        </p:spPr>
      </p:sp>
      <p:sp>
        <p:nvSpPr>
          <p:cNvPr id="20" name="Text 18"/>
          <p:cNvSpPr/>
          <p:nvPr/>
        </p:nvSpPr>
        <p:spPr>
          <a:xfrm>
            <a:off x="530352" y="3685032"/>
            <a:ext cx="438912" cy="438912"/>
          </a:xfrm>
          <a:prstGeom prst="rect">
            <a:avLst/>
          </a:prstGeom>
          <a:noFill/>
          <a:ln/>
        </p:spPr>
        <p:txBody>
          <a:bodyPr wrap="square" rtlCol="0" anchor="ctr"/>
          <a:lstStyle/>
          <a:p>
            <a:pPr algn="ctr" indent="0" marL="0">
              <a:buNone/>
            </a:pPr>
            <a:r>
              <a:rPr lang="en-US" sz="1500" b="1" dirty="0">
                <a:solidFill>
                  <a:srgbClr val="0A0F1E"/>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1115568" y="3511296"/>
            <a:ext cx="6309360" cy="347472"/>
          </a:xfrm>
          <a:prstGeom prst="rect">
            <a:avLst/>
          </a:prstGeom>
          <a:noFill/>
          <a:ln/>
        </p:spPr>
        <p:txBody>
          <a:bodyPr wrap="square" rtlCol="0" anchor="ctr"/>
          <a:lstStyle/>
          <a:p>
            <a:pPr indent="0" marL="0">
              <a:buNone/>
            </a:pPr>
            <a:r>
              <a:rPr lang="en-US" sz="1400" b="1" dirty="0">
                <a:solidFill>
                  <a:srgbClr val="FFB347"/>
                </a:solidFill>
                <a:latin typeface="Calibri" pitchFamily="34" charset="0"/>
                <a:ea typeface="Calibri" pitchFamily="34" charset="-122"/>
                <a:cs typeface="Calibri" pitchFamily="34" charset="-120"/>
              </a:rPr>
              <a:t>The relational model is 50+ years old and still winning</a:t>
            </a:r>
            <a:endParaRPr lang="en-US" sz="1400" dirty="0"/>
          </a:p>
        </p:txBody>
      </p:sp>
      <p:sp>
        <p:nvSpPr>
          <p:cNvPr id="22" name="Text 20"/>
          <p:cNvSpPr/>
          <p:nvPr/>
        </p:nvSpPr>
        <p:spPr>
          <a:xfrm>
            <a:off x="1115568" y="3895344"/>
            <a:ext cx="6309360" cy="402336"/>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Dr. Codd's 1970 idea — tables linked by shared column values — is still the architecture behind every major database you'll work with.</a:t>
            </a:r>
            <a:endParaRPr lang="en-US" sz="1150" dirty="0"/>
          </a:p>
        </p:txBody>
      </p:sp>
      <p:sp>
        <p:nvSpPr>
          <p:cNvPr id="23" name="Shape 21"/>
          <p:cNvSpPr/>
          <p:nvPr/>
        </p:nvSpPr>
        <p:spPr>
          <a:xfrm>
            <a:off x="384048" y="4462272"/>
            <a:ext cx="7178040" cy="896112"/>
          </a:xfrm>
          <a:prstGeom prst="rect">
            <a:avLst/>
          </a:prstGeom>
          <a:solidFill>
            <a:srgbClr val="102A4C"/>
          </a:solidFill>
          <a:ln w="12700">
            <a:solidFill>
              <a:srgbClr val="52E3A3"/>
            </a:solidFill>
            <a:prstDash val="solid"/>
          </a:ln>
          <a:effectLst>
            <a:outerShdw sx="100000" sy="100000" kx="0" ky="0" algn="bl" rotWithShape="0" blurRad="101600" dist="38100" dir="8100000">
              <a:srgbClr val="000000">
                <a:alpha val="14000"/>
              </a:srgbClr>
            </a:outerShdw>
          </a:effectLst>
        </p:spPr>
      </p:sp>
      <p:sp>
        <p:nvSpPr>
          <p:cNvPr id="24" name="Shape 22"/>
          <p:cNvSpPr/>
          <p:nvPr/>
        </p:nvSpPr>
        <p:spPr>
          <a:xfrm>
            <a:off x="384048" y="4462272"/>
            <a:ext cx="73152" cy="896112"/>
          </a:xfrm>
          <a:prstGeom prst="rect">
            <a:avLst/>
          </a:prstGeom>
          <a:solidFill>
            <a:srgbClr val="52E3A3"/>
          </a:solidFill>
          <a:ln w="12700">
            <a:solidFill>
              <a:srgbClr val="52E3A3"/>
            </a:solidFill>
            <a:prstDash val="solid"/>
          </a:ln>
        </p:spPr>
      </p:sp>
      <p:sp>
        <p:nvSpPr>
          <p:cNvPr id="25" name="Shape 23"/>
          <p:cNvSpPr/>
          <p:nvPr/>
        </p:nvSpPr>
        <p:spPr>
          <a:xfrm>
            <a:off x="530352" y="4690872"/>
            <a:ext cx="438912" cy="438912"/>
          </a:xfrm>
          <a:prstGeom prst="ellipse">
            <a:avLst/>
          </a:prstGeom>
          <a:solidFill>
            <a:srgbClr val="52E3A3"/>
          </a:solidFill>
          <a:ln w="12700">
            <a:solidFill>
              <a:srgbClr val="52E3A3"/>
            </a:solidFill>
            <a:prstDash val="solid"/>
          </a:ln>
        </p:spPr>
      </p:sp>
      <p:sp>
        <p:nvSpPr>
          <p:cNvPr id="26" name="Text 24"/>
          <p:cNvSpPr/>
          <p:nvPr/>
        </p:nvSpPr>
        <p:spPr>
          <a:xfrm>
            <a:off x="530352" y="4690872"/>
            <a:ext cx="438912" cy="438912"/>
          </a:xfrm>
          <a:prstGeom prst="rect">
            <a:avLst/>
          </a:prstGeom>
          <a:noFill/>
          <a:ln/>
        </p:spPr>
        <p:txBody>
          <a:bodyPr wrap="square" rtlCol="0" anchor="ctr"/>
          <a:lstStyle/>
          <a:p>
            <a:pPr algn="ctr" indent="0" marL="0">
              <a:buNone/>
            </a:pPr>
            <a:r>
              <a:rPr lang="en-US" sz="1500" b="1" dirty="0">
                <a:solidFill>
                  <a:srgbClr val="0A0F1E"/>
                </a:solidFill>
                <a:latin typeface="Calibri" pitchFamily="34" charset="0"/>
                <a:ea typeface="Calibri" pitchFamily="34" charset="-122"/>
                <a:cs typeface="Calibri" pitchFamily="34" charset="-120"/>
              </a:rPr>
              <a:t>4</a:t>
            </a:r>
            <a:endParaRPr lang="en-US" sz="1500" dirty="0"/>
          </a:p>
        </p:txBody>
      </p:sp>
      <p:sp>
        <p:nvSpPr>
          <p:cNvPr id="27" name="Text 25"/>
          <p:cNvSpPr/>
          <p:nvPr/>
        </p:nvSpPr>
        <p:spPr>
          <a:xfrm>
            <a:off x="1115568" y="4517136"/>
            <a:ext cx="6309360" cy="347472"/>
          </a:xfrm>
          <a:prstGeom prst="rect">
            <a:avLst/>
          </a:prstGeom>
          <a:noFill/>
          <a:ln/>
        </p:spPr>
        <p:txBody>
          <a:bodyPr wrap="square" rtlCol="0" anchor="ctr"/>
          <a:lstStyle/>
          <a:p>
            <a:pPr indent="0" marL="0">
              <a:buNone/>
            </a:pPr>
            <a:r>
              <a:rPr lang="en-US" sz="1400" b="1" dirty="0">
                <a:solidFill>
                  <a:srgbClr val="52E3A3"/>
                </a:solidFill>
                <a:latin typeface="Calibri" pitchFamily="34" charset="0"/>
                <a:ea typeface="Calibri" pitchFamily="34" charset="-122"/>
                <a:cs typeface="Calibri" pitchFamily="34" charset="-120"/>
              </a:rPr>
              <a:t>SQL says WHAT, not HOW</a:t>
            </a:r>
            <a:endParaRPr lang="en-US" sz="1400" dirty="0"/>
          </a:p>
        </p:txBody>
      </p:sp>
      <p:sp>
        <p:nvSpPr>
          <p:cNvPr id="28" name="Text 26"/>
          <p:cNvSpPr/>
          <p:nvPr/>
        </p:nvSpPr>
        <p:spPr>
          <a:xfrm>
            <a:off x="1115568" y="4901184"/>
            <a:ext cx="6309360" cy="402336"/>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You describe the result. The optimizer finds the path. This is what makes SQL readable, portable, and powerful — even for non-programmers.</a:t>
            </a:r>
            <a:endParaRPr lang="en-US" sz="1150" dirty="0"/>
          </a:p>
        </p:txBody>
      </p:sp>
      <p:sp>
        <p:nvSpPr>
          <p:cNvPr id="29" name="Shape 27"/>
          <p:cNvSpPr/>
          <p:nvPr/>
        </p:nvSpPr>
        <p:spPr>
          <a:xfrm>
            <a:off x="384048" y="5468112"/>
            <a:ext cx="7178040" cy="896112"/>
          </a:xfrm>
          <a:prstGeom prst="rect">
            <a:avLst/>
          </a:prstGeom>
          <a:solidFill>
            <a:srgbClr val="102A4C"/>
          </a:solidFill>
          <a:ln w="12700">
            <a:solidFill>
              <a:srgbClr val="FF6B6B"/>
            </a:solidFill>
            <a:prstDash val="solid"/>
          </a:ln>
          <a:effectLst>
            <a:outerShdw sx="100000" sy="100000" kx="0" ky="0" algn="bl" rotWithShape="0" blurRad="101600" dist="38100" dir="8100000">
              <a:srgbClr val="000000">
                <a:alpha val="14000"/>
              </a:srgbClr>
            </a:outerShdw>
          </a:effectLst>
        </p:spPr>
      </p:sp>
      <p:sp>
        <p:nvSpPr>
          <p:cNvPr id="30" name="Shape 28"/>
          <p:cNvSpPr/>
          <p:nvPr/>
        </p:nvSpPr>
        <p:spPr>
          <a:xfrm>
            <a:off x="384048" y="5468112"/>
            <a:ext cx="73152" cy="896112"/>
          </a:xfrm>
          <a:prstGeom prst="rect">
            <a:avLst/>
          </a:prstGeom>
          <a:solidFill>
            <a:srgbClr val="FF6B6B"/>
          </a:solidFill>
          <a:ln w="12700">
            <a:solidFill>
              <a:srgbClr val="FF6B6B"/>
            </a:solidFill>
            <a:prstDash val="solid"/>
          </a:ln>
        </p:spPr>
      </p:sp>
      <p:sp>
        <p:nvSpPr>
          <p:cNvPr id="31" name="Shape 29"/>
          <p:cNvSpPr/>
          <p:nvPr/>
        </p:nvSpPr>
        <p:spPr>
          <a:xfrm>
            <a:off x="530352" y="5696712"/>
            <a:ext cx="438912" cy="438912"/>
          </a:xfrm>
          <a:prstGeom prst="ellipse">
            <a:avLst/>
          </a:prstGeom>
          <a:solidFill>
            <a:srgbClr val="FF6B6B"/>
          </a:solidFill>
          <a:ln w="12700">
            <a:solidFill>
              <a:srgbClr val="FF6B6B"/>
            </a:solidFill>
            <a:prstDash val="solid"/>
          </a:ln>
        </p:spPr>
      </p:sp>
      <p:sp>
        <p:nvSpPr>
          <p:cNvPr id="32" name="Text 30"/>
          <p:cNvSpPr/>
          <p:nvPr/>
        </p:nvSpPr>
        <p:spPr>
          <a:xfrm>
            <a:off x="530352" y="5696712"/>
            <a:ext cx="438912" cy="438912"/>
          </a:xfrm>
          <a:prstGeom prst="rect">
            <a:avLst/>
          </a:prstGeom>
          <a:noFill/>
          <a:ln/>
        </p:spPr>
        <p:txBody>
          <a:bodyPr wrap="square" rtlCol="0" anchor="ctr"/>
          <a:lstStyle/>
          <a:p>
            <a:pPr algn="ctr" indent="0" marL="0">
              <a:buNone/>
            </a:pPr>
            <a:r>
              <a:rPr lang="en-US" sz="1500" b="1" dirty="0">
                <a:solidFill>
                  <a:srgbClr val="0A0F1E"/>
                </a:solidFill>
                <a:latin typeface="Calibri" pitchFamily="34" charset="0"/>
                <a:ea typeface="Calibri" pitchFamily="34" charset="-122"/>
                <a:cs typeface="Calibri" pitchFamily="34" charset="-120"/>
              </a:rPr>
              <a:t>5</a:t>
            </a:r>
            <a:endParaRPr lang="en-US" sz="1500" dirty="0"/>
          </a:p>
        </p:txBody>
      </p:sp>
      <p:sp>
        <p:nvSpPr>
          <p:cNvPr id="33" name="Text 31"/>
          <p:cNvSpPr/>
          <p:nvPr/>
        </p:nvSpPr>
        <p:spPr>
          <a:xfrm>
            <a:off x="1115568" y="5522976"/>
            <a:ext cx="6309360" cy="347472"/>
          </a:xfrm>
          <a:prstGeom prst="rect">
            <a:avLst/>
          </a:prstGeom>
          <a:noFill/>
          <a:ln/>
        </p:spPr>
        <p:txBody>
          <a:bodyPr wrap="square" rtlCol="0" anchor="ctr"/>
          <a:lstStyle/>
          <a:p>
            <a:pPr indent="0" marL="0">
              <a:buNone/>
            </a:pPr>
            <a:r>
              <a:rPr lang="en-US" sz="1400" b="1" dirty="0">
                <a:solidFill>
                  <a:srgbClr val="FF6B6B"/>
                </a:solidFill>
                <a:latin typeface="Calibri" pitchFamily="34" charset="0"/>
                <a:ea typeface="Calibri" pitchFamily="34" charset="-122"/>
                <a:cs typeface="Calibri" pitchFamily="34" charset="-120"/>
              </a:rPr>
              <a:t>Every app you use runs on a database</a:t>
            </a:r>
            <a:endParaRPr lang="en-US" sz="1400" dirty="0"/>
          </a:p>
        </p:txBody>
      </p:sp>
      <p:sp>
        <p:nvSpPr>
          <p:cNvPr id="34" name="Text 32"/>
          <p:cNvSpPr/>
          <p:nvPr/>
        </p:nvSpPr>
        <p:spPr>
          <a:xfrm>
            <a:off x="1115568" y="5907024"/>
            <a:ext cx="6309360" cy="402336"/>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Zomato, PhonePe, IRCTC, Instagram — behind every tap and swipe is a SELECT, INSERT, UPDATE or DELETE firing in milliseconds.</a:t>
            </a:r>
            <a:endParaRPr lang="en-US" sz="1150" dirty="0"/>
          </a:p>
        </p:txBody>
      </p:sp>
      <p:sp>
        <p:nvSpPr>
          <p:cNvPr id="35" name="Shape 33"/>
          <p:cNvSpPr/>
          <p:nvPr/>
        </p:nvSpPr>
        <p:spPr>
          <a:xfrm>
            <a:off x="7863840" y="1444752"/>
            <a:ext cx="3913632" cy="5029200"/>
          </a:xfrm>
          <a:prstGeom prst="rect">
            <a:avLst/>
          </a:prstGeom>
          <a:solidFill>
            <a:srgbClr val="102A4C"/>
          </a:solidFill>
          <a:ln w="12700">
            <a:solidFill>
              <a:srgbClr val="00C2CB"/>
            </a:solidFill>
            <a:prstDash val="solid"/>
          </a:ln>
          <a:effectLst>
            <a:outerShdw sx="100000" sy="100000" kx="0" ky="0" algn="bl" rotWithShape="0" blurRad="101600" dist="38100" dir="8100000">
              <a:srgbClr val="000000">
                <a:alpha val="14000"/>
              </a:srgbClr>
            </a:outerShdw>
          </a:effectLst>
        </p:spPr>
      </p:sp>
      <p:sp>
        <p:nvSpPr>
          <p:cNvPr id="36" name="Shape 34"/>
          <p:cNvSpPr/>
          <p:nvPr/>
        </p:nvSpPr>
        <p:spPr>
          <a:xfrm>
            <a:off x="7863840" y="1444752"/>
            <a:ext cx="3913632" cy="54864"/>
          </a:xfrm>
          <a:prstGeom prst="rect">
            <a:avLst/>
          </a:prstGeom>
          <a:solidFill>
            <a:srgbClr val="00C2CB"/>
          </a:solidFill>
          <a:ln w="12700">
            <a:solidFill>
              <a:srgbClr val="00C2CB"/>
            </a:solidFill>
            <a:prstDash val="solid"/>
          </a:ln>
        </p:spPr>
      </p:sp>
      <p:sp>
        <p:nvSpPr>
          <p:cNvPr id="37" name="Text 35"/>
          <p:cNvSpPr/>
          <p:nvPr/>
        </p:nvSpPr>
        <p:spPr>
          <a:xfrm>
            <a:off x="8046720" y="1572768"/>
            <a:ext cx="3547872" cy="438912"/>
          </a:xfrm>
          <a:prstGeom prst="rect">
            <a:avLst/>
          </a:prstGeom>
          <a:noFill/>
          <a:ln/>
        </p:spPr>
        <p:txBody>
          <a:bodyPr wrap="square" rtlCol="0" anchor="ctr"/>
          <a:lstStyle/>
          <a:p>
            <a:pPr indent="0" marL="0">
              <a:buNone/>
            </a:pPr>
            <a:r>
              <a:rPr lang="en-US" sz="1700" b="1" dirty="0">
                <a:solidFill>
                  <a:srgbClr val="00C2CB"/>
                </a:solidFill>
                <a:latin typeface="Calibri" pitchFamily="34" charset="0"/>
                <a:ea typeface="Calibri" pitchFamily="34" charset="-122"/>
                <a:cs typeface="Calibri" pitchFamily="34" charset="-120"/>
              </a:rPr>
              <a:t>▶  Next Up</a:t>
            </a:r>
            <a:endParaRPr lang="en-US" sz="1700" dirty="0"/>
          </a:p>
        </p:txBody>
      </p:sp>
      <p:sp>
        <p:nvSpPr>
          <p:cNvPr id="38" name="Text 36"/>
          <p:cNvSpPr/>
          <p:nvPr/>
        </p:nvSpPr>
        <p:spPr>
          <a:xfrm>
            <a:off x="8046720" y="2029968"/>
            <a:ext cx="3547872" cy="47548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Video 2</a:t>
            </a:r>
            <a:endParaRPr lang="en-US" sz="2400" dirty="0"/>
          </a:p>
        </p:txBody>
      </p:sp>
      <p:sp>
        <p:nvSpPr>
          <p:cNvPr id="39" name="Text 37"/>
          <p:cNvSpPr/>
          <p:nvPr/>
        </p:nvSpPr>
        <p:spPr>
          <a:xfrm>
            <a:off x="8046720" y="2542032"/>
            <a:ext cx="3547872" cy="566928"/>
          </a:xfrm>
          <a:prstGeom prst="rect">
            <a:avLst/>
          </a:prstGeom>
          <a:noFill/>
          <a:ln/>
        </p:spPr>
        <p:txBody>
          <a:bodyPr wrap="square" rtlCol="0" anchor="ctr"/>
          <a:lstStyle/>
          <a:p>
            <a:pPr indent="0" marL="0">
              <a:buNone/>
            </a:pPr>
            <a:r>
              <a:rPr lang="en-US" sz="1500" dirty="0">
                <a:solidFill>
                  <a:srgbClr val="CBD5E1"/>
                </a:solidFill>
                <a:latin typeface="Calibri" pitchFamily="34" charset="0"/>
                <a:ea typeface="Calibri" pitchFamily="34" charset="-122"/>
                <a:cs typeface="Calibri" pitchFamily="34" charset="-120"/>
              </a:rPr>
              <a:t>Creating Your First Database &amp; Table</a:t>
            </a:r>
            <a:endParaRPr lang="en-US" sz="1500" dirty="0"/>
          </a:p>
        </p:txBody>
      </p:sp>
      <p:sp>
        <p:nvSpPr>
          <p:cNvPr id="40" name="Shape 38"/>
          <p:cNvSpPr/>
          <p:nvPr/>
        </p:nvSpPr>
        <p:spPr>
          <a:xfrm>
            <a:off x="8046720" y="3200400"/>
            <a:ext cx="3520440" cy="0"/>
          </a:xfrm>
          <a:prstGeom prst="line">
            <a:avLst/>
          </a:prstGeom>
          <a:noFill/>
          <a:ln w="12700">
            <a:solidFill>
              <a:srgbClr val="1E3A5F"/>
            </a:solidFill>
            <a:prstDash val="solid"/>
          </a:ln>
        </p:spPr>
      </p:sp>
      <p:sp>
        <p:nvSpPr>
          <p:cNvPr id="41" name="Shape 39"/>
          <p:cNvSpPr/>
          <p:nvPr/>
        </p:nvSpPr>
        <p:spPr>
          <a:xfrm>
            <a:off x="8065008" y="3310128"/>
            <a:ext cx="201168" cy="201168"/>
          </a:xfrm>
          <a:prstGeom prst="ellipse">
            <a:avLst/>
          </a:prstGeom>
          <a:solidFill>
            <a:srgbClr val="00C2CB"/>
          </a:solidFill>
          <a:ln w="12700">
            <a:solidFill>
              <a:srgbClr val="00C2CB"/>
            </a:solidFill>
            <a:prstDash val="solid"/>
          </a:ln>
        </p:spPr>
      </p:sp>
      <p:sp>
        <p:nvSpPr>
          <p:cNvPr id="42" name="Text 40"/>
          <p:cNvSpPr/>
          <p:nvPr/>
        </p:nvSpPr>
        <p:spPr>
          <a:xfrm>
            <a:off x="8357616" y="3273552"/>
            <a:ext cx="3246120" cy="292608"/>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CREATE TABLE syntax</a:t>
            </a:r>
            <a:endParaRPr lang="en-US" sz="1300" dirty="0"/>
          </a:p>
        </p:txBody>
      </p:sp>
      <p:sp>
        <p:nvSpPr>
          <p:cNvPr id="43" name="Shape 41"/>
          <p:cNvSpPr/>
          <p:nvPr/>
        </p:nvSpPr>
        <p:spPr>
          <a:xfrm>
            <a:off x="8065008" y="3822192"/>
            <a:ext cx="201168" cy="201168"/>
          </a:xfrm>
          <a:prstGeom prst="ellipse">
            <a:avLst/>
          </a:prstGeom>
          <a:solidFill>
            <a:srgbClr val="00C2CB"/>
          </a:solidFill>
          <a:ln w="12700">
            <a:solidFill>
              <a:srgbClr val="00C2CB"/>
            </a:solidFill>
            <a:prstDash val="solid"/>
          </a:ln>
        </p:spPr>
      </p:sp>
      <p:sp>
        <p:nvSpPr>
          <p:cNvPr id="44" name="Text 42"/>
          <p:cNvSpPr/>
          <p:nvPr/>
        </p:nvSpPr>
        <p:spPr>
          <a:xfrm>
            <a:off x="8357616" y="3785616"/>
            <a:ext cx="3246120" cy="292608"/>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Data types (INT, VARCHAR, DATE…)</a:t>
            </a:r>
            <a:endParaRPr lang="en-US" sz="1300" dirty="0"/>
          </a:p>
        </p:txBody>
      </p:sp>
      <p:sp>
        <p:nvSpPr>
          <p:cNvPr id="45" name="Shape 43"/>
          <p:cNvSpPr/>
          <p:nvPr/>
        </p:nvSpPr>
        <p:spPr>
          <a:xfrm>
            <a:off x="8065008" y="4334256"/>
            <a:ext cx="201168" cy="201168"/>
          </a:xfrm>
          <a:prstGeom prst="ellipse">
            <a:avLst/>
          </a:prstGeom>
          <a:solidFill>
            <a:srgbClr val="00C2CB"/>
          </a:solidFill>
          <a:ln w="12700">
            <a:solidFill>
              <a:srgbClr val="00C2CB"/>
            </a:solidFill>
            <a:prstDash val="solid"/>
          </a:ln>
        </p:spPr>
      </p:sp>
      <p:sp>
        <p:nvSpPr>
          <p:cNvPr id="46" name="Text 44"/>
          <p:cNvSpPr/>
          <p:nvPr/>
        </p:nvSpPr>
        <p:spPr>
          <a:xfrm>
            <a:off x="8357616" y="4297680"/>
            <a:ext cx="3246120" cy="292608"/>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Primary key constraints</a:t>
            </a:r>
            <a:endParaRPr lang="en-US" sz="1300" dirty="0"/>
          </a:p>
        </p:txBody>
      </p:sp>
      <p:sp>
        <p:nvSpPr>
          <p:cNvPr id="47" name="Shape 45"/>
          <p:cNvSpPr/>
          <p:nvPr/>
        </p:nvSpPr>
        <p:spPr>
          <a:xfrm>
            <a:off x="8065008" y="4846320"/>
            <a:ext cx="201168" cy="201168"/>
          </a:xfrm>
          <a:prstGeom prst="ellipse">
            <a:avLst/>
          </a:prstGeom>
          <a:solidFill>
            <a:srgbClr val="00C2CB"/>
          </a:solidFill>
          <a:ln w="12700">
            <a:solidFill>
              <a:srgbClr val="00C2CB"/>
            </a:solidFill>
            <a:prstDash val="solid"/>
          </a:ln>
        </p:spPr>
      </p:sp>
      <p:sp>
        <p:nvSpPr>
          <p:cNvPr id="48" name="Text 46"/>
          <p:cNvSpPr/>
          <p:nvPr/>
        </p:nvSpPr>
        <p:spPr>
          <a:xfrm>
            <a:off x="8357616" y="4809744"/>
            <a:ext cx="3246120" cy="292608"/>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Your first INSERT &amp; SELECT</a:t>
            </a:r>
            <a:endParaRPr lang="en-US" sz="1300" dirty="0"/>
          </a:p>
        </p:txBody>
      </p:sp>
      <p:sp>
        <p:nvSpPr>
          <p:cNvPr id="49" name="Shape 47"/>
          <p:cNvSpPr/>
          <p:nvPr/>
        </p:nvSpPr>
        <p:spPr>
          <a:xfrm>
            <a:off x="8065008" y="5358384"/>
            <a:ext cx="201168" cy="201168"/>
          </a:xfrm>
          <a:prstGeom prst="ellipse">
            <a:avLst/>
          </a:prstGeom>
          <a:solidFill>
            <a:srgbClr val="00C2CB"/>
          </a:solidFill>
          <a:ln w="12700">
            <a:solidFill>
              <a:srgbClr val="00C2CB"/>
            </a:solidFill>
            <a:prstDash val="solid"/>
          </a:ln>
        </p:spPr>
      </p:sp>
      <p:sp>
        <p:nvSpPr>
          <p:cNvPr id="50" name="Text 48"/>
          <p:cNvSpPr/>
          <p:nvPr/>
        </p:nvSpPr>
        <p:spPr>
          <a:xfrm>
            <a:off x="8357616" y="5321808"/>
            <a:ext cx="3246120" cy="292608"/>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Setting up MySQL locally</a:t>
            </a:r>
            <a:endParaRPr lang="en-US" sz="1300" dirty="0"/>
          </a:p>
        </p:txBody>
      </p:sp>
      <p:sp>
        <p:nvSpPr>
          <p:cNvPr id="51" name="Shape 49"/>
          <p:cNvSpPr/>
          <p:nvPr/>
        </p:nvSpPr>
        <p:spPr>
          <a:xfrm>
            <a:off x="7863840" y="5925312"/>
            <a:ext cx="3913632" cy="548640"/>
          </a:xfrm>
          <a:prstGeom prst="rect">
            <a:avLst/>
          </a:prstGeom>
          <a:solidFill>
            <a:srgbClr val="00C2CB"/>
          </a:solidFill>
          <a:ln w="12700">
            <a:solidFill>
              <a:srgbClr val="00C2CB"/>
            </a:solidFill>
            <a:prstDash val="solid"/>
          </a:ln>
        </p:spPr>
      </p:sp>
      <p:sp>
        <p:nvSpPr>
          <p:cNvPr id="52" name="Text 50"/>
          <p:cNvSpPr/>
          <p:nvPr/>
        </p:nvSpPr>
        <p:spPr>
          <a:xfrm>
            <a:off x="7863840" y="5925312"/>
            <a:ext cx="3913632" cy="548640"/>
          </a:xfrm>
          <a:prstGeom prst="rect">
            <a:avLst/>
          </a:prstGeom>
          <a:noFill/>
          <a:ln/>
        </p:spPr>
        <p:txBody>
          <a:bodyPr wrap="square" rtlCol="0" anchor="ctr"/>
          <a:lstStyle/>
          <a:p>
            <a:pPr algn="ctr" indent="0" marL="0">
              <a:buNone/>
            </a:pPr>
            <a:r>
              <a:rPr lang="en-US" sz="1400" b="1" dirty="0">
                <a:solidFill>
                  <a:srgbClr val="0A0F1E"/>
                </a:solidFill>
                <a:latin typeface="Calibri" pitchFamily="34" charset="0"/>
                <a:ea typeface="Calibri" pitchFamily="34" charset="-122"/>
                <a:cs typeface="Calibri" pitchFamily="34" charset="-120"/>
              </a:rPr>
              <a:t>Book: Chapter 2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SQL Exists — Video 1</dc:title>
  <dc:subject>PptxGenJS Presentation</dc:subject>
  <dc:creator>PptxGenJS</dc:creator>
  <cp:lastModifiedBy>PptxGenJS</cp:lastModifiedBy>
  <cp:revision>1</cp:revision>
  <dcterms:created xsi:type="dcterms:W3CDTF">2026-05-17T08:47:37Z</dcterms:created>
  <dcterms:modified xsi:type="dcterms:W3CDTF">2026-05-17T08:47:37Z</dcterms:modified>
</cp:coreProperties>
</file>