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SQL Exists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Chaos to Clarity — A Complete Beginner's Guide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108960"/>
            <a:ext cx="1828800" cy="475488"/>
          </a:xfrm>
          <a:prstGeom prst="roundRect">
            <a:avLst>
              <a:gd name="adj" fmla="val 2307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31089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4206240"/>
            <a:ext cx="205740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2062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Data Overload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14016" y="4206240"/>
            <a:ext cx="205740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14016" y="42062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Excel vs DB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99432" y="4206240"/>
            <a:ext cx="205740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42062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Why Companies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84848" y="4206240"/>
            <a:ext cx="205740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84848" y="42062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What SQL Solves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9377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Book: Learning SQL | Chapter 1 — A Little Background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Database?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start from scratch — no jargon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database is nothing more than a set of related information."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233172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331720"/>
            <a:ext cx="269748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4231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9768" y="2999232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Book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numbers &amp; addresses of everyone in a city.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 database — just printed on paper.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72968" y="233172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2331720"/>
            <a:ext cx="269748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24231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82696" y="2999232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Files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10128" y="33832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doctor's filing cabinet with your medical history, allergies, past visits.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database.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25896" y="233172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25896" y="2331720"/>
            <a:ext cx="2697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25896" y="24231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35624" y="2999232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Catalogue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63056" y="33832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 in a library, its shelf number, who borrowed it and when.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organized — that's a database.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 computerized database does the same thing — but a million times faster and smarter.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Big Problems With Manual Data Storage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paper and spreadsheets eventually fail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1115568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640080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6400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1704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Is Painfully Slow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499616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Real example: BSNL's printed phone directory for Mumbai — 20M+ entries. Finding one person could take 10+ minutes of flipping pages.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97280" y="18562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 database finds the same record in under 1 millisecond.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359152"/>
            <a:ext cx="8503920" cy="1115568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59152"/>
            <a:ext cx="640080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59152"/>
            <a:ext cx="6400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4323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Way to Search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276148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Real example: The phone book is sorted by last name only. Want to find everyone in Andheri? You'd have to read every single page.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97280" y="311810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 database lets you search by name, area, pin code — anything, in any combination.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621024"/>
            <a:ext cx="8503920" cy="1115568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621024"/>
            <a:ext cx="640080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621024"/>
            <a:ext cx="6400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369417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Goes Out of Date Instantly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402336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Real example: A hospital prints patient records in January. By March, 30% of phone numbers have changed, addresses updated, new allergies added.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97280" y="437997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 database updates in real-time. Every change is immediately visible to everyone.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of Databases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magnetic tapes to the modern relational model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011680" cy="3749040"/>
          </a:xfrm>
          <a:prstGeom prst="rect">
            <a:avLst/>
          </a:prstGeom>
          <a:solidFill>
            <a:srgbClr val="1A2E44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97280"/>
            <a:ext cx="201168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2971800"/>
            <a:ext cx="164592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1704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📼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1719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1950s–60s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" y="20116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Tape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246888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on reels of tape.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 loaded/unloaded tapes manually.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401568"/>
            <a:ext cx="173736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456432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read the same data twice? Load the tape twice. No random access.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04872" y="1097280"/>
            <a:ext cx="2011680" cy="3749040"/>
          </a:xfrm>
          <a:prstGeom prst="rect">
            <a:avLst/>
          </a:prstGeom>
          <a:solidFill>
            <a:srgbClr val="1A2E44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04872" y="1097280"/>
            <a:ext cx="2011680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2971800"/>
            <a:ext cx="164592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04872" y="11704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496312" y="1719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1960s–70s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78024" y="20116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DB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96312" y="246888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as a tree structure.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has one parent and many children.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42032" y="3401568"/>
            <a:ext cx="1737360" cy="0"/>
          </a:xfrm>
          <a:prstGeom prst="line">
            <a:avLst/>
          </a:prstGeom>
          <a:noFill/>
          <a:ln w="6350">
            <a:solidFill>
              <a:srgbClr val="0369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96312" y="3456432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company org chart — works great top-down, terrible if you need to search from the bottom.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81144" y="1097280"/>
            <a:ext cx="2011680" cy="3749040"/>
          </a:xfrm>
          <a:prstGeom prst="rect">
            <a:avLst/>
          </a:prstGeom>
          <a:solidFill>
            <a:srgbClr val="1A2E4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81144" y="1097280"/>
            <a:ext cx="2011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92824" y="2971800"/>
            <a:ext cx="164592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81144" y="11704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🕸️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672584" y="1719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1970s–80s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54296" y="20116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72584" y="246888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linked like a web.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could have multiple parents.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18304" y="3401568"/>
            <a:ext cx="1737360" cy="0"/>
          </a:xfrm>
          <a:prstGeom prst="line">
            <a:avLst/>
          </a:prstGeom>
          <a:noFill/>
          <a:ln w="635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72584" y="3456432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but extremely complex. Programmers had to manually navigate links — one wrong step and you're lost.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57416" y="1097280"/>
            <a:ext cx="2011680" cy="3749040"/>
          </a:xfrm>
          <a:prstGeom prst="rect">
            <a:avLst/>
          </a:prstGeom>
          <a:solidFill>
            <a:srgbClr val="1A2E4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57416" y="1097280"/>
            <a:ext cx="20116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11704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848856" y="1719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1970–present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30568" y="20116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48856" y="246888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simple tables.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linked by shared columns (keys).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94576" y="3401568"/>
            <a:ext cx="1737360" cy="0"/>
          </a:xfrm>
          <a:prstGeom prst="line">
            <a:avLst/>
          </a:prstGeom>
          <a:noFill/>
          <a:ln w="635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48856" y="3456432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Simple, flexible, powerful. No pointers. Just rows, columns, and queries.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Databases — The Tree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used today in Active Directory, XML &amp; mainframes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 is stored as tree structures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9476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Every record has ONE parent (single-parent hierarchy)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38658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 parent can have many children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82549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 find data, you traverse the tree from root to leaf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3383280"/>
            <a:ext cx="4114800" cy="1463040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56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Real-World Example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79476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Active Directory (used by every Windows office network) stores users, computers and permissions as a hierarchy: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→ Department → Team → Employee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1051560"/>
            <a:ext cx="164592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0515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Blake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435608"/>
            <a:ext cx="0" cy="34747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783080"/>
            <a:ext cx="146304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7830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435608"/>
            <a:ext cx="0" cy="34747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1783080"/>
            <a:ext cx="146304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17830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1956816"/>
            <a:ext cx="14630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2130552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450592"/>
            <a:ext cx="1417320" cy="347472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4505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$100 — Jan 22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2130552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450592"/>
            <a:ext cx="1417320" cy="347472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4505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$25 — Feb 5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40880" y="2450592"/>
            <a:ext cx="1417320" cy="347472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24505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$250 — Mar 9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301752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Problem: What if you want all transactions from ALL customers with Savings accounts?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You'd have to search every customer's tree separately — extremely slow!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Relational Model — The Game Changer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E.F. Codd, IBM Research, 1970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"Represent data as simple tables. Use shared columns to connect them. No pointers, no trees — just rows, columns and queries."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201168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933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377440"/>
            <a:ext cx="2011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7744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cust_id🔑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237744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779776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7977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277977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182112"/>
            <a:ext cx="2011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8211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lname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00200" y="318211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Blake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2999232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50592" y="1993392"/>
            <a:ext cx="201168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0592" y="19933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450592" y="2377440"/>
            <a:ext cx="2011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237744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account_id🔑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76472" y="237744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50592" y="2779776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42032" y="277977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cust_id🔗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76472" y="277977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50592" y="3182112"/>
            <a:ext cx="2011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42032" y="318211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76472" y="318211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62272" y="2999232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26864" y="1993392"/>
            <a:ext cx="20116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19933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26864" y="2377440"/>
            <a:ext cx="2011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8304" y="237744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product_cd🔑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52744" y="237744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26864" y="2779776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277977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52744" y="277977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26864" y="3182112"/>
            <a:ext cx="2011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18304" y="318211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52744" y="318211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38544" y="2999232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03136" y="1993392"/>
            <a:ext cx="201168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03136" y="19933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803136" y="2377440"/>
            <a:ext cx="2011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237744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txn_id🔑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129016" y="237744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03136" y="2779776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94576" y="277977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account_id🔗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129016" y="277977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803136" y="3182112"/>
            <a:ext cx="2011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94576" y="318211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129016" y="318211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65760" y="3886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Primary Key — uniquely identifies each row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4663440" y="38862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Foreign Key — links to another table's primary key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365760" y="4251960"/>
            <a:ext cx="8412480" cy="749808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429768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Instead of copying George's name into every transaction, we just store his ID (1). If his name changes, we update ONE place — not 10,000 rows. This is called Normalization.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— Storing Data the Right Way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each piece of information lives in exactly ONE place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39776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7899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BAD — Repeated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3977640" cy="43891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6304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146304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59152" y="146304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46704" y="146304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901952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901952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71600" y="1901952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Sharma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59152" y="1901952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46704" y="1901952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340864"/>
            <a:ext cx="3977640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340864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371600" y="2340864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Sharma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359152" y="2340864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46704" y="2340864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779776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779776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71600" y="2779776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Sharma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59152" y="2779776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46704" y="2779776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0040" y="324612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'Riya Sharma' and 'Mumbai' are repeated 3 times.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she moves to Pune — we must update 3 rows. What if we miss one?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1078992"/>
            <a:ext cx="39776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07899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 — Normalized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TABLE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1783080"/>
            <a:ext cx="182880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7830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cust_id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0" y="17830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0760" y="17830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2167128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16712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0" y="216712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80760" y="216712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0372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TABLE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03720" y="1783080"/>
            <a:ext cx="182880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17830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543800" y="17830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cust_id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38160" y="17830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03720" y="2167128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216712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543800" y="216712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138160" y="216712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03720" y="2551176"/>
            <a:ext cx="18288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9440" y="2551176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543800" y="2551176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138160" y="2551176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03720" y="2935224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49440" y="293522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003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543800" y="293522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138160" y="293522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846320" y="342900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Riya's name &amp; city stored ONCE.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she moves to Pune — change 1 row. Done.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8280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= No redundant data (except foreign keys). Each independent piece of info lives in exactly one table.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SQL?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language for talking to databases — born 1970, standard 1986, still ruling in 2024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1078992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Codd publishes relational model paper at IBM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1078992"/>
          </a:xfrm>
          <a:prstGeom prst="rect">
            <a:avLst/>
          </a:prstGeom>
          <a:solidFill>
            <a:srgbClr val="1A2E4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97280"/>
            <a:ext cx="64008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887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92040" y="15727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builds SQUARE prototype → refined to SEQUEL → renamed SQL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160520" cy="1078992"/>
          </a:xfrm>
          <a:prstGeom prst="rect">
            <a:avLst/>
          </a:prstGeom>
          <a:solidFill>
            <a:srgbClr val="1A2E4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331720"/>
            <a:ext cx="64008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231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28072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publishes first official SQL standard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331720"/>
            <a:ext cx="4160520" cy="1078992"/>
          </a:xfrm>
          <a:prstGeom prst="rect">
            <a:avLst/>
          </a:prstGeom>
          <a:solidFill>
            <a:srgbClr val="1A2E44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331720"/>
            <a:ext cx="64008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4231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92040" y="28072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SQL-92: major update, still the foundation most systems use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4160520" cy="1078992"/>
          </a:xfrm>
          <a:prstGeom prst="rect">
            <a:avLst/>
          </a:prstGeom>
          <a:solidFill>
            <a:srgbClr val="1A2E44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566160"/>
            <a:ext cx="64008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57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" y="40416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SQL:2006 integrates XML and introduces XQuery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566160"/>
            <a:ext cx="4160520" cy="1078992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356616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657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892040" y="40416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Oracle, MySQL, PostgreSQL, SQL Server, SQLite &amp; more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800600"/>
            <a:ext cx="859536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006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SQL is NOT an acronym — though many say "Structured Query Language." You can say "S-Q-L" or "sequel" — both are correct!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Nonprocedural — You Say WHAT, Not HOW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biggest difference from normal programming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3977640" cy="43891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Procedural (Python / Java)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3977640" cy="2377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00200"/>
            <a:ext cx="37947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[]
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in all_customers:
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customer.city ==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"Mumbai"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results.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(customer)
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3977640" cy="4389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9728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SQL (Nonprocedural)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536192"/>
            <a:ext cx="3977640" cy="2377440"/>
          </a:xfrm>
          <a:prstGeom prst="rect">
            <a:avLst/>
          </a:prstGeom>
          <a:solidFill>
            <a:srgbClr val="0C1A2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572768"/>
            <a:ext cx="37947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</a:t>
            </a:r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
</a:t>
            </a:r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= </a:t>
            </a:r>
            <a:pPr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'Mumbai';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" y="40416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71600" y="40416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loop logic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404164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goal — SELECT...WHERE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" y="43159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71600" y="43159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lines of code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43159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lines of SQL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" y="45902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71600" y="45902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the approach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45902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engine decides the fastest way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0040" y="4864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71600" y="48646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Chef: "Get flour, add eggs, mix..."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486460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Waiter: "I want pasta, please."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Statement Types — The 3 Categories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Data, and Transaction statements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74320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Schema Statements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structure (blueprint)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274320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74520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20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➕  CREATE TABLE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286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customers table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61488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61488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072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✏️  ALTER TABLE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172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'email' column later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648456"/>
            <a:ext cx="274320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648456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9417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🗑️  DROP TABLE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405993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table permanently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1078992"/>
            <a:ext cx="2743200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097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Data Statements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modify the actual 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1874520"/>
            <a:ext cx="274320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1874520"/>
            <a:ext cx="54864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920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🔍  SELECT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2286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customers from Mumbai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2761488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761488"/>
            <a:ext cx="54864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28072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➕  INSERT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37560" y="3172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customer record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3648456"/>
            <a:ext cx="274320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3648456"/>
            <a:ext cx="54864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369417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✏️  UPDATE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37560" y="405993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customer's phone number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0" y="4535424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4535424"/>
            <a:ext cx="54864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458114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🗑️  DELETE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337560" y="494690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old order record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26480" y="1078992"/>
            <a:ext cx="2743200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1097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Transaction Statements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1792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operations safely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26480" y="1874520"/>
            <a:ext cx="274320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26480" y="1874520"/>
            <a:ext cx="54864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1920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▶️  BEGIN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263640" y="2286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bank transfer operation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26480" y="2761488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26480" y="2761488"/>
            <a:ext cx="54864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28072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COMMIT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263640" y="3172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and save all changes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26480" y="3648456"/>
            <a:ext cx="274320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26480" y="3648456"/>
            <a:ext cx="54864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63640" y="369417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↩️  ROLLBACK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263640" y="405993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if something goes wrong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 Action — Real Commands, Real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exact patterns run in every app you use daily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595360" cy="1188720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5214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  Zomato — You search 'Pizza near me'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5303520" cy="658368"/>
          </a:xfrm>
          <a:prstGeom prst="rect">
            <a:avLst/>
          </a:prstGeom>
          <a:solidFill>
            <a:srgbClr val="0C1A2E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81328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restaurant_name, rating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restaurants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city = 'Mumbai' AND cuisine = 'Pizza'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rating DESC;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52160" y="1463040"/>
            <a:ext cx="2926080" cy="658368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481328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Returns list of pizza places sorted by rating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8595360" cy="1188720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50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UPI — You pay ₹500 to a friend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761488"/>
            <a:ext cx="5303520" cy="658368"/>
          </a:xfrm>
          <a:prstGeom prst="rect">
            <a:avLst/>
          </a:prstGeom>
          <a:solidFill>
            <a:srgbClr val="0C1A2E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79776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accounts SET balance = balance - 500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account_id = 'YOUR_ID';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accounts SET balance = balance + 500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account_id = 'FRIEND_ID';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0" y="2761488"/>
            <a:ext cx="2926080" cy="658368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779776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Two UPDATEs wrapped in one transaction — either both happen or neither does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675888"/>
            <a:ext cx="8595360" cy="1188720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749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Amazon — You place an order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4059936"/>
            <a:ext cx="5303520" cy="658368"/>
          </a:xfrm>
          <a:prstGeom prst="rect">
            <a:avLst/>
          </a:prstGeom>
          <a:solidFill>
            <a:srgbClr val="0C1A2E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78224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orders (user_id, product_id, qty, date)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(12345, 'B09XYZ', 1, '2024-05-16');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52160" y="4059936"/>
            <a:ext cx="2926080" cy="658368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4078224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One INSERT adds your order row permanently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vs Database — The Complete Picture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tool for the right job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0" y="1078992"/>
            <a:ext cx="306324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078992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Microsoft Excel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078992"/>
            <a:ext cx="3246120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078992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 (SQL)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2011680" cy="475488"/>
          </a:xfrm>
          <a:prstGeom prst="rect">
            <a:avLst/>
          </a:prstGeom>
          <a:solidFill>
            <a:srgbClr val="1A2E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5727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data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77440" y="1572768"/>
            <a:ext cx="3063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572768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million rows then slows down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1572768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0992" y="157276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rows — no problem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057400"/>
            <a:ext cx="2011680" cy="475488"/>
          </a:xfrm>
          <a:prstGeom prst="rect">
            <a:avLst/>
          </a:prstGeom>
          <a:solidFill>
            <a:srgbClr val="1A2E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5740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377440" y="2057400"/>
            <a:ext cx="30632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20574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at a time (safely)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2057400"/>
            <a:ext cx="324612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0992" y="205740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simultaneously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542032"/>
            <a:ext cx="2011680" cy="475488"/>
          </a:xfrm>
          <a:prstGeom prst="rect">
            <a:avLst/>
          </a:prstGeom>
          <a:solidFill>
            <a:srgbClr val="1A2E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4203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377440" y="2542032"/>
            <a:ext cx="3063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50592" y="254203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= typos &amp; errors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2542032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0992" y="254203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prevent bad data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026664"/>
            <a:ext cx="2011680" cy="475488"/>
          </a:xfrm>
          <a:prstGeom prst="rect">
            <a:avLst/>
          </a:prstGeom>
          <a:solidFill>
            <a:srgbClr val="1A2E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02666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History/audit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377440" y="3026664"/>
            <a:ext cx="30632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0592" y="302666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change tracking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77840" y="3026664"/>
            <a:ext cx="324612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302666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logged permanently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511296"/>
            <a:ext cx="2011680" cy="475488"/>
          </a:xfrm>
          <a:prstGeom prst="rect">
            <a:avLst/>
          </a:prstGeom>
          <a:solidFill>
            <a:srgbClr val="1A2E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51129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377440" y="3511296"/>
            <a:ext cx="3063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50592" y="351129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with large VLOOKUP / formulas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577840" y="3511296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50992" y="351129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on huge datasets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3995928"/>
            <a:ext cx="2011680" cy="475488"/>
          </a:xfrm>
          <a:prstGeom prst="rect">
            <a:avLst/>
          </a:prstGeom>
          <a:solidFill>
            <a:srgbClr val="1A2E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9959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apps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377440" y="3995928"/>
            <a:ext cx="30632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50592" y="3995928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connect to live apps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577840" y="3995928"/>
            <a:ext cx="324612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50992" y="399592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apps built on top of it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480560"/>
            <a:ext cx="2011680" cy="475488"/>
          </a:xfrm>
          <a:prstGeom prst="rect">
            <a:avLst/>
          </a:prstGeom>
          <a:solidFill>
            <a:srgbClr val="1A2E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48056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377440" y="4480560"/>
            <a:ext cx="3063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50592" y="44805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charts, small teams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577840" y="4480560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50992" y="448056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Apps, scale, reliability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Rule of thumb: Use Excel to analyse data. Use a database to store, manage and serve data to applications.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Company Needs a Database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 from apps you use every day in India &amp; globally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2743200" cy="18288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2743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704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" y="16459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/ Flipkart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processes 66,000 orders/second. Each order touches 10+ database tables: users, products, inventory, payments, shipping, returns...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63824" y="1078992"/>
            <a:ext cx="2743200" cy="18288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63824" y="1078992"/>
            <a:ext cx="27432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11704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55264" y="16459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/ Banking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73552" y="1993392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tap Pay on PhonePe, 5 database queries run in under 200ms: balance check → fraud scan → debit → credit → transaction log.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71616" y="1078992"/>
            <a:ext cx="2743200" cy="18288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1078992"/>
            <a:ext cx="27432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1616" y="11704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63056" y="16459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AIIMS / Hospitals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81344" y="1993392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stores 80TB of patient data per year. Doctors query allergies, prescriptions &amp; test history before every treatment. A lost record = risk to life.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044952"/>
            <a:ext cx="2743200" cy="18288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044952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1363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47472" y="36118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/ Reels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3959352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"like" a post, an INSERT runs. When you scroll, a SELECT runs. Instagram serves 1 billion users — 100% powered by databases.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63824" y="3044952"/>
            <a:ext cx="2743200" cy="18288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63824" y="3044952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63824" y="31363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255264" y="36118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IRCTC / Airlines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73552" y="3959352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IRCTC handles 500,000+ booking attempts per minute during Tatkal. Databases prevent double-booking — each seat is a row with a lock.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71616" y="3044952"/>
            <a:ext cx="2743200" cy="18288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71616" y="3044952"/>
            <a:ext cx="2743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71616" y="31363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163056" y="36118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/ Ola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81344" y="3959352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matches 14M+ rides/day. GPS coordinates, driver availability, surge pricing — all live database queries updating every 4 seconds.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— Video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115568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1155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475488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10058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is just organized information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38988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books, filing cabinets, hospital records — all databases. The computer version just does it at superhuman speed.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60520" cy="1115568"/>
          </a:xfrm>
          <a:prstGeom prst="rect">
            <a:avLst/>
          </a:prstGeom>
          <a:solidFill>
            <a:srgbClr val="1A2E4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914400"/>
            <a:ext cx="64008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005840"/>
            <a:ext cx="475488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058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58968" y="10058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systems have 3 fatal flaws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58968" y="138988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search, limited indexing, and instant obsolescence. Computers eliminated all three.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12848"/>
            <a:ext cx="4160520" cy="1115568"/>
          </a:xfrm>
          <a:prstGeom prst="rect">
            <a:avLst/>
          </a:prstGeom>
          <a:solidFill>
            <a:srgbClr val="1A2E44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212848"/>
            <a:ext cx="64008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304288"/>
            <a:ext cx="475488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3042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24128" y="23042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Relational Model (1970) changed everything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4128" y="268833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Codd's idea: store data in simple tables, link via shared keys. Still the dominant model 50+ years later.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212848"/>
            <a:ext cx="4160520" cy="1115568"/>
          </a:xfrm>
          <a:prstGeom prst="rect">
            <a:avLst/>
          </a:prstGeom>
          <a:solidFill>
            <a:srgbClr val="1A2E4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212848"/>
            <a:ext cx="64008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304288"/>
            <a:ext cx="47548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3042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58968" y="23042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nonprocedural — say WHAT, not HOW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58968" y="268833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the result you want. The database engine figures out the most efficient way to get it.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31720" y="3493008"/>
            <a:ext cx="4480560" cy="1115568"/>
          </a:xfrm>
          <a:prstGeom prst="rect">
            <a:avLst/>
          </a:prstGeom>
          <a:solidFill>
            <a:srgbClr val="1A2E44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31720" y="3493008"/>
            <a:ext cx="64008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68880" y="3584448"/>
            <a:ext cx="475488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3584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081528" y="358444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you use runs on a database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081528" y="3968496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Zomato, PhonePe, IRCTC, Instagram — behind every tap and swipe is a SELECT, INSERT or UPDATE.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463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Next: Video 2 — Creating Your First Database &amp; Table with SQL (CREATE TABLE, Data Types, Primary Keys)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SQL Exists - Video 1</dc:title>
  <dc:subject>PptxGenJS Presentation</dc:subject>
  <dc:creator>PptxGenJS</dc:creator>
  <cp:lastModifiedBy>PptxGenJS</cp:lastModifiedBy>
  <cp:revision>1</cp:revision>
  <dcterms:created xsi:type="dcterms:W3CDTF">2026-05-16T14:48:23Z</dcterms:created>
  <dcterms:modified xsi:type="dcterms:W3CDTF">2026-05-16T14:48:23Z</dcterms:modified>
</cp:coreProperties>
</file>