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 Exists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 — A Complete Beginner's Guide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108960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31089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 Overload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4016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Excel vs 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Why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84848" y="4206240"/>
            <a:ext cx="205740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4206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What SQL Solves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37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Learning SQL | Chapter 1 — A Little Background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</a:rPr>
              <a:t>Think of it this way — a database is just organized information, stored so you can find it fast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050000"/>
            <a:ext cx="8412480" cy="73000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0000"/>
            <a:ext cx="82296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</a:rPr>
              <a:t>“A database is nothing more than a set of related information.”</a:t>
            </a:r>
          </a:p>
        </p:txBody>
      </p:sp>
      <p:sp>
        <p:nvSpPr>
          <p:cNvPr id="8" name="Shape LeftHdr"/>
          <p:cNvSpPr/>
          <p:nvPr/>
        </p:nvSpPr>
        <p:spPr>
          <a:xfrm>
            <a:off x="320040" y="1920000"/>
            <a:ext cx="4160000" cy="540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9" name="Text LeftHdrTxt"/>
          <p:cNvSpPr/>
          <p:nvPr/>
        </p:nvSpPr>
        <p:spPr>
          <a:xfrm>
            <a:off x="320040" y="1985000"/>
            <a:ext cx="416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</a:rPr>
              <a:t>A Real-World Example — Coaching Centre</a:t>
            </a:r>
          </a:p>
        </p:txBody>
      </p:sp>
      <p:sp>
        <p:nvSpPr>
          <p:cNvPr id="10" name="Shape LeftBox"/>
          <p:cNvSpPr/>
          <p:nvPr/>
        </p:nvSpPr>
        <p:spPr>
          <a:xfrm>
            <a:off x="320040" y="2295000"/>
            <a:ext cx="4160000" cy="2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000" dist="20000" dir="5400000" rotWithShape="0">
              <a:srgbClr val="000000">
                <a:alpha val="6000"/>
              </a:srgbClr>
            </a:outerShdw>
          </a:effectLst>
        </p:spPr>
      </p:sp>
      <p:sp>
        <p:nvSpPr>
          <p:cNvPr id="11" name="Text LeftContent"/>
          <p:cNvSpPr/>
          <p:nvPr/>
        </p:nvSpPr>
        <p:spPr>
          <a:xfrm>
            <a:off x="400000" y="2330000"/>
            <a:ext cx="4000000" cy="2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600"/>
              </a:lnSpc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</a:rPr>
              <a:t>Imagine you run a coaching centre. You have 200 students. Every week you need to track:</a:t>
            </a:r>
          </a:p>
          <a:p>
            <a:pPr indent="0" marL="228600">
              <a:buNone/>
              <a:lnSpc>
                <a:spcPts val="1600"/>
              </a:lnSpc>
            </a:pPr>
            <a:r>
              <a:rPr lang="en-US" sz="1250" dirty="0">
                <a:solidFill>
                  <a:srgbClr val="0369A1"/>
                </a:solidFill>
                <a:latin typeface="Calibri" pitchFamily="34" charset="0"/>
              </a:rPr>
              <a:t xml:space="preserve">  Student names, contact numbers, batch</a:t>
            </a:r>
          </a:p>
          <a:p>
            <a:pPr indent="0" marL="228600">
              <a:buNone/>
              <a:lnSpc>
                <a:spcPts val="1600"/>
              </a:lnSpc>
            </a:pPr>
            <a:r>
              <a:rPr lang="en-US" sz="1250" dirty="0">
                <a:solidFill>
                  <a:srgbClr val="0369A1"/>
                </a:solidFill>
                <a:latin typeface="Calibri" pitchFamily="34" charset="0"/>
              </a:rPr>
              <a:t xml:space="preserve">  Monthly fee amount and payment status</a:t>
            </a:r>
          </a:p>
          <a:p>
            <a:pPr indent="0" marL="228600">
              <a:buNone/>
              <a:lnSpc>
                <a:spcPts val="1600"/>
              </a:lnSpc>
            </a:pPr>
            <a:r>
              <a:rPr lang="en-US" sz="1250" dirty="0">
                <a:solidFill>
                  <a:srgbClr val="0369A1"/>
                </a:solidFill>
                <a:latin typeface="Calibri" pitchFamily="34" charset="0"/>
              </a:rPr>
              <a:t xml:space="preserve">  Daily attendance — present or absent</a:t>
            </a:r>
          </a:p>
          <a:p>
            <a:pPr indent="0" marL="228600">
              <a:buNone/>
              <a:lnSpc>
                <a:spcPts val="1600"/>
              </a:lnSpc>
            </a:pPr>
            <a:r>
              <a:rPr lang="en-US" sz="1250" dirty="0">
                <a:solidFill>
                  <a:srgbClr val="0369A1"/>
                </a:solidFill>
                <a:latin typeface="Calibri" pitchFamily="34" charset="0"/>
              </a:rPr>
              <a:t xml:space="preserve">  Test scores and progress per subject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</a:rPr>
              <a:t>Doing all this in a notebook or a single Excel sheet quickly becomes a mess. A database keeps everything in one organized place and lets you search instantly.</a:t>
            </a:r>
          </a:p>
        </p:txBody>
      </p:sp>
      <p:sp>
        <p:nvSpPr>
          <p:cNvPr id="12" name="Shape RightHdr"/>
          <p:cNvSpPr/>
          <p:nvPr/>
        </p:nvSpPr>
        <p:spPr>
          <a:xfrm>
            <a:off x="4663920" y="1920000"/>
            <a:ext cx="4160000" cy="5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3" name="Text RightHdrTxt"/>
          <p:cNvSpPr/>
          <p:nvPr/>
        </p:nvSpPr>
        <p:spPr>
          <a:xfrm>
            <a:off x="4663920" y="1985000"/>
            <a:ext cx="416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</a:rPr>
              <a:t>What the Data Looks Like in a Database</a:t>
            </a:r>
          </a:p>
        </p:txBody>
      </p:sp>
      <p:sp>
        <p:nvSpPr>
          <p:cNvPr id="14" name="Shape RightBox"/>
          <p:cNvSpPr/>
          <p:nvPr/>
        </p:nvSpPr>
        <p:spPr>
          <a:xfrm>
            <a:off x="4663920" y="2295000"/>
            <a:ext cx="4160000" cy="2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000" dist="20000" dir="5400000" rotWithShape="0">
              <a:srgbClr val="000000">
                <a:alpha val="6000"/>
              </a:srgbClr>
            </a:outerShdw>
          </a:effectLst>
        </p:spPr>
      </p:sp>
      <p:sp>
        <p:nvSpPr>
          <p:cNvPr id="15" name="Shape TableHdr"/>
          <p:cNvSpPr/>
          <p:nvPr/>
        </p:nvSpPr>
        <p:spPr>
          <a:xfrm>
            <a:off x="4663920" y="2295000"/>
            <a:ext cx="4160000" cy="32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16" name="Text TableHdrTxt"/>
          <p:cNvSpPr/>
          <p:nvPr/>
        </p:nvSpPr>
        <p:spPr>
          <a:xfrm>
            <a:off x="4700000" y="2310000"/>
            <a:ext cx="41000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</a:rPr>
              <a:t>STUDENT TABLE (each row = one student)</a:t>
            </a:r>
          </a:p>
        </p:txBody>
      </p:sp>
      <p:sp>
        <p:nvSpPr>
          <p:cNvPr id="17" name="Text TableData"/>
          <p:cNvSpPr/>
          <p:nvPr/>
        </p:nvSpPr>
        <p:spPr>
          <a:xfrm>
            <a:off x="4700000" y="2650000"/>
            <a:ext cx="4100000" cy="2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400"/>
              </a:lnSpc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</a:rPr>
              <a:t>ID    Name           Batch    Fee Paid    Attend%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</a:rPr>
              <a:t>01     Priya S.      Maths    Yes              92%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</a:rPr>
              <a:t>02     Arjun R.      Science  No               78%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</a:rPr>
              <a:t>03     Meera T.     Maths    Yes              85%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...and 197 more rows</a:t>
            </a:r>
          </a:p>
          <a:p>
            <a:pPr indent="0" marL="0">
              <a:buNone/>
              <a:lnSpc>
                <a:spcPts val="1600"/>
              </a:lnSpc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</a:rPr>
              <a:t>With SQL you can instantly ask: “Show me all students in Maths batch who have not paid fees this month” — and get the answer in under a second.</a:t>
            </a:r>
          </a:p>
        </p:txBody>
      </p:sp>
      <p:sp>
        <p:nvSpPr>
          <p:cNvPr id="23" name="Text BottomNote"/>
          <p:cNvSpPr/>
          <p:nvPr/>
        </p:nvSpPr>
        <p:spPr>
          <a:xfrm>
            <a:off x="365760" y="5080000"/>
            <a:ext cx="84124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</a:rPr>
              <a:t>A computerized database does the same thing a paper register does — but a million times faster, safer, and smarter.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Big Problems With Manual Data Storage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 and spreadsheets eventually fail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Painfully Slow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499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BSNL's printed phone directory for Mumbai — 20M+ entries. Finding one person could take 10+ minutes of flipping pages.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18562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finds the same record in under 1 millisecond.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64008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59152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4323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Way to 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76148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The phone book is sorted by last name only. Want to find everyone in Andheri? You'd have to read every single page.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31181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lets you search by name, area, pin code — anything, in any combination.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8503920" cy="111556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21024"/>
            <a:ext cx="64008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21024"/>
            <a:ext cx="640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6941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Out of Date Instantly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example: A hospital prints patient records in January. By March, 30% of phone numbers have changed, addresses updated, new allergies added.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37997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database updates in real-time. Every change is immediately visible to everyone.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The Evolution of Databases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</a:rPr>
              <a:t>How we went from magnetic tapes to modern databases — and why each type was created</a:t>
            </a:r>
          </a:p>
        </p:txBody>
      </p:sp>
      <p:sp>
        <p:nvSpPr>
          <p:cNvPr id="10" name="Card1Bg"/>
          <p:cNvSpPr/>
          <p:nvPr/>
        </p:nvSpPr>
        <p:spPr>
          <a:xfrm>
            <a:off x="228600" y="1060000"/>
            <a:ext cx="4250000" cy="1900000"/>
          </a:xfrm>
          <a:prstGeom prst="rect">
            <a:avLst/>
          </a:prstGeom>
          <a:solidFill>
            <a:srgbClr val="1A2E44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Card1Top"/>
          <p:cNvSpPr/>
          <p:nvPr/>
        </p:nvSpPr>
        <p:spPr>
          <a:xfrm>
            <a:off x="228600" y="1060000"/>
            <a:ext cx="4250000" cy="55000"/>
          </a:xfrm>
          <a:prstGeom prst="rect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2" name="Card1Text"/>
          <p:cNvSpPr/>
          <p:nvPr/>
        </p:nvSpPr>
        <p:spPr>
          <a:xfrm>
            <a:off x="310000" y="1120000"/>
            <a:ext cx="4100000" cy="18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400"/>
              </a:lnSpc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</a:rPr>
              <a:t>1960s–70s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Hierarchical Database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Data is stored like a family tree. One parent, many children. You can only move top-down — there is no shortcut across branches.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</a:rPr>
              <a:t>Example: IBM IMS (used by NASA for Apollo missions, 1966). Also still used in banking mainframes today — many banks quietly run 50-year-old hierarchical systems.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</a:rPr>
              <a:t>Limitation: Cannot search across branches without scanning everything.</a:t>
            </a:r>
          </a:p>
        </p:txBody>
      </p:sp>
      <p:sp>
        <p:nvSpPr>
          <p:cNvPr id="20" name="Card2Bg"/>
          <p:cNvSpPr/>
          <p:nvPr/>
        </p:nvSpPr>
        <p:spPr>
          <a:xfrm>
            <a:off x="4665600" y="1060000"/>
            <a:ext cx="4250000" cy="1900000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Card2Top"/>
          <p:cNvSpPr/>
          <p:nvPr/>
        </p:nvSpPr>
        <p:spPr>
          <a:xfrm>
            <a:off x="4665600" y="1060000"/>
            <a:ext cx="4250000" cy="55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Card2Text"/>
          <p:cNvSpPr/>
          <p:nvPr/>
        </p:nvSpPr>
        <p:spPr>
          <a:xfrm>
            <a:off x="4750000" y="1120000"/>
            <a:ext cx="4100000" cy="18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400"/>
              </a:lnSpc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</a:rPr>
              <a:t>1970s–80s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Network Database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An upgrade to the tree model. A record can now have multiple parents — think of it like a web or a road map instead of a single path down.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</a:rPr>
              <a:t>Example: IDMS (Integrated Database Management System), widely used in 1970s airline reservation and inventory systems.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</a:rPr>
              <a:t>Limitation: Programmers had to manually navigate links in code — one wrong pointer and the whole query broke.</a:t>
            </a:r>
          </a:p>
        </p:txBody>
      </p:sp>
      <p:sp>
        <p:nvSpPr>
          <p:cNvPr id="30" name="Card3Bg"/>
          <p:cNvSpPr/>
          <p:nvPr/>
        </p:nvSpPr>
        <p:spPr>
          <a:xfrm>
            <a:off x="228600" y="3080000"/>
            <a:ext cx="4250000" cy="1980000"/>
          </a:xfrm>
          <a:prstGeom prst="rect">
            <a:avLst/>
          </a:prstGeom>
          <a:solidFill>
            <a:srgbClr val="1A2E4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Card3Top"/>
          <p:cNvSpPr/>
          <p:nvPr/>
        </p:nvSpPr>
        <p:spPr>
          <a:xfrm>
            <a:off x="228600" y="3080000"/>
            <a:ext cx="4250000" cy="55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2" name="Card3Text"/>
          <p:cNvSpPr/>
          <p:nvPr/>
        </p:nvSpPr>
        <p:spPr>
          <a:xfrm>
            <a:off x="310000" y="3140000"/>
            <a:ext cx="4100000" cy="18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400"/>
              </a:lnSpc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</a:rPr>
              <a:t>1970 – Present (most widely used)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Relational Database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Dr. E.F. Codd (IBM, 1970) had a radical idea: store data in simple tables with rows and columns. Connect tables using shared IDs — no pointers, no tree navigation needed.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</a:rPr>
              <a:t>Example: MySQL, PostgreSQL, Oracle, SQL Server. Used by virtually every app — Zomato, IRCTC, your bank, hospitals.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</a:rPr>
              <a:t>This is what SQL is built for. Still dominant 50+ years after its invention.</a:t>
            </a:r>
          </a:p>
        </p:txBody>
      </p:sp>
      <p:sp>
        <p:nvSpPr>
          <p:cNvPr id="40" name="Card4Bg"/>
          <p:cNvSpPr/>
          <p:nvPr/>
        </p:nvSpPr>
        <p:spPr>
          <a:xfrm>
            <a:off x="4665600" y="3080000"/>
            <a:ext cx="4250000" cy="1980000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Card4Top"/>
          <p:cNvSpPr/>
          <p:nvPr/>
        </p:nvSpPr>
        <p:spPr>
          <a:xfrm>
            <a:off x="4665600" y="3080000"/>
            <a:ext cx="4250000" cy="5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2" name="Card4Text"/>
          <p:cNvSpPr/>
          <p:nvPr/>
        </p:nvSpPr>
        <p:spPr>
          <a:xfrm>
            <a:off x="4750000" y="3140000"/>
            <a:ext cx="4100000" cy="18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400"/>
              </a:lnSpc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</a:rPr>
              <a:t>2000s – Present (for big data and the internet era)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NoSQL Database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When the internet exploded, companies like Google and Facebook needed to store billions of records that did not fit neatly into tables. NoSQL stores data as documents, key-value pairs, or graphs.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</a:rPr>
              <a:t>Example: MongoDB (Instagram uses it for posts), Redis (used for caching in Swiggy), Cassandra (used by WhatsApp to handle messages).</a:t>
            </a:r>
          </a:p>
          <a:p>
            <a:pPr indent="0" marL="0">
              <a:buNone/>
              <a:lnSpc>
                <a:spcPts val="1400"/>
              </a:lnSpc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</a:rPr>
              <a:t>Note: SQL is still very relevant. NoSQL is used alongside it for specific use cases, not as a replacement.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Databases — The Tree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used today in Active Directory, XML &amp; mainframes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is stored as tree structures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Every record has ONE parent (single-parent hierarchy)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parent can have many children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 find data, you traverse the tree from root to leaf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411480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56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Example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Active Directory (used by every Windows office network) stores users, computers and permissions as a hierarchy: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→ Department → Team → Employee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164592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Blake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35608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783080"/>
            <a:ext cx="14630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435608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783080"/>
            <a:ext cx="14630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956816"/>
            <a:ext cx="1463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130552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$100 — Jan 22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130552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$25 — Feb 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2450592"/>
            <a:ext cx="14173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$250 — Mar 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Problem: What if you want all transactions from ALL customers with Savings accounts?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have to search every customer's tree separately — extremely slow!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— The Game Changer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E.F. Codd, IBM Research, 1970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"Represent data as simple tables. Use shared columns to connect them. No pointers, no trees — just rows, columns and queries."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01168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993392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50592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76472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76472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76472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62272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1993392"/>
            <a:ext cx="2011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26864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product_cd🔑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52744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52744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52744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38544" y="29992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03136" y="1993392"/>
            <a:ext cx="2011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1993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03136" y="2377440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3774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29016" y="2377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03136" y="27797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7797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29016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03136" y="3182112"/>
            <a:ext cx="2011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29016" y="31821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— uniquely identifies each row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663440" y="3886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Foreign Key — links to another table's primary key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297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Instead of copying George's name into every transaction, we just store his ID (1). If his name changes, we update ONE place — not 10,000 rows. This is called Normalization.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Storing Data the Right 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each piece of information lives in exactly ONE place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Repeated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397764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9152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6704" y="146304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0195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59152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46704" y="190195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340864"/>
            <a:ext cx="39776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59152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46704" y="2340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59152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27797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'Riya Sharma' and 'Mumbai' are repeated 3 times.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moves to Pune — we must update 3 rows. What if we miss one?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078992"/>
            <a:ext cx="3977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78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— Normalized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783080"/>
            <a:ext cx="18288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1671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1783080"/>
            <a:ext cx="18288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4380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1783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03720" y="21671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4380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38160" y="21671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2551176"/>
            <a:ext cx="1828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4380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38160" y="25511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293522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4380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38160" y="29352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342900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Riya's name &amp; city stored ONCE.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moves to Pune — change 1 row. Done.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= No redundant data (except foreign keys). Each independent piece of info lives in exactly one table.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language for talking to databases — born 1970, standard 1986, still ruling in 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Codd publishes relational model paper at IBM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builds SQUARE prototype → refined to SEQUEL → renamed 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publishes first official SQL standard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331720"/>
            <a:ext cx="6400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SQL-92: major update, still the foundation most systems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SQL:2006 integrates XML and introduces XQuery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160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5661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92040" y="4041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Oracle, MySQL, PostgreSQL, SQL Server, SQLite &amp; more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SQL is NOT an acronym — though many say "Structured Query Language." You can say "S-Q-L" or "sequel" — both are correct!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Nonprocedural — You Say WHAT, Not HOW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biggest difference from normal programming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7764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Procedural (Python / Java)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97764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[]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for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in all_customers: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customer.city ==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"Mumbai"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results.</a:t>
            </a:r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(customer)
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7764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(Nonprocedural)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536192"/>
            <a:ext cx="3977640" cy="2377440"/>
          </a:xfrm>
          <a:prstGeom prst="rect">
            <a:avLst/>
          </a:prstGeom>
          <a:solidFill>
            <a:srgbClr val="0C1A2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72768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SELECT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* 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FROM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
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WHERE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city = </a:t>
            </a:r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'Mumbai';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4041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loop logic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041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goal — SELECT...WHERE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lines of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4315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lines of 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600" y="4590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approach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590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 decides the fastest 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4864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Chef: "Get flour, add eggs, mix..."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864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Waiter: "I want pasta, please."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 Types — The 3 Categories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Data, and Transaction statements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Schema Statements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structure (blueprint)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➕  CREATE 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customers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6148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✏️  ALTER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'email' column later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4845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 DROP 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table permanently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078992"/>
            <a:ext cx="274320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Data Statements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modify the actual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74520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 SELECT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customers from Mumbai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761488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➕  INSERT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customer record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648456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✏️  UPDATE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customer's phone number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453542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535424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5811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🗑️  DELETE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37560" y="494690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old order record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1078992"/>
            <a:ext cx="274320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Transaction Statements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operations safely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1874520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87452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920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▶️  BEGIN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6364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bank transfer operation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276148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761488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807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COMMIT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63640" y="3172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save all changes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3648456"/>
            <a:ext cx="2743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3648456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6941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↩️  ROLLBACK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63640" y="40599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if something goes wrong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Action — Real Commands, Real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exact patterns run in every app you use daily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521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Zomato — You search 'Pizza near me'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restaurant_name, rating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'Mumbai' AND cuisine = 'Pizza'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 DESC;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48132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Returns list of pizza places sorted by rating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50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UPI — You pay ₹500 to a friend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7977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WHERE account_id = 'YOUR_ID';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+ 500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WHERE account_id = 'FRIEND_ID';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761488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77977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Two UPDATEs wrapped in one transaction — either both happen or neither does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75888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Amazon — You place an order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059936"/>
            <a:ext cx="5303520" cy="658368"/>
          </a:xfrm>
          <a:prstGeom prst="rect">
            <a:avLst/>
          </a:prstGeom>
          <a:solidFill>
            <a:srgbClr val="0C1A2E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7822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orders (user_id, product_id, qty, date)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(12345, 'B09XYZ', 1, '2024-05-16');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4059936"/>
            <a:ext cx="2926080" cy="658368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07822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 INSERT adds your order row permanently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vs Database — The Complete Picture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 for the right job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078992"/>
            <a:ext cx="30632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7899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Microsoft 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078992"/>
            <a:ext cx="324612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7899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(SQL)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5727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million rows then slows 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57276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572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rows — no problem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574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77440" y="2057400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2057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at a time (safely)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057400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0574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simultaneously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420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77440" y="2542032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= typos &amp; errors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542032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5420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prevent bad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026664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266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History/audit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77440" y="3026664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0266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change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026664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0266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permanently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112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77440" y="3511296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351129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with large VLOOKUP / formulas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511296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5112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on huge datasets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995928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9959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apps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77440" y="3995928"/>
            <a:ext cx="3063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39959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to live apps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995928"/>
            <a:ext cx="3246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39959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apps built on top of 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2011680" cy="475488"/>
          </a:xfrm>
          <a:prstGeom prst="rect">
            <a:avLst/>
          </a:prstGeom>
          <a:solidFill>
            <a:srgbClr val="1A2E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80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377440" y="448056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4480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charts, small teams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448056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4805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scale, reliability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Rule of thumb: Use Excel to analyse data. Use a database to store, manage and serve data to applications.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Company Needs a Database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apps you use every day in India &amp; globally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Flipkart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processes 66,000 orders/second. Each order touches 10+ database tables: users, products, inventory, payments, shipping, returns...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78992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55264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Banking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tap Pay on PhonePe, 5 database queries run in under 200ms: balance check → fraud scan → debit → credit → transaction log.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63056" y="1645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 / Hospitals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1344" y="199339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stores 80TB of patient data per year. Doctors query allergies, prescriptions &amp; test history before every treatment. A lost record = risk to life.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4495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Reels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"like" a post, an INSERT runs. When you scroll, a SELECT runs. Instagram serves 1 billion users — 100% powered by databases.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63824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63824" y="3044952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55264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IRCTC / Airlines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3552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IRCTC handles 500,000+ booking attempts per minute during Tatkal. Databases prevent double-booking — each seat is a row with a lock.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71616" y="3044952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3044952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63056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/ Ola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81344" y="3959352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matches 14M+ rides/day. GPS coordinates, driver availability, surge pricing — all live database queries updating every 4 seconds.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Video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75488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just organized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books, filing cabinets, hospital records — all databases. The computer version just does it at superhuman speed.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have 3 fatal flaws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search, limited indexing, and instant obsolescence. Computers eliminated all three.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12848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04288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(1970) changed everything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26883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Codd's idea: store data in simple tables, link via shared keys. Still the dominant model 50+ years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12848"/>
            <a:ext cx="416052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212848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04288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nonprocedural — say WHAT, not HOW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6883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result you want. The database engine figures out the most efficient way to get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31720" y="3493008"/>
            <a:ext cx="448056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3493008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3584448"/>
            <a:ext cx="47548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81528" y="35844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you use runs on a database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81528" y="396849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Zomato, PhonePe, IRCTC, Instagram — behind every tap and swipe is a SELECT, INSERT or UPDATE.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Next: Video 2 — Creating Your First Database &amp; Table with SQL (CREATE TABLE, Data Types, Primary Keys)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SQL Exists - Video 1</dc:title>
  <dc:subject>PptxGenJS Presentation</dc:subject>
  <dc:creator>PptxGenJS</dc:creator>
  <cp:lastModifiedBy>PptxGenJS</cp:lastModifiedBy>
  <cp:revision>1</cp:revision>
  <dcterms:created xsi:type="dcterms:W3CDTF">2026-05-16T14:48:23Z</dcterms:created>
  <dcterms:modified xsi:type="dcterms:W3CDTF">2026-05-16T14:48:23Z</dcterms:modified>
</cp:coreProperties>
</file>